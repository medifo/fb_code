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A"/>
                </a:solidFill>
                <a:latin typeface="Arial"/>
              </a:rPr>
              <a:t>RAM around a forced outage — one CNEC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-72h</c:v>
                  </c:pt>
                  <c:pt idx="1">
                    <c:v>-48h</c:v>
                  </c:pt>
                  <c:pt idx="2">
                    <c:v>-24h</c:v>
                  </c:pt>
                  <c:pt idx="3">
                    <c:v>outage start</c:v>
                  </c:pt>
                  <c:pt idx="4">
                    <c:v>+24h</c:v>
                  </c:pt>
                  <c:pt idx="5">
                    <c:v>+48h</c:v>
                  </c:pt>
                  <c:pt idx="6">
                    <c:v>+72h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812</c:v>
                </c:pt>
                <c:pt idx="1">
                  <c:v>805</c:v>
                </c:pt>
                <c:pt idx="2">
                  <c:v>795</c:v>
                </c:pt>
                <c:pt idx="3">
                  <c:v>640</c:v>
                </c:pt>
                <c:pt idx="4">
                  <c:v>610</c:v>
                </c:pt>
                <c:pt idx="5">
                  <c:v>690</c:v>
                </c:pt>
                <c:pt idx="6">
                  <c:v>770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Counterfactual (fit on pre-period only)</c:v>
                </c:pt>
              </c:strCache>
            </c:strRef>
          </c:tx>
          <c:spPr>
            <a:solidFill>
              <a:srgbClr val="B7C6D1"/>
            </a:solidFill>
            <a:ln w="31750" cap="flat">
              <a:solidFill>
                <a:srgbClr val="B7C6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C6D1"/>
              </a:solidFill>
              <a:ln w="9525" cap="flat">
                <a:solidFill>
                  <a:srgbClr val="B7C6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-72h</c:v>
                  </c:pt>
                  <c:pt idx="1">
                    <c:v>-48h</c:v>
                  </c:pt>
                  <c:pt idx="2">
                    <c:v>-24h</c:v>
                  </c:pt>
                  <c:pt idx="3">
                    <c:v>outage start</c:v>
                  </c:pt>
                  <c:pt idx="4">
                    <c:v>+24h</c:v>
                  </c:pt>
                  <c:pt idx="5">
                    <c:v>+48h</c:v>
                  </c:pt>
                  <c:pt idx="6">
                    <c:v>+72h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808</c:v>
                </c:pt>
                <c:pt idx="1">
                  <c:v>800</c:v>
                </c:pt>
                <c:pt idx="2">
                  <c:v>798</c:v>
                </c:pt>
                <c:pt idx="3">
                  <c:v>802</c:v>
                </c:pt>
                <c:pt idx="4">
                  <c:v>799</c:v>
                </c:pt>
                <c:pt idx="5">
                  <c:v>795</c:v>
                </c:pt>
                <c:pt idx="6">
                  <c:v>801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B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77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B6B77"/>
                    </a:solidFill>
                    <a:latin typeface="Arial"/>
                  </a:rPr>
                  <a:t>RAM (MW)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β̂ (standardized)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H1: fall</c:v>
                  </c:pt>
                  <c:pt idx="1">
                    <c:v>H2: |PTDF|</c:v>
                  </c:pt>
                  <c:pt idx="2">
                    <c:v>H3: RAM</c:v>
                  </c:pt>
                  <c:pt idx="3">
                    <c:v>H4: shadow €</c:v>
                  </c:pt>
                  <c:pt idx="4">
                    <c:v>H5: IVA logit</c:v>
                  </c:pt>
                  <c:pt idx="5">
                    <c:v>H6: FRM (placebo)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-0.61</c:v>
                </c:pt>
                <c:pt idx="1">
                  <c:v>0.58</c:v>
                </c:pt>
                <c:pt idx="2">
                  <c:v>-0.34</c:v>
                </c:pt>
                <c:pt idx="3">
                  <c:v>0.71</c:v>
                </c:pt>
                <c:pt idx="4">
                  <c:v>0.22</c:v>
                </c:pt>
                <c:pt idx="5">
                  <c:v>-0.03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8"/>
        </c:scaling>
        <c:delete val="0"/>
        <c:axPos val="b"/>
        <c:majorGridlines>
          <c:spPr>
            <a:ln w="9525" cap="flat">
              <a:solidFill>
                <a:srgbClr val="E5EB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5B6B77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5B6B77"/>
                    </a:solidFill>
                    <a:latin typeface="Arial"/>
                  </a:rPr>
                  <a:t>Standardized coefficient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3108960"/>
            <a:ext cx="8229600" cy="8229600"/>
          </a:xfrm>
          <a:prstGeom prst="arc">
            <a:avLst>
              <a:gd name="adj1" fmla="val 12000000"/>
              <a:gd name="adj2" fmla="val 20400000"/>
            </a:avLst>
          </a:prstGeom>
          <a:ln w="1397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-2834640"/>
            <a:ext cx="8229600" cy="8229600"/>
          </a:xfrm>
          <a:prstGeom prst="arc">
            <a:avLst>
              <a:gd name="adj1" fmla="val 12000000"/>
              <a:gd name="adj2" fmla="val 20400000"/>
            </a:avLst>
          </a:prstGeom>
          <a:ln w="1397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2560320"/>
            <a:ext cx="8229600" cy="8229600"/>
          </a:xfrm>
          <a:prstGeom prst="arc">
            <a:avLst>
              <a:gd name="adj1" fmla="val 12000000"/>
              <a:gd name="adj2" fmla="val 20400000"/>
            </a:avLst>
          </a:prstGeom>
          <a:ln w="1397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-2286000"/>
            <a:ext cx="8229600" cy="8229600"/>
          </a:xfrm>
          <a:prstGeom prst="arc">
            <a:avLst>
              <a:gd name="adj1" fmla="val 12000000"/>
              <a:gd name="adj2" fmla="val 20400000"/>
            </a:avLst>
          </a:prstGeom>
          <a:ln w="1397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Maintenance Outage in One Zone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Another Zone's CNEC Parameters?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panel-regression and counterfactual (ITS) study of Nordic day-ahead flow-based capacity calculation, with a worked example price-impact calculator.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shown in this deck are SAMPLE / ILLUSTRATIVE data for slide design — replace with the real run's output before presenting.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624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2821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propagation risk in Nordic FBMC capacity calculation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3624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 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72821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regression (fixed effects, clustered SEs) + counterfactual ITS modeling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9626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hypotheses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2841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H1–H6, each isolating one channel from outage to CNEC parameter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017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9626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32841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verdicts, coefficients, and a single-event counterfactual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5628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Price-impact calculator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92861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shadow-price shift into a zonal price effect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617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6364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45628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492861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once real JAO/ENTSO-E data replaces these placeholders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  ·  fi_no3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Flow-Based Market Coupling, in One Picture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Network Element (CNEC) gets a capacity budget (RAM) built from seven published terms — an outage anywhere on the grid can move any of them.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Fmax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 of the 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9424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249424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22576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margin (structural)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58768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58768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flow (F_allReference)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68112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68112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68112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fnrao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541264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Non-redundant allocation offset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77456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77456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for remedial actions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0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0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FAAC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759952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Frequency-restoration allocation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296144" y="2148840"/>
            <a:ext cx="1481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296144" y="2221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296144" y="2532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IVA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369296" y="293522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TSO discretionary correction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886200"/>
            <a:ext cx="1088136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 =  Fmax − FRM − fall + fnrao + AMR − FAAC − IVA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46177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 verifies that identity balances to within ~1 MW on real published data, then asks: which term(s) does an outage actually move, and by how much?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  ·  fi_no3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1 — Panel Regression Across Outages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 every outage episode to ask: does this TYPE of event move this parameter, on average, across the whole sample?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E7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6634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y_{it} = α_{i} + β D_{it} + ε_{it}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α_i — CNEC fixed effect (within-transform / demeaning removes it)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57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D_it — outage-active dummy or MW-lost dose variable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605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errors clustered by time period (sandwich estimator)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63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Holm–Bonferroni correction across the H1–H6 family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5532120" cy="4206240"/>
          </a:xfrm>
          <a:prstGeom prst="roundRect">
            <a:avLst>
              <a:gd name="adj" fmla="val 1739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fixed effects matter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42316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CNEC with a naturally low RAM and a CNEC with a naturally high RAM will differ in level for reasons that have nothing to do with outages. Demeaning each CNEC's series removes that between-CNEC variation entirely, so β̂ is identified purely from within-CNEC, before/during comparisons — the same logic as a CNEC-level difference-in-differences.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Omitted-variable-bias illustration (worked example)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68172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Pooled OLS: β̂ = −35.8   (confounded by level differences)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effects: β̂ = −7.4, SE = 1.6, t = −4.7, p = 0.002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  ·  fi_no3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2 — Counterfactual (ITS) Modeling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sharper, single-event question: what would this CNEC's parameter have looked like WITHOUT this specific outage?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828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77B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6364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18120" y="1828800"/>
            <a:ext cx="3749040" cy="3977640"/>
          </a:xfrm>
          <a:prstGeom prst="roundRect">
            <a:avLst>
              <a:gd name="adj" fmla="val 1951"/>
            </a:avLst>
          </a:prstGeom>
          <a:solidFill>
            <a:srgbClr val="E7F1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pre-outage data only — never touches the during/post window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methods available (seasonal-naive → SARIMA → ensemble → physics-informed)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023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the two lines during the outage = the estimated impact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4800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should close again once the outage ends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  ·  fi_no3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Hypotheses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isolates one specific channel from a specific outage type to a specific CNEC parameter.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type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tested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7F1F8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2677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HVDC outages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2677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flow (fall)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2677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physical rerouting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2267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852928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26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line outages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PTDF sensitivity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change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511296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7F1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35844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3584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outages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3584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3584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(combined)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3584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capacity impact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358444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4169664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" y="42428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417320" y="42428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outages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42428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480560" y="42428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price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42428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Binding-constraint cost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646920" y="424281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4828032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E7F1F8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" y="49011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13232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417320" y="49011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type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3931920" y="49011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480560" y="49011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(logit)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7315200" y="49011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TSO discretionary use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9646920" y="490118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080" y="5486400"/>
            <a:ext cx="10927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713232" y="5559552"/>
            <a:ext cx="457200" cy="457200"/>
          </a:xfrm>
          <a:prstGeom prst="ellipse">
            <a:avLst/>
          </a:prstGeom>
          <a:solidFill>
            <a:srgbClr val="5B6B7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3232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1417320" y="5559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outage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3931920" y="5559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480560" y="5559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 (placebo)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7315200" y="55595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show NO effect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9646920" y="55595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expected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  ·  fi_no3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Results — Hypothesis Verdicts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104120" y="4572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77B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104120" y="457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→ NO3, illustrative 90-day window — replace every number below with the real run's summarize_hypotheses() output.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356616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1828800"/>
                <a:gridCol w="1554480"/>
                <a:gridCol w="1463040"/>
                <a:gridCol w="914400"/>
                <a:gridCol w="2331720"/>
              </a:tblGrid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Hyp.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Coefficient (β̂)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SE (clustered)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t-stat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</a:rPr>
                        <a:t>H1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−4.82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1.40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−3.44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0.0021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312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F5F"/>
                          </a:solidFill>
                        </a:rPr>
                        <a:t>SUPPORTED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</a:rPr>
                        <a:t>H2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0.0098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0.0010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9.80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&lt;0.0001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289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F5F"/>
                          </a:solidFill>
                        </a:rPr>
                        <a:t>SUPPORTED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</a:rPr>
                        <a:t>H3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−6.15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3.02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−2.04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0.048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312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77B00"/>
                          </a:solidFill>
                        </a:rPr>
                        <a:t>SIGNIFICANT*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</a:rPr>
                        <a:t>H4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11.75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1.33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8.85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0.0003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94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F5F"/>
                          </a:solidFill>
                        </a:rPr>
                        <a:t>SUPPORTED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</a:rPr>
                        <a:t>H5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2.77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1.58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1.75 (z)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0.080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312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453C"/>
                          </a:solidFill>
                        </a:rPr>
                        <a:t>NOT SUPPORTED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202A"/>
                          </a:solidFill>
                        </a:rPr>
                        <a:t>H6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−0.033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0.113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−0.29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0.775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</a:rPr>
                        <a:t>312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NULL (as expected)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3492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Statistically significant but reported separately from “SUPPORTED” where it does not clear the economic-significance floor — see ECONOMIC_SIGNIFICANCE_THRESHOLDS.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  ·  fi_no3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Results — Effect Sizes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104120" y="5029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77B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104120" y="5029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280160"/>
          <a:ext cx="10927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  ·  fi_no3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CNEC Parameters to a Zonal Price Effect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Single-Event tab's Price Spread pane turns a shadow-price / PTDF shift on one CNEC into an actual-vs-counterfactual price impact for a target zone.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51560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 =  (shadowPrice × PTDF)_actual  −  (shadowPrice × PTDF)_counterfactual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E7F1F8"/>
          </a:solidFill>
          <a:ln/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price: 18.4 €/MWh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PTDF (target zone): 0.28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26280" y="251460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E7F1F8"/>
          </a:solidFill>
          <a:ln/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548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price: 6.1 €/MWh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PTDF (target zone): 0.24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0" y="251460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FF4E2"/>
          </a:solidFill>
          <a:ln/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5820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+3.6 €/MWh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target zone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784080" y="25146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77B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8408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compute (rather than guess) when the target PTDF column is missing, the pre-period has fewer than 4 distinct timestamps, or no row falls within tolerance of the requested time.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  ·  fi_no3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7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Results — Robustness Checks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104120" y="5029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77B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104120" y="5029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08760"/>
            <a:ext cx="128016" cy="128016"/>
          </a:xfrm>
          <a:prstGeom prst="ellipse">
            <a:avLst/>
          </a:prstGeom>
          <a:solidFill>
            <a:srgbClr val="1E8F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417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choice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828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Time-clustered vs. entity-clustered SE agree within 15% on every H1–H4 verdict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508760"/>
            <a:ext cx="128016" cy="128016"/>
          </a:xfrm>
          <a:prstGeom prst="ellipse">
            <a:avLst/>
          </a:prstGeom>
          <a:solidFill>
            <a:srgbClr val="1E8F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1417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 length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828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H4's β̂ stable (±8%) across 30/60/90-day pre-period windows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017520"/>
            <a:ext cx="128016" cy="128016"/>
          </a:xfrm>
          <a:prstGeom prst="ellipse">
            <a:avLst/>
          </a:prstGeom>
          <a:solidFill>
            <a:srgbClr val="1E8F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 (H6)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3375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 shows no significant movement — the null the project wants to see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27889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3017520"/>
            <a:ext cx="128016" cy="128016"/>
          </a:xfrm>
          <a:prstGeom prst="ellipse">
            <a:avLst/>
          </a:prstGeom>
          <a:solidFill>
            <a:srgbClr val="1E8F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Collinearity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3375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Dummy/dose pairs pruned automatically where near-collinear (H1, H3)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526280"/>
            <a:ext cx="128016" cy="128016"/>
          </a:xfrm>
          <a:prstGeom prst="ellipse">
            <a:avLst/>
          </a:prstGeom>
          <a:solidFill>
            <a:srgbClr val="1E8F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43000" y="4434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8463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Durbin–Watson ≈ 1.9–2.1 across specifications — no strong autocorrelation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42976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F3A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4526280"/>
            <a:ext cx="128016" cy="128016"/>
          </a:xfrm>
          <a:prstGeom prst="ellipse">
            <a:avLst/>
          </a:prstGeom>
          <a:solidFill>
            <a:srgbClr val="1E8F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4434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leak check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8463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projections verified not to touch during/post data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  ·  fi_no3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544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the real run: replace every SAMPLE-badged number with run_analysis.py's actual output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6060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the sweep: run --all-nordic-zones for the full Nordic source × target matrix, not just FI → NO3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6576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ITS method choice: compare seasonal-naive / ensemble / physics-informed projections on the real pre-period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70916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price-impact calculator on a real binding CNEC once real shadow-price data is loaded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Flow-Based Propagation  ·  fi_no3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Nordic Flow-Based Propagation — Sample Results</dc:title>
  <dc:subject>PptxGenJS Presentation</dc:subject>
  <dc:creator>Claude Code</dc:creator>
  <cp:lastModifiedBy>Claude Code</cp:lastModifiedBy>
  <cp:revision>1</cp:revision>
  <dcterms:created xsi:type="dcterms:W3CDTF">2026-09-21T13:32:32Z</dcterms:created>
  <dcterms:modified xsi:type="dcterms:W3CDTF">2026-09-21T13:32:32Z</dcterms:modified>
</cp:coreProperties>
</file>