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1.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Actual</c:v>
                </c:pt>
              </c:strCache>
            </c:strRef>
          </c:tx>
          <c:spPr>
            <a:solidFill>
              <a:srgbClr val="163C2C"/>
            </a:solidFill>
            <a:ln w="31750" cap="flat">
              <a:solidFill>
                <a:srgbClr val="163C2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63C2C"/>
              </a:solidFill>
              <a:ln w="9525" cap="flat">
                <a:solidFill>
                  <a:srgbClr val="163C2C"/>
                </a:solidFill>
                <a:prstDash val="solid"/>
                <a:round/>
              </a:ln>
              <a:effectLst/>
            </c:spPr>
          </c:marker>
          <c:cat>
            <c:multiLvlStrRef>
              <c:f>Sheet1!$A$2:$A$8</c:f>
              <c:multiLvlStrCache>
                <c:ptCount val="7"/>
                <c:lvl>
                  <c:pt idx="0">
                    <c:v>-72h</c:v>
                  </c:pt>
                  <c:pt idx="1">
                    <c:v>-48h</c:v>
                  </c:pt>
                  <c:pt idx="2">
                    <c:v>-24h</c:v>
                  </c:pt>
                  <c:pt idx="3">
                    <c:v>outage start</c:v>
                  </c:pt>
                  <c:pt idx="4">
                    <c:v>+24h</c:v>
                  </c:pt>
                  <c:pt idx="5">
                    <c:v>+48h</c:v>
                  </c:pt>
                  <c:pt idx="6">
                    <c:v>+72h</c:v>
                  </c:pt>
                </c:lvl>
              </c:multiLvlStrCache>
            </c:multiLvlStrRef>
          </c:cat>
          <c:val>
            <c:numRef>
              <c:f>Sheet1!$B$2:$B$8</c:f>
              <c:numCache>
                <c:formatCode>General</c:formatCode>
                <c:ptCount val="7"/>
                <c:pt idx="0">
                  <c:v>812</c:v>
                </c:pt>
                <c:pt idx="1">
                  <c:v>805</c:v>
                </c:pt>
                <c:pt idx="2">
                  <c:v>795</c:v>
                </c:pt>
                <c:pt idx="3">
                  <c:v>640</c:v>
                </c:pt>
                <c:pt idx="4">
                  <c:v>610</c:v>
                </c:pt>
                <c:pt idx="5">
                  <c:v>690</c:v>
                </c:pt>
                <c:pt idx="6">
                  <c:v>770</c:v>
                </c:pt>
              </c:numCache>
            </c:numRef>
          </c:val>
          <c:smooth val="0"/>
        </c:ser>
        <c:ser>
          <c:idx val="1"/>
          <c:order val="1"/>
          <c:tx>
            <c:strRef>
              <c:f>Sheet1!$C$1</c:f>
              <c:strCache>
                <c:ptCount val="1"/>
                <c:pt idx="0">
                  <c:v>Counterfactual Y(0)</c:v>
                </c:pt>
              </c:strCache>
            </c:strRef>
          </c:tx>
          <c:spPr>
            <a:solidFill>
              <a:srgbClr val="B7C6D1"/>
            </a:solidFill>
            <a:ln w="31750" cap="flat">
              <a:solidFill>
                <a:srgbClr val="B7C6D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B7C6D1"/>
              </a:solidFill>
              <a:ln w="9525" cap="flat">
                <a:solidFill>
                  <a:srgbClr val="B7C6D1"/>
                </a:solidFill>
                <a:prstDash val="solid"/>
                <a:round/>
              </a:ln>
              <a:effectLst/>
            </c:spPr>
          </c:marker>
          <c:cat>
            <c:multiLvlStrRef>
              <c:f>Sheet1!$A$2:$A$8</c:f>
              <c:multiLvlStrCache>
                <c:ptCount val="7"/>
                <c:lvl>
                  <c:pt idx="0">
                    <c:v>-72h</c:v>
                  </c:pt>
                  <c:pt idx="1">
                    <c:v>-48h</c:v>
                  </c:pt>
                  <c:pt idx="2">
                    <c:v>-24h</c:v>
                  </c:pt>
                  <c:pt idx="3">
                    <c:v>outage start</c:v>
                  </c:pt>
                  <c:pt idx="4">
                    <c:v>+24h</c:v>
                  </c:pt>
                  <c:pt idx="5">
                    <c:v>+48h</c:v>
                  </c:pt>
                  <c:pt idx="6">
                    <c:v>+72h</c:v>
                  </c:pt>
                </c:lvl>
              </c:multiLvlStrCache>
            </c:multiLvlStrRef>
          </c:cat>
          <c:val>
            <c:numRef>
              <c:f>Sheet1!$C$2:$C$8</c:f>
              <c:numCache>
                <c:formatCode>General</c:formatCode>
                <c:ptCount val="7"/>
                <c:pt idx="0">
                  <c:v>808</c:v>
                </c:pt>
                <c:pt idx="1">
                  <c:v>800</c:v>
                </c:pt>
                <c:pt idx="2">
                  <c:v>798</c:v>
                </c:pt>
                <c:pt idx="3">
                  <c:v>802</c:v>
                </c:pt>
                <c:pt idx="4">
                  <c:v>799</c:v>
                </c:pt>
                <c:pt idx="5">
                  <c:v>795</c:v>
                </c:pt>
                <c:pt idx="6">
                  <c:v>801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6B6B7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5EB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6B6B73"/>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C2C"/>
        </a:solidFill>
      </p:bgPr>
    </p:bg>
    <p:spTree>
      <p:nvGrpSpPr>
        <p:cNvPr id="1" name=""/>
        <p:cNvGrpSpPr/>
        <p:nvPr/>
      </p:nvGrpSpPr>
      <p:grpSpPr>
        <a:xfrm>
          <a:off x="0" y="0"/>
          <a:ext cx="0" cy="0"/>
          <a:chOff x="0" y="0"/>
          <a:chExt cx="0" cy="0"/>
        </a:xfrm>
      </p:grpSpPr>
      <p:sp>
        <p:nvSpPr>
          <p:cNvPr id="2" name="Shape 0"/>
          <p:cNvSpPr/>
          <p:nvPr/>
        </p:nvSpPr>
        <p:spPr>
          <a:xfrm>
            <a:off x="6949440" y="-3108960"/>
            <a:ext cx="8229600" cy="8229600"/>
          </a:xfrm>
          <a:prstGeom prst="arc">
            <a:avLst>
              <a:gd name="adj1" fmla="val 12000000"/>
              <a:gd name="adj2" fmla="val 20400000"/>
            </a:avLst>
          </a:prstGeom>
          <a:ln w="13970">
            <a:solidFill>
              <a:srgbClr val="3E6B54">
                <a:alpha val="55000"/>
              </a:srgbClr>
            </a:solidFill>
            <a:prstDash val="solid"/>
          </a:ln>
        </p:spPr>
      </p:sp>
      <p:sp>
        <p:nvSpPr>
          <p:cNvPr id="3" name="Shape 1"/>
          <p:cNvSpPr/>
          <p:nvPr/>
        </p:nvSpPr>
        <p:spPr>
          <a:xfrm>
            <a:off x="7452360" y="-2834640"/>
            <a:ext cx="8229600" cy="8229600"/>
          </a:xfrm>
          <a:prstGeom prst="arc">
            <a:avLst>
              <a:gd name="adj1" fmla="val 12000000"/>
              <a:gd name="adj2" fmla="val 20400000"/>
            </a:avLst>
          </a:prstGeom>
          <a:ln w="13970">
            <a:solidFill>
              <a:srgbClr val="3E6B54">
                <a:alpha val="55000"/>
              </a:srgbClr>
            </a:solidFill>
            <a:prstDash val="solid"/>
          </a:ln>
        </p:spPr>
      </p:sp>
      <p:sp>
        <p:nvSpPr>
          <p:cNvPr id="4" name="Shape 2"/>
          <p:cNvSpPr/>
          <p:nvPr/>
        </p:nvSpPr>
        <p:spPr>
          <a:xfrm>
            <a:off x="7955280" y="-2560320"/>
            <a:ext cx="8229600" cy="8229600"/>
          </a:xfrm>
          <a:prstGeom prst="arc">
            <a:avLst>
              <a:gd name="adj1" fmla="val 12000000"/>
              <a:gd name="adj2" fmla="val 20400000"/>
            </a:avLst>
          </a:prstGeom>
          <a:ln w="13970">
            <a:solidFill>
              <a:srgbClr val="3E6B54">
                <a:alpha val="55000"/>
              </a:srgbClr>
            </a:solidFill>
            <a:prstDash val="solid"/>
          </a:ln>
        </p:spPr>
      </p:sp>
      <p:sp>
        <p:nvSpPr>
          <p:cNvPr id="5" name="Shape 3"/>
          <p:cNvSpPr/>
          <p:nvPr/>
        </p:nvSpPr>
        <p:spPr>
          <a:xfrm>
            <a:off x="8458200" y="-2286000"/>
            <a:ext cx="8229600" cy="8229600"/>
          </a:xfrm>
          <a:prstGeom prst="arc">
            <a:avLst>
              <a:gd name="adj1" fmla="val 12000000"/>
              <a:gd name="adj2" fmla="val 20400000"/>
            </a:avLst>
          </a:prstGeom>
          <a:ln w="13970">
            <a:solidFill>
              <a:srgbClr val="3E6B54">
                <a:alpha val="55000"/>
              </a:srgbClr>
            </a:solidFill>
            <a:prstDash val="solid"/>
          </a:ln>
        </p:spPr>
      </p:sp>
      <p:sp>
        <p:nvSpPr>
          <p:cNvPr id="6" name="Text 4"/>
          <p:cNvSpPr txBox="1"/>
          <p:nvPr/>
        </p:nvSpPr>
        <p:spPr>
          <a:xfrm>
            <a:off x="822960" y="1965960"/>
            <a:ext cx="10515600" cy="457200"/>
          </a:xfrm>
          <a:prstGeom prst="rect">
            <a:avLst/>
          </a:prstGeom>
          <a:noFill/>
          <a:ln/>
        </p:spPr>
        <p:txBody>
          <a:bodyPr wrap="square" lIns="0" tIns="0" rIns="0" bIns="0" rtlCol="0" anchor="ctr"/>
          <a:lstStyle/>
          <a:p>
            <a:pPr indent="0" marL="0">
              <a:buNone/>
            </a:pPr>
            <a:r>
              <a:rPr lang="en-US" sz="1500" b="1" spc="300" kern="0" dirty="0">
                <a:solidFill>
                  <a:srgbClr val="9CC9AE"/>
                </a:solidFill>
                <a:latin typeface="Calibri" pitchFamily="34" charset="0"/>
                <a:ea typeface="Calibri" pitchFamily="34" charset="-122"/>
                <a:cs typeface="Calibri" pitchFamily="34" charset="-120"/>
              </a:rPr>
              <a:t>NORDIC FBMC PROPAGATION</a:t>
            </a:r>
            <a:endParaRPr lang="en-US" sz="1500" dirty="0"/>
          </a:p>
        </p:txBody>
      </p:sp>
      <p:sp>
        <p:nvSpPr>
          <p:cNvPr id="7" name="Text 5"/>
          <p:cNvSpPr txBox="1"/>
          <p:nvPr/>
        </p:nvSpPr>
        <p:spPr>
          <a:xfrm>
            <a:off x="822960" y="2423160"/>
            <a:ext cx="10515600" cy="100584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Reading the Results</a:t>
            </a:r>
            <a:endParaRPr lang="en-US" sz="4200" dirty="0"/>
          </a:p>
        </p:txBody>
      </p:sp>
      <p:sp>
        <p:nvSpPr>
          <p:cNvPr id="8" name="Text 6"/>
          <p:cNvSpPr txBox="1"/>
          <p:nvPr/>
        </p:nvSpPr>
        <p:spPr>
          <a:xfrm>
            <a:off x="822960" y="3611880"/>
            <a:ext cx="9418320" cy="640080"/>
          </a:xfrm>
          <a:prstGeom prst="rect">
            <a:avLst/>
          </a:prstGeom>
          <a:noFill/>
          <a:ln/>
        </p:spPr>
        <p:txBody>
          <a:bodyPr wrap="square" lIns="0" tIns="0" rIns="0" bIns="0" rtlCol="0" anchor="ctr"/>
          <a:lstStyle/>
          <a:p>
            <a:pPr indent="0" marL="0">
              <a:lnSpc>
                <a:spcPct val="125000"/>
              </a:lnSpc>
              <a:buNone/>
            </a:pPr>
            <a:r>
              <a:rPr lang="en-US" sz="1500" dirty="0">
                <a:solidFill>
                  <a:srgbClr val="D7E6DC"/>
                </a:solidFill>
                <a:latin typeface="Calibri" pitchFamily="34" charset="0"/>
                <a:ea typeface="Calibri" pitchFamily="34" charset="-122"/>
                <a:cs typeface="Calibri" pitchFamily="34" charset="-120"/>
              </a:rPr>
              <a:t>What each verdict actually says, and the statistics that make it trustworthy — not the interface, the inference.</a:t>
            </a:r>
            <a:endParaRPr lang="en-US" sz="1500" dirty="0"/>
          </a:p>
        </p:txBody>
      </p:sp>
      <p:sp>
        <p:nvSpPr>
          <p:cNvPr id="9" name="Text 7"/>
          <p:cNvSpPr txBox="1"/>
          <p:nvPr/>
        </p:nvSpPr>
        <p:spPr>
          <a:xfrm>
            <a:off x="822960" y="5989320"/>
            <a:ext cx="9601200" cy="365760"/>
          </a:xfrm>
          <a:prstGeom prst="rect">
            <a:avLst/>
          </a:prstGeom>
          <a:noFill/>
          <a:ln/>
        </p:spPr>
        <p:txBody>
          <a:bodyPr wrap="square" lIns="0" tIns="0" rIns="0" bIns="0" rtlCol="0" anchor="ctr"/>
          <a:lstStyle/>
          <a:p>
            <a:pPr indent="0" marL="0">
              <a:buNone/>
            </a:pPr>
            <a:r>
              <a:rPr lang="en-US" sz="1200" dirty="0">
                <a:solidFill>
                  <a:srgbClr val="9CC9AE"/>
                </a:solidFill>
                <a:latin typeface="Consolas" pitchFamily="34" charset="0"/>
                <a:ea typeface="Consolas" pitchFamily="34" charset="-122"/>
                <a:cs typeface="Consolas" pitchFamily="34" charset="-120"/>
              </a:rPr>
              <a:t>Fixed effects  ·  clustered SEs  ·  multiple testing  ·  counterfactual impact</a:t>
            </a:r>
            <a:endParaRPr lang="en-US" sz="1200" dirty="0"/>
          </a:p>
        </p:txBody>
      </p:sp>
      <p:sp>
        <p:nvSpPr>
          <p:cNvPr id="10" name="Text 8"/>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BFD0C6"/>
                </a:solidFill>
                <a:latin typeface="Calibri" pitchFamily="34" charset="0"/>
                <a:ea typeface="Calibri" pitchFamily="34" charset="-122"/>
                <a:cs typeface="Calibri" pitchFamily="34" charset="-120"/>
              </a:rPr>
              <a:t>Reading the Results  ·  Nordic FBMC Propagation</a:t>
            </a:r>
            <a:endParaRPr lang="en-US" sz="900" dirty="0"/>
          </a:p>
        </p:txBody>
      </p:sp>
      <p:sp>
        <p:nvSpPr>
          <p:cNvPr id="11" name="Text 9"/>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BFD0C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640080"/>
          </a:xfrm>
          <a:prstGeom prst="rect">
            <a:avLst/>
          </a:prstGeom>
          <a:noFill/>
          <a:ln/>
        </p:spPr>
        <p:txBody>
          <a:bodyPr wrap="square" lIns="0" tIns="0" rIns="0" bIns="0" rtlCol="0" anchor="ctr"/>
          <a:lstStyle/>
          <a:p>
            <a:pPr indent="0" marL="0">
              <a:buNone/>
            </a:pPr>
            <a:r>
              <a:rPr lang="en-US" sz="3200" b="1" dirty="0">
                <a:solidFill>
                  <a:srgbClr val="18181B"/>
                </a:solidFill>
                <a:latin typeface="Cambria" pitchFamily="34" charset="0"/>
                <a:ea typeface="Cambria" pitchFamily="34" charset="-122"/>
                <a:cs typeface="Cambria" pitchFamily="34" charset="-120"/>
              </a:rPr>
              <a:t>Agenda</a:t>
            </a:r>
            <a:endParaRPr lang="en-US" sz="3200" dirty="0"/>
          </a:p>
        </p:txBody>
      </p:sp>
      <p:sp>
        <p:nvSpPr>
          <p:cNvPr id="3" name="Shape 1"/>
          <p:cNvSpPr/>
          <p:nvPr/>
        </p:nvSpPr>
        <p:spPr>
          <a:xfrm>
            <a:off x="640080" y="1554480"/>
            <a:ext cx="566928" cy="566928"/>
          </a:xfrm>
          <a:prstGeom prst="ellipse">
            <a:avLst/>
          </a:prstGeom>
          <a:solidFill>
            <a:srgbClr val="163C2C"/>
          </a:solidFill>
          <a:ln/>
        </p:spPr>
      </p:sp>
      <p:sp>
        <p:nvSpPr>
          <p:cNvPr id="4" name="Text 2"/>
          <p:cNvSpPr txBox="1"/>
          <p:nvPr/>
        </p:nvSpPr>
        <p:spPr>
          <a:xfrm>
            <a:off x="640080" y="155448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5" name="Text 3"/>
          <p:cNvSpPr txBox="1"/>
          <p:nvPr/>
        </p:nvSpPr>
        <p:spPr>
          <a:xfrm>
            <a:off x="1371600" y="1536192"/>
            <a:ext cx="9601200" cy="365760"/>
          </a:xfrm>
          <a:prstGeom prst="rect">
            <a:avLst/>
          </a:prstGeom>
          <a:noFill/>
          <a:ln/>
        </p:spPr>
        <p:txBody>
          <a:bodyPr wrap="square" lIns="0" tIns="0" rIns="0" bIns="0" rtlCol="0" anchor="ctr"/>
          <a:lstStyle/>
          <a:p>
            <a:pPr indent="0" marL="0">
              <a:buNone/>
            </a:pPr>
            <a:r>
              <a:rPr lang="en-US" sz="1600" b="1" dirty="0">
                <a:solidFill>
                  <a:srgbClr val="18181B"/>
                </a:solidFill>
                <a:latin typeface="Calibri" pitchFamily="34" charset="0"/>
                <a:ea typeface="Calibri" pitchFamily="34" charset="-122"/>
                <a:cs typeface="Calibri" pitchFamily="34" charset="-120"/>
              </a:rPr>
              <a:t>The fundamentals</a:t>
            </a:r>
            <a:endParaRPr lang="en-US" sz="1600" dirty="0"/>
          </a:p>
        </p:txBody>
      </p:sp>
      <p:sp>
        <p:nvSpPr>
          <p:cNvPr id="6" name="Text 4"/>
          <p:cNvSpPr txBox="1"/>
          <p:nvPr/>
        </p:nvSpPr>
        <p:spPr>
          <a:xfrm>
            <a:off x="1371600" y="1883664"/>
            <a:ext cx="9601200"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OLS, fixed effects, clustered SEs, p-values, multiple testing — worked, not just named</a:t>
            </a:r>
            <a:endParaRPr lang="en-US" sz="1200" dirty="0"/>
          </a:p>
        </p:txBody>
      </p:sp>
      <p:sp>
        <p:nvSpPr>
          <p:cNvPr id="7" name="Shape 5"/>
          <p:cNvSpPr/>
          <p:nvPr/>
        </p:nvSpPr>
        <p:spPr>
          <a:xfrm>
            <a:off x="640080" y="2468880"/>
            <a:ext cx="566928" cy="566928"/>
          </a:xfrm>
          <a:prstGeom prst="ellipse">
            <a:avLst/>
          </a:prstGeom>
          <a:solidFill>
            <a:srgbClr val="163C2C"/>
          </a:solidFill>
          <a:ln/>
        </p:spPr>
      </p:sp>
      <p:sp>
        <p:nvSpPr>
          <p:cNvPr id="8" name="Text 6"/>
          <p:cNvSpPr txBox="1"/>
          <p:nvPr/>
        </p:nvSpPr>
        <p:spPr>
          <a:xfrm>
            <a:off x="640080" y="246888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9" name="Text 7"/>
          <p:cNvSpPr txBox="1"/>
          <p:nvPr/>
        </p:nvSpPr>
        <p:spPr>
          <a:xfrm>
            <a:off x="1371600" y="2450592"/>
            <a:ext cx="9601200" cy="365760"/>
          </a:xfrm>
          <a:prstGeom prst="rect">
            <a:avLst/>
          </a:prstGeom>
          <a:noFill/>
          <a:ln/>
        </p:spPr>
        <p:txBody>
          <a:bodyPr wrap="square" lIns="0" tIns="0" rIns="0" bIns="0" rtlCol="0" anchor="ctr"/>
          <a:lstStyle/>
          <a:p>
            <a:pPr indent="0" marL="0">
              <a:buNone/>
            </a:pPr>
            <a:r>
              <a:rPr lang="en-US" sz="1600" b="1" dirty="0">
                <a:solidFill>
                  <a:srgbClr val="18181B"/>
                </a:solidFill>
                <a:latin typeface="Calibri" pitchFamily="34" charset="0"/>
                <a:ea typeface="Calibri" pitchFamily="34" charset="-122"/>
                <a:cs typeface="Calibri" pitchFamily="34" charset="-120"/>
              </a:rPr>
              <a:t>Significant vs. meaningful</a:t>
            </a:r>
            <a:endParaRPr lang="en-US" sz="1600" dirty="0"/>
          </a:p>
        </p:txBody>
      </p:sp>
      <p:sp>
        <p:nvSpPr>
          <p:cNvPr id="10" name="Text 8"/>
          <p:cNvSpPr txBox="1"/>
          <p:nvPr/>
        </p:nvSpPr>
        <p:spPr>
          <a:xfrm>
            <a:off x="1371600" y="2798064"/>
            <a:ext cx="9601200"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Why a p&lt;0.05 result isn't automatically “SUPPORTED”</a:t>
            </a:r>
            <a:endParaRPr lang="en-US" sz="1200" dirty="0"/>
          </a:p>
        </p:txBody>
      </p:sp>
      <p:sp>
        <p:nvSpPr>
          <p:cNvPr id="11" name="Shape 9"/>
          <p:cNvSpPr/>
          <p:nvPr/>
        </p:nvSpPr>
        <p:spPr>
          <a:xfrm>
            <a:off x="640080" y="3383280"/>
            <a:ext cx="566928" cy="566928"/>
          </a:xfrm>
          <a:prstGeom prst="ellipse">
            <a:avLst/>
          </a:prstGeom>
          <a:solidFill>
            <a:srgbClr val="163C2C"/>
          </a:solidFill>
          <a:ln/>
        </p:spPr>
      </p:sp>
      <p:sp>
        <p:nvSpPr>
          <p:cNvPr id="12" name="Text 10"/>
          <p:cNvSpPr txBox="1"/>
          <p:nvPr/>
        </p:nvSpPr>
        <p:spPr>
          <a:xfrm>
            <a:off x="640080" y="338328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13" name="Text 11"/>
          <p:cNvSpPr txBox="1"/>
          <p:nvPr/>
        </p:nvSpPr>
        <p:spPr>
          <a:xfrm>
            <a:off x="1371600" y="3364992"/>
            <a:ext cx="9601200" cy="365760"/>
          </a:xfrm>
          <a:prstGeom prst="rect">
            <a:avLst/>
          </a:prstGeom>
          <a:noFill/>
          <a:ln/>
        </p:spPr>
        <p:txBody>
          <a:bodyPr wrap="square" lIns="0" tIns="0" rIns="0" bIns="0" rtlCol="0" anchor="ctr"/>
          <a:lstStyle/>
          <a:p>
            <a:pPr indent="0" marL="0">
              <a:buNone/>
            </a:pPr>
            <a:r>
              <a:rPr lang="en-US" sz="1600" b="1" dirty="0">
                <a:solidFill>
                  <a:srgbClr val="18181B"/>
                </a:solidFill>
                <a:latin typeface="Calibri" pitchFamily="34" charset="0"/>
                <a:ea typeface="Calibri" pitchFamily="34" charset="-122"/>
                <a:cs typeface="Calibri" pitchFamily="34" charset="-120"/>
              </a:rPr>
              <a:t>The six verdicts</a:t>
            </a:r>
            <a:endParaRPr lang="en-US" sz="1600" dirty="0"/>
          </a:p>
        </p:txBody>
      </p:sp>
      <p:sp>
        <p:nvSpPr>
          <p:cNvPr id="14" name="Text 12"/>
          <p:cNvSpPr txBox="1"/>
          <p:nvPr/>
        </p:nvSpPr>
        <p:spPr>
          <a:xfrm>
            <a:off x="1371600" y="3712464"/>
            <a:ext cx="9601200"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What each hypothesis tests, and how to read its row</a:t>
            </a:r>
            <a:endParaRPr lang="en-US" sz="1200" dirty="0"/>
          </a:p>
        </p:txBody>
      </p:sp>
      <p:sp>
        <p:nvSpPr>
          <p:cNvPr id="15" name="Shape 13"/>
          <p:cNvSpPr/>
          <p:nvPr/>
        </p:nvSpPr>
        <p:spPr>
          <a:xfrm>
            <a:off x="640080" y="4297680"/>
            <a:ext cx="566928" cy="566928"/>
          </a:xfrm>
          <a:prstGeom prst="ellipse">
            <a:avLst/>
          </a:prstGeom>
          <a:solidFill>
            <a:srgbClr val="163C2C"/>
          </a:solidFill>
          <a:ln/>
        </p:spPr>
      </p:sp>
      <p:sp>
        <p:nvSpPr>
          <p:cNvPr id="16" name="Text 14"/>
          <p:cNvSpPr txBox="1"/>
          <p:nvPr/>
        </p:nvSpPr>
        <p:spPr>
          <a:xfrm>
            <a:off x="640080" y="429768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17" name="Text 15"/>
          <p:cNvSpPr txBox="1"/>
          <p:nvPr/>
        </p:nvSpPr>
        <p:spPr>
          <a:xfrm>
            <a:off x="1371600" y="4279392"/>
            <a:ext cx="9601200" cy="365760"/>
          </a:xfrm>
          <a:prstGeom prst="rect">
            <a:avLst/>
          </a:prstGeom>
          <a:noFill/>
          <a:ln/>
        </p:spPr>
        <p:txBody>
          <a:bodyPr wrap="square" lIns="0" tIns="0" rIns="0" bIns="0" rtlCol="0" anchor="ctr"/>
          <a:lstStyle/>
          <a:p>
            <a:pPr indent="0" marL="0">
              <a:buNone/>
            </a:pPr>
            <a:r>
              <a:rPr lang="en-US" sz="1600" b="1" dirty="0">
                <a:solidFill>
                  <a:srgbClr val="18181B"/>
                </a:solidFill>
                <a:latin typeface="Calibri" pitchFamily="34" charset="0"/>
                <a:ea typeface="Calibri" pitchFamily="34" charset="-122"/>
                <a:cs typeface="Calibri" pitchFamily="34" charset="-120"/>
              </a:rPr>
              <a:t>Per-event results</a:t>
            </a:r>
            <a:endParaRPr lang="en-US" sz="1600" dirty="0"/>
          </a:p>
        </p:txBody>
      </p:sp>
      <p:sp>
        <p:nvSpPr>
          <p:cNvPr id="18" name="Text 16"/>
          <p:cNvSpPr txBox="1"/>
          <p:nvPr/>
        </p:nvSpPr>
        <p:spPr>
          <a:xfrm>
            <a:off x="1371600" y="4626864"/>
            <a:ext cx="9601200"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Reading the ITS chart, ΔRAM decomposition, DiD, and Price Spread</a:t>
            </a:r>
            <a:endParaRPr lang="en-US" sz="1200" dirty="0"/>
          </a:p>
        </p:txBody>
      </p:sp>
      <p:sp>
        <p:nvSpPr>
          <p:cNvPr id="19" name="Shape 17"/>
          <p:cNvSpPr/>
          <p:nvPr/>
        </p:nvSpPr>
        <p:spPr>
          <a:xfrm>
            <a:off x="640080" y="5212080"/>
            <a:ext cx="566928" cy="566928"/>
          </a:xfrm>
          <a:prstGeom prst="ellipse">
            <a:avLst/>
          </a:prstGeom>
          <a:solidFill>
            <a:srgbClr val="163C2C"/>
          </a:solidFill>
          <a:ln/>
        </p:spPr>
      </p:sp>
      <p:sp>
        <p:nvSpPr>
          <p:cNvPr id="20" name="Text 18"/>
          <p:cNvSpPr txBox="1"/>
          <p:nvPr/>
        </p:nvSpPr>
        <p:spPr>
          <a:xfrm>
            <a:off x="640080" y="521208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05</a:t>
            </a:r>
            <a:endParaRPr lang="en-US" sz="1600" dirty="0"/>
          </a:p>
        </p:txBody>
      </p:sp>
      <p:sp>
        <p:nvSpPr>
          <p:cNvPr id="21" name="Text 19"/>
          <p:cNvSpPr txBox="1"/>
          <p:nvPr/>
        </p:nvSpPr>
        <p:spPr>
          <a:xfrm>
            <a:off x="1371600" y="5193792"/>
            <a:ext cx="9601200" cy="365760"/>
          </a:xfrm>
          <a:prstGeom prst="rect">
            <a:avLst/>
          </a:prstGeom>
          <a:noFill/>
          <a:ln/>
        </p:spPr>
        <p:txBody>
          <a:bodyPr wrap="square" lIns="0" tIns="0" rIns="0" bIns="0" rtlCol="0" anchor="ctr"/>
          <a:lstStyle/>
          <a:p>
            <a:pPr indent="0" marL="0">
              <a:buNone/>
            </a:pPr>
            <a:r>
              <a:rPr lang="en-US" sz="1600" b="1" dirty="0">
                <a:solidFill>
                  <a:srgbClr val="18181B"/>
                </a:solidFill>
                <a:latin typeface="Calibri" pitchFamily="34" charset="0"/>
                <a:ea typeface="Calibri" pitchFamily="34" charset="-122"/>
                <a:cs typeface="Calibri" pitchFamily="34" charset="-120"/>
              </a:rPr>
              <a:t>Common pitfalls</a:t>
            </a:r>
            <a:endParaRPr lang="en-US" sz="1600" dirty="0"/>
          </a:p>
        </p:txBody>
      </p:sp>
      <p:sp>
        <p:nvSpPr>
          <p:cNvPr id="22" name="Text 20"/>
          <p:cNvSpPr txBox="1"/>
          <p:nvPr/>
        </p:nvSpPr>
        <p:spPr>
          <a:xfrm>
            <a:off x="1371600" y="5541264"/>
            <a:ext cx="9601200"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The ways these results get over-read</a:t>
            </a:r>
            <a:endParaRPr lang="en-US" sz="1200" dirty="0"/>
          </a:p>
        </p:txBody>
      </p:sp>
      <p:sp>
        <p:nvSpPr>
          <p:cNvPr id="23" name="Text 21"/>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24" name="Text 22"/>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0F4"/>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6D5B97"/>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BEFORE WE START</a:t>
            </a:r>
            <a:endParaRPr lang="en-US" sz="1050" dirty="0"/>
          </a:p>
        </p:txBody>
      </p:sp>
      <p:sp>
        <p:nvSpPr>
          <p:cNvPr id="4" name="Text 2"/>
          <p:cNvSpPr txBox="1"/>
          <p:nvPr/>
        </p:nvSpPr>
        <p:spPr>
          <a:xfrm>
            <a:off x="640080" y="914400"/>
            <a:ext cx="10881360" cy="594360"/>
          </a:xfrm>
          <a:prstGeom prst="rect">
            <a:avLst/>
          </a:prstGeom>
          <a:noFill/>
          <a:ln/>
        </p:spPr>
        <p:txBody>
          <a:bodyPr wrap="square" lIns="0" tIns="0" rIns="0" bIns="0" rtlCol="0" anchor="ctr"/>
          <a:lstStyle/>
          <a:p>
            <a:pPr indent="0" marL="0">
              <a:buNone/>
            </a:pPr>
            <a:r>
              <a:rPr lang="en-US" sz="2800" b="1" dirty="0">
                <a:solidFill>
                  <a:srgbClr val="18181B"/>
                </a:solidFill>
                <a:latin typeface="Cambria" pitchFamily="34" charset="0"/>
                <a:ea typeface="Cambria" pitchFamily="34" charset="-122"/>
                <a:cs typeface="Cambria" pitchFamily="34" charset="-120"/>
              </a:rPr>
              <a:t>About the Numbers in This Deck</a:t>
            </a:r>
            <a:endParaRPr lang="en-US" sz="2800" dirty="0"/>
          </a:p>
        </p:txBody>
      </p:sp>
      <p:sp>
        <p:nvSpPr>
          <p:cNvPr id="5" name="Text 3"/>
          <p:cNvSpPr txBox="1"/>
          <p:nvPr/>
        </p:nvSpPr>
        <p:spPr>
          <a:xfrm>
            <a:off x="640080" y="1536192"/>
            <a:ext cx="10881360" cy="502920"/>
          </a:xfrm>
          <a:prstGeom prst="rect">
            <a:avLst/>
          </a:prstGeom>
          <a:noFill/>
          <a:ln/>
        </p:spPr>
        <p:txBody>
          <a:bodyPr wrap="square" lIns="0" tIns="0" rIns="0" bIns="0" rtlCol="0" anchor="ctr"/>
          <a:lstStyle/>
          <a:p>
            <a:pPr indent="0" marL="0">
              <a:lnSpc>
                <a:spcPct val="120000"/>
              </a:lnSpc>
              <a:buNone/>
            </a:pPr>
            <a:r>
              <a:rPr lang="en-US" sz="1300" dirty="0">
                <a:solidFill>
                  <a:srgbClr val="6B6B73"/>
                </a:solidFill>
                <a:latin typeface="Calibri" pitchFamily="34" charset="0"/>
                <a:ea typeface="Calibri" pitchFamily="34" charset="-122"/>
                <a:cs typeface="Calibri" pitchFamily="34" charset="-120"/>
              </a:rPr>
              <a:t>Every worked example here is a real, verified calculation — done by hand or in code — used to teach how the method works.</a:t>
            </a:r>
            <a:endParaRPr lang="en-US" sz="1300" dirty="0"/>
          </a:p>
        </p:txBody>
      </p:sp>
      <p:sp>
        <p:nvSpPr>
          <p:cNvPr id="6" name="Shape 4"/>
          <p:cNvSpPr/>
          <p:nvPr/>
        </p:nvSpPr>
        <p:spPr>
          <a:xfrm>
            <a:off x="822960" y="2441448"/>
            <a:ext cx="109728" cy="109728"/>
          </a:xfrm>
          <a:prstGeom prst="ellipse">
            <a:avLst/>
          </a:prstGeom>
          <a:solidFill>
            <a:srgbClr val="163C2C"/>
          </a:solidFill>
          <a:ln/>
        </p:spPr>
      </p:sp>
      <p:sp>
        <p:nvSpPr>
          <p:cNvPr id="7" name="Text 5"/>
          <p:cNvSpPr txBox="1"/>
          <p:nvPr/>
        </p:nvSpPr>
        <p:spPr>
          <a:xfrm>
            <a:off x="1051560" y="2304288"/>
            <a:ext cx="9921240" cy="502920"/>
          </a:xfrm>
          <a:prstGeom prst="rect">
            <a:avLst/>
          </a:prstGeom>
          <a:noFill/>
          <a:ln/>
        </p:spPr>
        <p:txBody>
          <a:bodyPr wrap="square" lIns="0" tIns="0" rIns="0" bIns="0" rtlCol="0" anchor="ctr"/>
          <a:lstStyle/>
          <a:p>
            <a:pPr indent="0" marL="0">
              <a:lnSpc>
                <a:spcPct val="115000"/>
              </a:lnSpc>
              <a:buNone/>
            </a:pPr>
            <a:r>
              <a:rPr lang="en-US" sz="1350" dirty="0">
                <a:solidFill>
                  <a:srgbClr val="18181B"/>
                </a:solidFill>
                <a:latin typeface="Calibri" pitchFamily="34" charset="0"/>
                <a:ea typeface="Calibri" pitchFamily="34" charset="-122"/>
                <a:cs typeface="Calibri" pitchFamily="34" charset="-120"/>
              </a:rPr>
              <a:t>They are illustrative, not this app's real run output — marked WORKED EXAMPLE throughout</a:t>
            </a:r>
            <a:endParaRPr lang="en-US" sz="1350" dirty="0"/>
          </a:p>
        </p:txBody>
      </p:sp>
      <p:sp>
        <p:nvSpPr>
          <p:cNvPr id="8" name="Shape 6"/>
          <p:cNvSpPr/>
          <p:nvPr/>
        </p:nvSpPr>
        <p:spPr>
          <a:xfrm>
            <a:off x="822960" y="2953512"/>
            <a:ext cx="109728" cy="109728"/>
          </a:xfrm>
          <a:prstGeom prst="ellipse">
            <a:avLst/>
          </a:prstGeom>
          <a:solidFill>
            <a:srgbClr val="163C2C"/>
          </a:solidFill>
          <a:ln/>
        </p:spPr>
      </p:sp>
      <p:sp>
        <p:nvSpPr>
          <p:cNvPr id="9" name="Text 7"/>
          <p:cNvSpPr txBox="1"/>
          <p:nvPr/>
        </p:nvSpPr>
        <p:spPr>
          <a:xfrm>
            <a:off x="1051560" y="2816352"/>
            <a:ext cx="9921240" cy="502920"/>
          </a:xfrm>
          <a:prstGeom prst="rect">
            <a:avLst/>
          </a:prstGeom>
          <a:noFill/>
          <a:ln/>
        </p:spPr>
        <p:txBody>
          <a:bodyPr wrap="square" lIns="0" tIns="0" rIns="0" bIns="0" rtlCol="0" anchor="ctr"/>
          <a:lstStyle/>
          <a:p>
            <a:pPr indent="0" marL="0">
              <a:lnSpc>
                <a:spcPct val="115000"/>
              </a:lnSpc>
              <a:buNone/>
            </a:pPr>
            <a:r>
              <a:rPr lang="en-US" sz="1350" dirty="0">
                <a:solidFill>
                  <a:srgbClr val="18181B"/>
                </a:solidFill>
                <a:latin typeface="Calibri" pitchFamily="34" charset="0"/>
                <a:ea typeface="Calibri" pitchFamily="34" charset="-122"/>
                <a:cs typeface="Calibri" pitchFamily="34" charset="-120"/>
              </a:rPr>
              <a:t>Swap in run_analysis.py's actual numbers once a real run exists; the mechanics you're about to see don't change</a:t>
            </a:r>
            <a:endParaRPr lang="en-US" sz="1350" dirty="0"/>
          </a:p>
        </p:txBody>
      </p:sp>
      <p:sp>
        <p:nvSpPr>
          <p:cNvPr id="10" name="Text 8"/>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11" name="Text 9"/>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0F4"/>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640080"/>
          </a:xfrm>
          <a:prstGeom prst="rect">
            <a:avLst/>
          </a:prstGeom>
          <a:noFill/>
          <a:ln/>
        </p:spPr>
        <p:txBody>
          <a:bodyPr wrap="square" lIns="0" tIns="0" rIns="0" bIns="0" rtlCol="0" anchor="ctr"/>
          <a:lstStyle/>
          <a:p>
            <a:pPr indent="0" marL="0">
              <a:buNone/>
            </a:pPr>
            <a:r>
              <a:rPr lang="en-US" sz="2800" b="1" dirty="0">
                <a:solidFill>
                  <a:srgbClr val="18181B"/>
                </a:solidFill>
                <a:latin typeface="Cambria" pitchFamily="34" charset="0"/>
                <a:ea typeface="Cambria" pitchFamily="34" charset="-122"/>
                <a:cs typeface="Cambria" pitchFamily="34" charset="-120"/>
              </a:rPr>
              <a:t>What's Being Measured</a:t>
            </a:r>
            <a:endParaRPr lang="en-US" sz="2800" dirty="0"/>
          </a:p>
        </p:txBody>
      </p:sp>
      <p:sp>
        <p:nvSpPr>
          <p:cNvPr id="3" name="Text 1"/>
          <p:cNvSpPr txBox="1"/>
          <p:nvPr/>
        </p:nvSpPr>
        <p:spPr>
          <a:xfrm>
            <a:off x="640080" y="1097280"/>
            <a:ext cx="10881360" cy="457200"/>
          </a:xfrm>
          <a:prstGeom prst="rect">
            <a:avLst/>
          </a:prstGeom>
          <a:noFill/>
          <a:ln/>
        </p:spPr>
        <p:txBody>
          <a:bodyPr wrap="square" lIns="0" tIns="0" rIns="0" bIns="0" rtlCol="0" anchor="ctr"/>
          <a:lstStyle/>
          <a:p>
            <a:pPr indent="0" marL="0">
              <a:buNone/>
            </a:pPr>
            <a:r>
              <a:rPr lang="en-US" sz="1350" dirty="0">
                <a:solidFill>
                  <a:srgbClr val="6B6B73"/>
                </a:solidFill>
                <a:latin typeface="Calibri" pitchFamily="34" charset="0"/>
                <a:ea typeface="Calibri" pitchFamily="34" charset="-122"/>
                <a:cs typeface="Calibri" pitchFamily="34" charset="-120"/>
              </a:rPr>
              <a:t>Every hypothesis ultimately traces back to this one identity — seven published terms that sum, exactly, to a CNEC's available capacity.</a:t>
            </a:r>
            <a:endParaRPr lang="en-US" sz="1350" dirty="0"/>
          </a:p>
        </p:txBody>
      </p:sp>
      <p:sp>
        <p:nvSpPr>
          <p:cNvPr id="4" name="Shape 2"/>
          <p:cNvSpPr/>
          <p:nvPr/>
        </p:nvSpPr>
        <p:spPr>
          <a:xfrm>
            <a:off x="640080" y="2103120"/>
            <a:ext cx="1481328" cy="1280160"/>
          </a:xfrm>
          <a:prstGeom prst="roundRect">
            <a:avLst>
              <a:gd name="adj" fmla="val 5714"/>
            </a:avLst>
          </a:prstGeom>
          <a:solidFill>
            <a:srgbClr val="FFFFFF"/>
          </a:solidFill>
          <a:ln w="12700">
            <a:solidFill>
              <a:srgbClr val="E6E6E9"/>
            </a:solidFill>
            <a:prstDash val="solid"/>
          </a:ln>
          <a:effectLst>
            <a:outerShdw sx="100000" sy="100000" kx="0" ky="0" algn="bl" rotWithShape="0" blurRad="101600" dist="38100" dir="5400000">
              <a:srgbClr val="163C2C">
                <a:alpha val="18000"/>
              </a:srgbClr>
            </a:outerShdw>
          </a:effectLst>
        </p:spPr>
      </p:sp>
      <p:sp>
        <p:nvSpPr>
          <p:cNvPr id="5" name="Text 3"/>
          <p:cNvSpPr txBox="1"/>
          <p:nvPr/>
        </p:nvSpPr>
        <p:spPr>
          <a:xfrm>
            <a:off x="640080" y="2176272"/>
            <a:ext cx="1481328" cy="292608"/>
          </a:xfrm>
          <a:prstGeom prst="rect">
            <a:avLst/>
          </a:prstGeom>
          <a:noFill/>
          <a:ln/>
        </p:spPr>
        <p:txBody>
          <a:bodyPr wrap="square" lIns="0" tIns="0" rIns="0" bIns="0" rtlCol="0" anchor="ctr"/>
          <a:lstStyle/>
          <a:p>
            <a:pPr algn="ctr" indent="0" marL="0">
              <a:buNone/>
            </a:pPr>
            <a:r>
              <a:rPr lang="en-US" sz="1500" b="1" dirty="0">
                <a:solidFill>
                  <a:srgbClr val="163C2C"/>
                </a:solidFill>
                <a:latin typeface="Calibri" pitchFamily="34" charset="0"/>
                <a:ea typeface="Calibri" pitchFamily="34" charset="-122"/>
                <a:cs typeface="Calibri" pitchFamily="34" charset="-120"/>
              </a:rPr>
              <a:t>+</a:t>
            </a:r>
            <a:endParaRPr lang="en-US" sz="1500" dirty="0"/>
          </a:p>
        </p:txBody>
      </p:sp>
      <p:sp>
        <p:nvSpPr>
          <p:cNvPr id="6" name="Text 4"/>
          <p:cNvSpPr txBox="1"/>
          <p:nvPr/>
        </p:nvSpPr>
        <p:spPr>
          <a:xfrm>
            <a:off x="640080" y="2468880"/>
            <a:ext cx="1481328" cy="320040"/>
          </a:xfrm>
          <a:prstGeom prst="rect">
            <a:avLst/>
          </a:prstGeom>
          <a:noFill/>
          <a:ln/>
        </p:spPr>
        <p:txBody>
          <a:bodyPr wrap="square" lIns="0" tIns="0" rIns="0" bIns="0" rtlCol="0" anchor="ctr"/>
          <a:lstStyle/>
          <a:p>
            <a:pPr algn="ctr" indent="0" marL="0">
              <a:buNone/>
            </a:pPr>
            <a:r>
              <a:rPr lang="en-US" sz="1500" b="1" dirty="0">
                <a:solidFill>
                  <a:srgbClr val="18181B"/>
                </a:solidFill>
                <a:latin typeface="Cambria" pitchFamily="34" charset="0"/>
                <a:ea typeface="Cambria" pitchFamily="34" charset="-122"/>
                <a:cs typeface="Cambria" pitchFamily="34" charset="-120"/>
              </a:rPr>
              <a:t>Fmax</a:t>
            </a:r>
            <a:endParaRPr lang="en-US" sz="1500" dirty="0"/>
          </a:p>
        </p:txBody>
      </p:sp>
      <p:sp>
        <p:nvSpPr>
          <p:cNvPr id="7" name="Text 5"/>
          <p:cNvSpPr txBox="1"/>
          <p:nvPr/>
        </p:nvSpPr>
        <p:spPr>
          <a:xfrm>
            <a:off x="694944" y="2834640"/>
            <a:ext cx="1371600" cy="502920"/>
          </a:xfrm>
          <a:prstGeom prst="rect">
            <a:avLst/>
          </a:prstGeom>
          <a:noFill/>
          <a:ln/>
        </p:spPr>
        <p:txBody>
          <a:bodyPr wrap="square" lIns="0" tIns="0" rIns="0" bIns="0" rtlCol="0" anchor="ctr"/>
          <a:lstStyle/>
          <a:p>
            <a:pPr algn="ctr" indent="0" marL="0">
              <a:lnSpc>
                <a:spcPct val="110000"/>
              </a:lnSpc>
              <a:buNone/>
            </a:pPr>
            <a:r>
              <a:rPr lang="en-US" sz="850" dirty="0">
                <a:solidFill>
                  <a:srgbClr val="6B6B73"/>
                </a:solidFill>
                <a:latin typeface="Calibri" pitchFamily="34" charset="0"/>
                <a:ea typeface="Calibri" pitchFamily="34" charset="-122"/>
                <a:cs typeface="Calibri" pitchFamily="34" charset="-120"/>
              </a:rPr>
              <a:t>Thermal limit</a:t>
            </a:r>
            <a:endParaRPr lang="en-US" sz="850" dirty="0"/>
          </a:p>
        </p:txBody>
      </p:sp>
      <p:sp>
        <p:nvSpPr>
          <p:cNvPr id="8" name="Shape 6"/>
          <p:cNvSpPr/>
          <p:nvPr/>
        </p:nvSpPr>
        <p:spPr>
          <a:xfrm>
            <a:off x="2249424" y="2103120"/>
            <a:ext cx="1481328" cy="1280160"/>
          </a:xfrm>
          <a:prstGeom prst="roundRect">
            <a:avLst>
              <a:gd name="adj" fmla="val 5714"/>
            </a:avLst>
          </a:prstGeom>
          <a:solidFill>
            <a:srgbClr val="FFFFFF"/>
          </a:solidFill>
          <a:ln w="12700">
            <a:solidFill>
              <a:srgbClr val="E6E6E9"/>
            </a:solidFill>
            <a:prstDash val="solid"/>
          </a:ln>
          <a:effectLst>
            <a:outerShdw sx="100000" sy="100000" kx="0" ky="0" algn="bl" rotWithShape="0" blurRad="101600" dist="38100" dir="5400000">
              <a:srgbClr val="163C2C">
                <a:alpha val="18000"/>
              </a:srgbClr>
            </a:outerShdw>
          </a:effectLst>
        </p:spPr>
      </p:sp>
      <p:sp>
        <p:nvSpPr>
          <p:cNvPr id="9" name="Text 7"/>
          <p:cNvSpPr txBox="1"/>
          <p:nvPr/>
        </p:nvSpPr>
        <p:spPr>
          <a:xfrm>
            <a:off x="2249424" y="2176272"/>
            <a:ext cx="1481328" cy="292608"/>
          </a:xfrm>
          <a:prstGeom prst="rect">
            <a:avLst/>
          </a:prstGeom>
          <a:noFill/>
          <a:ln/>
        </p:spPr>
        <p:txBody>
          <a:bodyPr wrap="square" lIns="0" tIns="0" rIns="0" bIns="0" rtlCol="0" anchor="ctr"/>
          <a:lstStyle/>
          <a:p>
            <a:pPr algn="ctr" indent="0" marL="0">
              <a:buNone/>
            </a:pPr>
            <a:r>
              <a:rPr lang="en-US" sz="1500" b="1" dirty="0">
                <a:solidFill>
                  <a:srgbClr val="B91C1C"/>
                </a:solidFill>
                <a:latin typeface="Calibri" pitchFamily="34" charset="0"/>
                <a:ea typeface="Calibri" pitchFamily="34" charset="-122"/>
                <a:cs typeface="Calibri" pitchFamily="34" charset="-120"/>
              </a:rPr>
              <a:t>−</a:t>
            </a:r>
            <a:endParaRPr lang="en-US" sz="1500" dirty="0"/>
          </a:p>
        </p:txBody>
      </p:sp>
      <p:sp>
        <p:nvSpPr>
          <p:cNvPr id="10" name="Text 8"/>
          <p:cNvSpPr txBox="1"/>
          <p:nvPr/>
        </p:nvSpPr>
        <p:spPr>
          <a:xfrm>
            <a:off x="2249424" y="2468880"/>
            <a:ext cx="1481328" cy="320040"/>
          </a:xfrm>
          <a:prstGeom prst="rect">
            <a:avLst/>
          </a:prstGeom>
          <a:noFill/>
          <a:ln/>
        </p:spPr>
        <p:txBody>
          <a:bodyPr wrap="square" lIns="0" tIns="0" rIns="0" bIns="0" rtlCol="0" anchor="ctr"/>
          <a:lstStyle/>
          <a:p>
            <a:pPr algn="ctr" indent="0" marL="0">
              <a:buNone/>
            </a:pPr>
            <a:r>
              <a:rPr lang="en-US" sz="1500" b="1" dirty="0">
                <a:solidFill>
                  <a:srgbClr val="18181B"/>
                </a:solidFill>
                <a:latin typeface="Cambria" pitchFamily="34" charset="0"/>
                <a:ea typeface="Cambria" pitchFamily="34" charset="-122"/>
                <a:cs typeface="Cambria" pitchFamily="34" charset="-120"/>
              </a:rPr>
              <a:t>FRM</a:t>
            </a:r>
            <a:endParaRPr lang="en-US" sz="1500" dirty="0"/>
          </a:p>
        </p:txBody>
      </p:sp>
      <p:sp>
        <p:nvSpPr>
          <p:cNvPr id="11" name="Text 9"/>
          <p:cNvSpPr txBox="1"/>
          <p:nvPr/>
        </p:nvSpPr>
        <p:spPr>
          <a:xfrm>
            <a:off x="2304288" y="2834640"/>
            <a:ext cx="1371600" cy="502920"/>
          </a:xfrm>
          <a:prstGeom prst="rect">
            <a:avLst/>
          </a:prstGeom>
          <a:noFill/>
          <a:ln/>
        </p:spPr>
        <p:txBody>
          <a:bodyPr wrap="square" lIns="0" tIns="0" rIns="0" bIns="0" rtlCol="0" anchor="ctr"/>
          <a:lstStyle/>
          <a:p>
            <a:pPr algn="ctr" indent="0" marL="0">
              <a:lnSpc>
                <a:spcPct val="110000"/>
              </a:lnSpc>
              <a:buNone/>
            </a:pPr>
            <a:r>
              <a:rPr lang="en-US" sz="850" dirty="0">
                <a:solidFill>
                  <a:srgbClr val="6B6B73"/>
                </a:solidFill>
                <a:latin typeface="Calibri" pitchFamily="34" charset="0"/>
                <a:ea typeface="Calibri" pitchFamily="34" charset="-122"/>
                <a:cs typeface="Calibri" pitchFamily="34" charset="-120"/>
              </a:rPr>
              <a:t>Reliability margin</a:t>
            </a:r>
            <a:endParaRPr lang="en-US" sz="850" dirty="0"/>
          </a:p>
        </p:txBody>
      </p:sp>
      <p:sp>
        <p:nvSpPr>
          <p:cNvPr id="12" name="Shape 10"/>
          <p:cNvSpPr/>
          <p:nvPr/>
        </p:nvSpPr>
        <p:spPr>
          <a:xfrm>
            <a:off x="3858768" y="2103120"/>
            <a:ext cx="1481328" cy="1280160"/>
          </a:xfrm>
          <a:prstGeom prst="roundRect">
            <a:avLst>
              <a:gd name="adj" fmla="val 5714"/>
            </a:avLst>
          </a:prstGeom>
          <a:solidFill>
            <a:srgbClr val="FFFFFF"/>
          </a:solidFill>
          <a:ln w="12700">
            <a:solidFill>
              <a:srgbClr val="E6E6E9"/>
            </a:solidFill>
            <a:prstDash val="solid"/>
          </a:ln>
          <a:effectLst>
            <a:outerShdw sx="100000" sy="100000" kx="0" ky="0" algn="bl" rotWithShape="0" blurRad="101600" dist="38100" dir="5400000">
              <a:srgbClr val="163C2C">
                <a:alpha val="18000"/>
              </a:srgbClr>
            </a:outerShdw>
          </a:effectLst>
        </p:spPr>
      </p:sp>
      <p:sp>
        <p:nvSpPr>
          <p:cNvPr id="13" name="Text 11"/>
          <p:cNvSpPr txBox="1"/>
          <p:nvPr/>
        </p:nvSpPr>
        <p:spPr>
          <a:xfrm>
            <a:off x="3858768" y="2176272"/>
            <a:ext cx="1481328" cy="292608"/>
          </a:xfrm>
          <a:prstGeom prst="rect">
            <a:avLst/>
          </a:prstGeom>
          <a:noFill/>
          <a:ln/>
        </p:spPr>
        <p:txBody>
          <a:bodyPr wrap="square" lIns="0" tIns="0" rIns="0" bIns="0" rtlCol="0" anchor="ctr"/>
          <a:lstStyle/>
          <a:p>
            <a:pPr algn="ctr" indent="0" marL="0">
              <a:buNone/>
            </a:pPr>
            <a:r>
              <a:rPr lang="en-US" sz="1500" b="1" dirty="0">
                <a:solidFill>
                  <a:srgbClr val="B91C1C"/>
                </a:solidFill>
                <a:latin typeface="Calibri" pitchFamily="34" charset="0"/>
                <a:ea typeface="Calibri" pitchFamily="34" charset="-122"/>
                <a:cs typeface="Calibri" pitchFamily="34" charset="-120"/>
              </a:rPr>
              <a:t>−</a:t>
            </a:r>
            <a:endParaRPr lang="en-US" sz="1500" dirty="0"/>
          </a:p>
        </p:txBody>
      </p:sp>
      <p:sp>
        <p:nvSpPr>
          <p:cNvPr id="14" name="Text 12"/>
          <p:cNvSpPr txBox="1"/>
          <p:nvPr/>
        </p:nvSpPr>
        <p:spPr>
          <a:xfrm>
            <a:off x="3858768" y="2468880"/>
            <a:ext cx="1481328" cy="320040"/>
          </a:xfrm>
          <a:prstGeom prst="rect">
            <a:avLst/>
          </a:prstGeom>
          <a:noFill/>
          <a:ln/>
        </p:spPr>
        <p:txBody>
          <a:bodyPr wrap="square" lIns="0" tIns="0" rIns="0" bIns="0" rtlCol="0" anchor="ctr"/>
          <a:lstStyle/>
          <a:p>
            <a:pPr algn="ctr" indent="0" marL="0">
              <a:buNone/>
            </a:pPr>
            <a:r>
              <a:rPr lang="en-US" sz="1500" b="1" dirty="0">
                <a:solidFill>
                  <a:srgbClr val="18181B"/>
                </a:solidFill>
                <a:latin typeface="Cambria" pitchFamily="34" charset="0"/>
                <a:ea typeface="Cambria" pitchFamily="34" charset="-122"/>
                <a:cs typeface="Cambria" pitchFamily="34" charset="-120"/>
              </a:rPr>
              <a:t>fall</a:t>
            </a:r>
            <a:endParaRPr lang="en-US" sz="1500" dirty="0"/>
          </a:p>
        </p:txBody>
      </p:sp>
      <p:sp>
        <p:nvSpPr>
          <p:cNvPr id="15" name="Text 13"/>
          <p:cNvSpPr txBox="1"/>
          <p:nvPr/>
        </p:nvSpPr>
        <p:spPr>
          <a:xfrm>
            <a:off x="3913632" y="2834640"/>
            <a:ext cx="1371600" cy="502920"/>
          </a:xfrm>
          <a:prstGeom prst="rect">
            <a:avLst/>
          </a:prstGeom>
          <a:noFill/>
          <a:ln/>
        </p:spPr>
        <p:txBody>
          <a:bodyPr wrap="square" lIns="0" tIns="0" rIns="0" bIns="0" rtlCol="0" anchor="ctr"/>
          <a:lstStyle/>
          <a:p>
            <a:pPr algn="ctr" indent="0" marL="0">
              <a:lnSpc>
                <a:spcPct val="110000"/>
              </a:lnSpc>
              <a:buNone/>
            </a:pPr>
            <a:r>
              <a:rPr lang="en-US" sz="850" dirty="0">
                <a:solidFill>
                  <a:srgbClr val="6B6B73"/>
                </a:solidFill>
                <a:latin typeface="Calibri" pitchFamily="34" charset="0"/>
                <a:ea typeface="Calibri" pitchFamily="34" charset="-122"/>
                <a:cs typeface="Calibri" pitchFamily="34" charset="-120"/>
              </a:rPr>
              <a:t>Reference flow</a:t>
            </a:r>
            <a:endParaRPr lang="en-US" sz="850" dirty="0"/>
          </a:p>
        </p:txBody>
      </p:sp>
      <p:sp>
        <p:nvSpPr>
          <p:cNvPr id="16" name="Shape 14"/>
          <p:cNvSpPr/>
          <p:nvPr/>
        </p:nvSpPr>
        <p:spPr>
          <a:xfrm>
            <a:off x="5468112" y="2103120"/>
            <a:ext cx="1481328" cy="1280160"/>
          </a:xfrm>
          <a:prstGeom prst="roundRect">
            <a:avLst>
              <a:gd name="adj" fmla="val 5714"/>
            </a:avLst>
          </a:prstGeom>
          <a:solidFill>
            <a:srgbClr val="FFFFFF"/>
          </a:solidFill>
          <a:ln w="12700">
            <a:solidFill>
              <a:srgbClr val="E6E6E9"/>
            </a:solidFill>
            <a:prstDash val="solid"/>
          </a:ln>
          <a:effectLst>
            <a:outerShdw sx="100000" sy="100000" kx="0" ky="0" algn="bl" rotWithShape="0" blurRad="101600" dist="38100" dir="5400000">
              <a:srgbClr val="163C2C">
                <a:alpha val="18000"/>
              </a:srgbClr>
            </a:outerShdw>
          </a:effectLst>
        </p:spPr>
      </p:sp>
      <p:sp>
        <p:nvSpPr>
          <p:cNvPr id="17" name="Text 15"/>
          <p:cNvSpPr txBox="1"/>
          <p:nvPr/>
        </p:nvSpPr>
        <p:spPr>
          <a:xfrm>
            <a:off x="5468112" y="2176272"/>
            <a:ext cx="1481328" cy="292608"/>
          </a:xfrm>
          <a:prstGeom prst="rect">
            <a:avLst/>
          </a:prstGeom>
          <a:noFill/>
          <a:ln/>
        </p:spPr>
        <p:txBody>
          <a:bodyPr wrap="square" lIns="0" tIns="0" rIns="0" bIns="0" rtlCol="0" anchor="ctr"/>
          <a:lstStyle/>
          <a:p>
            <a:pPr algn="ctr" indent="0" marL="0">
              <a:buNone/>
            </a:pPr>
            <a:r>
              <a:rPr lang="en-US" sz="1500" b="1" dirty="0">
                <a:solidFill>
                  <a:srgbClr val="15803D"/>
                </a:solidFill>
                <a:latin typeface="Calibri" pitchFamily="34" charset="0"/>
                <a:ea typeface="Calibri" pitchFamily="34" charset="-122"/>
                <a:cs typeface="Calibri" pitchFamily="34" charset="-120"/>
              </a:rPr>
              <a:t>+</a:t>
            </a:r>
            <a:endParaRPr lang="en-US" sz="1500" dirty="0"/>
          </a:p>
        </p:txBody>
      </p:sp>
      <p:sp>
        <p:nvSpPr>
          <p:cNvPr id="18" name="Text 16"/>
          <p:cNvSpPr txBox="1"/>
          <p:nvPr/>
        </p:nvSpPr>
        <p:spPr>
          <a:xfrm>
            <a:off x="5468112" y="2468880"/>
            <a:ext cx="1481328" cy="320040"/>
          </a:xfrm>
          <a:prstGeom prst="rect">
            <a:avLst/>
          </a:prstGeom>
          <a:noFill/>
          <a:ln/>
        </p:spPr>
        <p:txBody>
          <a:bodyPr wrap="square" lIns="0" tIns="0" rIns="0" bIns="0" rtlCol="0" anchor="ctr"/>
          <a:lstStyle/>
          <a:p>
            <a:pPr algn="ctr" indent="0" marL="0">
              <a:buNone/>
            </a:pPr>
            <a:r>
              <a:rPr lang="en-US" sz="1500" b="1" dirty="0">
                <a:solidFill>
                  <a:srgbClr val="18181B"/>
                </a:solidFill>
                <a:latin typeface="Cambria" pitchFamily="34" charset="0"/>
                <a:ea typeface="Cambria" pitchFamily="34" charset="-122"/>
                <a:cs typeface="Cambria" pitchFamily="34" charset="-120"/>
              </a:rPr>
              <a:t>fnrao</a:t>
            </a:r>
            <a:endParaRPr lang="en-US" sz="1500" dirty="0"/>
          </a:p>
        </p:txBody>
      </p:sp>
      <p:sp>
        <p:nvSpPr>
          <p:cNvPr id="19" name="Text 17"/>
          <p:cNvSpPr txBox="1"/>
          <p:nvPr/>
        </p:nvSpPr>
        <p:spPr>
          <a:xfrm>
            <a:off x="5522976" y="2834640"/>
            <a:ext cx="1371600" cy="502920"/>
          </a:xfrm>
          <a:prstGeom prst="rect">
            <a:avLst/>
          </a:prstGeom>
          <a:noFill/>
          <a:ln/>
        </p:spPr>
        <p:txBody>
          <a:bodyPr wrap="square" lIns="0" tIns="0" rIns="0" bIns="0" rtlCol="0" anchor="ctr"/>
          <a:lstStyle/>
          <a:p>
            <a:pPr algn="ctr" indent="0" marL="0">
              <a:lnSpc>
                <a:spcPct val="110000"/>
              </a:lnSpc>
              <a:buNone/>
            </a:pPr>
            <a:r>
              <a:rPr lang="en-US" sz="850" dirty="0">
                <a:solidFill>
                  <a:srgbClr val="6B6B73"/>
                </a:solidFill>
                <a:latin typeface="Calibri" pitchFamily="34" charset="0"/>
                <a:ea typeface="Calibri" pitchFamily="34" charset="-122"/>
                <a:cs typeface="Calibri" pitchFamily="34" charset="-120"/>
              </a:rPr>
              <a:t>Allocation offset</a:t>
            </a:r>
            <a:endParaRPr lang="en-US" sz="850" dirty="0"/>
          </a:p>
        </p:txBody>
      </p:sp>
      <p:sp>
        <p:nvSpPr>
          <p:cNvPr id="20" name="Shape 18"/>
          <p:cNvSpPr/>
          <p:nvPr/>
        </p:nvSpPr>
        <p:spPr>
          <a:xfrm>
            <a:off x="7077456" y="2103120"/>
            <a:ext cx="1481328" cy="1280160"/>
          </a:xfrm>
          <a:prstGeom prst="roundRect">
            <a:avLst>
              <a:gd name="adj" fmla="val 5714"/>
            </a:avLst>
          </a:prstGeom>
          <a:solidFill>
            <a:srgbClr val="FFFFFF"/>
          </a:solidFill>
          <a:ln w="12700">
            <a:solidFill>
              <a:srgbClr val="E6E6E9"/>
            </a:solidFill>
            <a:prstDash val="solid"/>
          </a:ln>
          <a:effectLst>
            <a:outerShdw sx="100000" sy="100000" kx="0" ky="0" algn="bl" rotWithShape="0" blurRad="101600" dist="38100" dir="5400000">
              <a:srgbClr val="163C2C">
                <a:alpha val="18000"/>
              </a:srgbClr>
            </a:outerShdw>
          </a:effectLst>
        </p:spPr>
      </p:sp>
      <p:sp>
        <p:nvSpPr>
          <p:cNvPr id="21" name="Text 19"/>
          <p:cNvSpPr txBox="1"/>
          <p:nvPr/>
        </p:nvSpPr>
        <p:spPr>
          <a:xfrm>
            <a:off x="7077456" y="2176272"/>
            <a:ext cx="1481328" cy="292608"/>
          </a:xfrm>
          <a:prstGeom prst="rect">
            <a:avLst/>
          </a:prstGeom>
          <a:noFill/>
          <a:ln/>
        </p:spPr>
        <p:txBody>
          <a:bodyPr wrap="square" lIns="0" tIns="0" rIns="0" bIns="0" rtlCol="0" anchor="ctr"/>
          <a:lstStyle/>
          <a:p>
            <a:pPr algn="ctr" indent="0" marL="0">
              <a:buNone/>
            </a:pPr>
            <a:r>
              <a:rPr lang="en-US" sz="1500" b="1" dirty="0">
                <a:solidFill>
                  <a:srgbClr val="15803D"/>
                </a:solidFill>
                <a:latin typeface="Calibri" pitchFamily="34" charset="0"/>
                <a:ea typeface="Calibri" pitchFamily="34" charset="-122"/>
                <a:cs typeface="Calibri" pitchFamily="34" charset="-120"/>
              </a:rPr>
              <a:t>+</a:t>
            </a:r>
            <a:endParaRPr lang="en-US" sz="1500" dirty="0"/>
          </a:p>
        </p:txBody>
      </p:sp>
      <p:sp>
        <p:nvSpPr>
          <p:cNvPr id="22" name="Text 20"/>
          <p:cNvSpPr txBox="1"/>
          <p:nvPr/>
        </p:nvSpPr>
        <p:spPr>
          <a:xfrm>
            <a:off x="7077456" y="2468880"/>
            <a:ext cx="1481328" cy="320040"/>
          </a:xfrm>
          <a:prstGeom prst="rect">
            <a:avLst/>
          </a:prstGeom>
          <a:noFill/>
          <a:ln/>
        </p:spPr>
        <p:txBody>
          <a:bodyPr wrap="square" lIns="0" tIns="0" rIns="0" bIns="0" rtlCol="0" anchor="ctr"/>
          <a:lstStyle/>
          <a:p>
            <a:pPr algn="ctr" indent="0" marL="0">
              <a:buNone/>
            </a:pPr>
            <a:r>
              <a:rPr lang="en-US" sz="1500" b="1" dirty="0">
                <a:solidFill>
                  <a:srgbClr val="18181B"/>
                </a:solidFill>
                <a:latin typeface="Cambria" pitchFamily="34" charset="0"/>
                <a:ea typeface="Cambria" pitchFamily="34" charset="-122"/>
                <a:cs typeface="Cambria" pitchFamily="34" charset="-120"/>
              </a:rPr>
              <a:t>AMR</a:t>
            </a:r>
            <a:endParaRPr lang="en-US" sz="1500" dirty="0"/>
          </a:p>
        </p:txBody>
      </p:sp>
      <p:sp>
        <p:nvSpPr>
          <p:cNvPr id="23" name="Text 21"/>
          <p:cNvSpPr txBox="1"/>
          <p:nvPr/>
        </p:nvSpPr>
        <p:spPr>
          <a:xfrm>
            <a:off x="7132320" y="2834640"/>
            <a:ext cx="1371600" cy="502920"/>
          </a:xfrm>
          <a:prstGeom prst="rect">
            <a:avLst/>
          </a:prstGeom>
          <a:noFill/>
          <a:ln/>
        </p:spPr>
        <p:txBody>
          <a:bodyPr wrap="square" lIns="0" tIns="0" rIns="0" bIns="0" rtlCol="0" anchor="ctr"/>
          <a:lstStyle/>
          <a:p>
            <a:pPr algn="ctr" indent="0" marL="0">
              <a:lnSpc>
                <a:spcPct val="110000"/>
              </a:lnSpc>
              <a:buNone/>
            </a:pPr>
            <a:r>
              <a:rPr lang="en-US" sz="850" dirty="0">
                <a:solidFill>
                  <a:srgbClr val="6B6B73"/>
                </a:solidFill>
                <a:latin typeface="Calibri" pitchFamily="34" charset="0"/>
                <a:ea typeface="Calibri" pitchFamily="34" charset="-122"/>
                <a:cs typeface="Calibri" pitchFamily="34" charset="-120"/>
              </a:rPr>
              <a:t>Remedial-action adj.</a:t>
            </a:r>
            <a:endParaRPr lang="en-US" sz="850" dirty="0"/>
          </a:p>
        </p:txBody>
      </p:sp>
      <p:sp>
        <p:nvSpPr>
          <p:cNvPr id="24" name="Shape 22"/>
          <p:cNvSpPr/>
          <p:nvPr/>
        </p:nvSpPr>
        <p:spPr>
          <a:xfrm>
            <a:off x="8686800" y="2103120"/>
            <a:ext cx="1481328" cy="1280160"/>
          </a:xfrm>
          <a:prstGeom prst="roundRect">
            <a:avLst>
              <a:gd name="adj" fmla="val 5714"/>
            </a:avLst>
          </a:prstGeom>
          <a:solidFill>
            <a:srgbClr val="FFFFFF"/>
          </a:solidFill>
          <a:ln w="12700">
            <a:solidFill>
              <a:srgbClr val="E6E6E9"/>
            </a:solidFill>
            <a:prstDash val="solid"/>
          </a:ln>
          <a:effectLst>
            <a:outerShdw sx="100000" sy="100000" kx="0" ky="0" algn="bl" rotWithShape="0" blurRad="101600" dist="38100" dir="5400000">
              <a:srgbClr val="163C2C">
                <a:alpha val="18000"/>
              </a:srgbClr>
            </a:outerShdw>
          </a:effectLst>
        </p:spPr>
      </p:sp>
      <p:sp>
        <p:nvSpPr>
          <p:cNvPr id="25" name="Text 23"/>
          <p:cNvSpPr txBox="1"/>
          <p:nvPr/>
        </p:nvSpPr>
        <p:spPr>
          <a:xfrm>
            <a:off x="8686800" y="2176272"/>
            <a:ext cx="1481328" cy="292608"/>
          </a:xfrm>
          <a:prstGeom prst="rect">
            <a:avLst/>
          </a:prstGeom>
          <a:noFill/>
          <a:ln/>
        </p:spPr>
        <p:txBody>
          <a:bodyPr wrap="square" lIns="0" tIns="0" rIns="0" bIns="0" rtlCol="0" anchor="ctr"/>
          <a:lstStyle/>
          <a:p>
            <a:pPr algn="ctr" indent="0" marL="0">
              <a:buNone/>
            </a:pPr>
            <a:r>
              <a:rPr lang="en-US" sz="1500" b="1" dirty="0">
                <a:solidFill>
                  <a:srgbClr val="B91C1C"/>
                </a:solidFill>
                <a:latin typeface="Calibri" pitchFamily="34" charset="0"/>
                <a:ea typeface="Calibri" pitchFamily="34" charset="-122"/>
                <a:cs typeface="Calibri" pitchFamily="34" charset="-120"/>
              </a:rPr>
              <a:t>−</a:t>
            </a:r>
            <a:endParaRPr lang="en-US" sz="1500" dirty="0"/>
          </a:p>
        </p:txBody>
      </p:sp>
      <p:sp>
        <p:nvSpPr>
          <p:cNvPr id="26" name="Text 24"/>
          <p:cNvSpPr txBox="1"/>
          <p:nvPr/>
        </p:nvSpPr>
        <p:spPr>
          <a:xfrm>
            <a:off x="8686800" y="2468880"/>
            <a:ext cx="1481328" cy="320040"/>
          </a:xfrm>
          <a:prstGeom prst="rect">
            <a:avLst/>
          </a:prstGeom>
          <a:noFill/>
          <a:ln/>
        </p:spPr>
        <p:txBody>
          <a:bodyPr wrap="square" lIns="0" tIns="0" rIns="0" bIns="0" rtlCol="0" anchor="ctr"/>
          <a:lstStyle/>
          <a:p>
            <a:pPr algn="ctr" indent="0" marL="0">
              <a:buNone/>
            </a:pPr>
            <a:r>
              <a:rPr lang="en-US" sz="1500" b="1" dirty="0">
                <a:solidFill>
                  <a:srgbClr val="18181B"/>
                </a:solidFill>
                <a:latin typeface="Cambria" pitchFamily="34" charset="0"/>
                <a:ea typeface="Cambria" pitchFamily="34" charset="-122"/>
                <a:cs typeface="Cambria" pitchFamily="34" charset="-120"/>
              </a:rPr>
              <a:t>FAAC</a:t>
            </a:r>
            <a:endParaRPr lang="en-US" sz="1500" dirty="0"/>
          </a:p>
        </p:txBody>
      </p:sp>
      <p:sp>
        <p:nvSpPr>
          <p:cNvPr id="27" name="Text 25"/>
          <p:cNvSpPr txBox="1"/>
          <p:nvPr/>
        </p:nvSpPr>
        <p:spPr>
          <a:xfrm>
            <a:off x="8741664" y="2834640"/>
            <a:ext cx="1371600" cy="502920"/>
          </a:xfrm>
          <a:prstGeom prst="rect">
            <a:avLst/>
          </a:prstGeom>
          <a:noFill/>
          <a:ln/>
        </p:spPr>
        <p:txBody>
          <a:bodyPr wrap="square" lIns="0" tIns="0" rIns="0" bIns="0" rtlCol="0" anchor="ctr"/>
          <a:lstStyle/>
          <a:p>
            <a:pPr algn="ctr" indent="0" marL="0">
              <a:lnSpc>
                <a:spcPct val="110000"/>
              </a:lnSpc>
              <a:buNone/>
            </a:pPr>
            <a:r>
              <a:rPr lang="en-US" sz="850" dirty="0">
                <a:solidFill>
                  <a:srgbClr val="6B6B73"/>
                </a:solidFill>
                <a:latin typeface="Calibri" pitchFamily="34" charset="0"/>
                <a:ea typeface="Calibri" pitchFamily="34" charset="-122"/>
                <a:cs typeface="Calibri" pitchFamily="34" charset="-120"/>
              </a:rPr>
              <a:t>Frequency-restoration</a:t>
            </a:r>
            <a:endParaRPr lang="en-US" sz="850" dirty="0"/>
          </a:p>
        </p:txBody>
      </p:sp>
      <p:sp>
        <p:nvSpPr>
          <p:cNvPr id="28" name="Shape 26"/>
          <p:cNvSpPr/>
          <p:nvPr/>
        </p:nvSpPr>
        <p:spPr>
          <a:xfrm>
            <a:off x="10296144" y="2103120"/>
            <a:ext cx="1481328" cy="1280160"/>
          </a:xfrm>
          <a:prstGeom prst="roundRect">
            <a:avLst>
              <a:gd name="adj" fmla="val 5714"/>
            </a:avLst>
          </a:prstGeom>
          <a:solidFill>
            <a:srgbClr val="FFFFFF"/>
          </a:solidFill>
          <a:ln w="12700">
            <a:solidFill>
              <a:srgbClr val="E6E6E9"/>
            </a:solidFill>
            <a:prstDash val="solid"/>
          </a:ln>
          <a:effectLst>
            <a:outerShdw sx="100000" sy="100000" kx="0" ky="0" algn="bl" rotWithShape="0" blurRad="101600" dist="38100" dir="5400000">
              <a:srgbClr val="163C2C">
                <a:alpha val="18000"/>
              </a:srgbClr>
            </a:outerShdw>
          </a:effectLst>
        </p:spPr>
      </p:sp>
      <p:sp>
        <p:nvSpPr>
          <p:cNvPr id="29" name="Text 27"/>
          <p:cNvSpPr txBox="1"/>
          <p:nvPr/>
        </p:nvSpPr>
        <p:spPr>
          <a:xfrm>
            <a:off x="10296144" y="2176272"/>
            <a:ext cx="1481328" cy="292608"/>
          </a:xfrm>
          <a:prstGeom prst="rect">
            <a:avLst/>
          </a:prstGeom>
          <a:noFill/>
          <a:ln/>
        </p:spPr>
        <p:txBody>
          <a:bodyPr wrap="square" lIns="0" tIns="0" rIns="0" bIns="0" rtlCol="0" anchor="ctr"/>
          <a:lstStyle/>
          <a:p>
            <a:pPr algn="ctr" indent="0" marL="0">
              <a:buNone/>
            </a:pPr>
            <a:r>
              <a:rPr lang="en-US" sz="1500" b="1" dirty="0">
                <a:solidFill>
                  <a:srgbClr val="B91C1C"/>
                </a:solidFill>
                <a:latin typeface="Calibri" pitchFamily="34" charset="0"/>
                <a:ea typeface="Calibri" pitchFamily="34" charset="-122"/>
                <a:cs typeface="Calibri" pitchFamily="34" charset="-120"/>
              </a:rPr>
              <a:t>−</a:t>
            </a:r>
            <a:endParaRPr lang="en-US" sz="1500" dirty="0"/>
          </a:p>
        </p:txBody>
      </p:sp>
      <p:sp>
        <p:nvSpPr>
          <p:cNvPr id="30" name="Text 28"/>
          <p:cNvSpPr txBox="1"/>
          <p:nvPr/>
        </p:nvSpPr>
        <p:spPr>
          <a:xfrm>
            <a:off x="10296144" y="2468880"/>
            <a:ext cx="1481328" cy="320040"/>
          </a:xfrm>
          <a:prstGeom prst="rect">
            <a:avLst/>
          </a:prstGeom>
          <a:noFill/>
          <a:ln/>
        </p:spPr>
        <p:txBody>
          <a:bodyPr wrap="square" lIns="0" tIns="0" rIns="0" bIns="0" rtlCol="0" anchor="ctr"/>
          <a:lstStyle/>
          <a:p>
            <a:pPr algn="ctr" indent="0" marL="0">
              <a:buNone/>
            </a:pPr>
            <a:r>
              <a:rPr lang="en-US" sz="1500" b="1" dirty="0">
                <a:solidFill>
                  <a:srgbClr val="18181B"/>
                </a:solidFill>
                <a:latin typeface="Cambria" pitchFamily="34" charset="0"/>
                <a:ea typeface="Cambria" pitchFamily="34" charset="-122"/>
                <a:cs typeface="Cambria" pitchFamily="34" charset="-120"/>
              </a:rPr>
              <a:t>IVA</a:t>
            </a:r>
            <a:endParaRPr lang="en-US" sz="1500" dirty="0"/>
          </a:p>
        </p:txBody>
      </p:sp>
      <p:sp>
        <p:nvSpPr>
          <p:cNvPr id="31" name="Text 29"/>
          <p:cNvSpPr txBox="1"/>
          <p:nvPr/>
        </p:nvSpPr>
        <p:spPr>
          <a:xfrm>
            <a:off x="10351008" y="2834640"/>
            <a:ext cx="1371600" cy="502920"/>
          </a:xfrm>
          <a:prstGeom prst="rect">
            <a:avLst/>
          </a:prstGeom>
          <a:noFill/>
          <a:ln/>
        </p:spPr>
        <p:txBody>
          <a:bodyPr wrap="square" lIns="0" tIns="0" rIns="0" bIns="0" rtlCol="0" anchor="ctr"/>
          <a:lstStyle/>
          <a:p>
            <a:pPr algn="ctr" indent="0" marL="0">
              <a:lnSpc>
                <a:spcPct val="110000"/>
              </a:lnSpc>
              <a:buNone/>
            </a:pPr>
            <a:r>
              <a:rPr lang="en-US" sz="850" dirty="0">
                <a:solidFill>
                  <a:srgbClr val="6B6B73"/>
                </a:solidFill>
                <a:latin typeface="Calibri" pitchFamily="34" charset="0"/>
                <a:ea typeface="Calibri" pitchFamily="34" charset="-122"/>
                <a:cs typeface="Calibri" pitchFamily="34" charset="-120"/>
              </a:rPr>
              <a:t>TSO correction</a:t>
            </a:r>
            <a:endParaRPr lang="en-US" sz="850" dirty="0"/>
          </a:p>
        </p:txBody>
      </p:sp>
      <p:sp>
        <p:nvSpPr>
          <p:cNvPr id="32" name="Text 30"/>
          <p:cNvSpPr txBox="1"/>
          <p:nvPr/>
        </p:nvSpPr>
        <p:spPr>
          <a:xfrm>
            <a:off x="640080" y="3703320"/>
            <a:ext cx="10881360" cy="502920"/>
          </a:xfrm>
          <a:prstGeom prst="rect">
            <a:avLst/>
          </a:prstGeom>
          <a:solidFill>
            <a:srgbClr val="163C2C"/>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RAM  =  Fmax − FRM − fall + fnrao + AMR − FAAC − IVA</a:t>
            </a:r>
            <a:endParaRPr lang="en-US" sz="1800" dirty="0"/>
          </a:p>
        </p:txBody>
      </p:sp>
      <p:sp>
        <p:nvSpPr>
          <p:cNvPr id="33" name="Text 31"/>
          <p:cNvSpPr txBox="1"/>
          <p:nvPr/>
        </p:nvSpPr>
        <p:spPr>
          <a:xfrm>
            <a:off x="914400" y="4434840"/>
            <a:ext cx="10332720" cy="822960"/>
          </a:xfrm>
          <a:prstGeom prst="rect">
            <a:avLst/>
          </a:prstGeom>
          <a:noFill/>
          <a:ln/>
        </p:spPr>
        <p:txBody>
          <a:bodyPr wrap="square" lIns="0" tIns="0" rIns="0" bIns="0" rtlCol="0" anchor="ctr"/>
          <a:lstStyle/>
          <a:p>
            <a:pPr indent="0" marL="0">
              <a:lnSpc>
                <a:spcPct val="130000"/>
              </a:lnSpc>
              <a:buNone/>
            </a:pPr>
            <a:r>
              <a:rPr lang="en-US" sz="1300" i="1" dirty="0">
                <a:solidFill>
                  <a:srgbClr val="6B6B73"/>
                </a:solidFill>
                <a:latin typeface="Calibri" pitchFamily="34" charset="0"/>
                <a:ea typeface="Calibri" pitchFamily="34" charset="-122"/>
                <a:cs typeface="Calibri" pitchFamily="34" charset="-120"/>
              </a:rPr>
              <a:t>H3 asks whether an outage moves this combined total. ΔRAM decomposition asks WHICH of the seven terms actually moved. Both questions only make sense because this identity is verified to balance on real data first.</a:t>
            </a:r>
            <a:endParaRPr lang="en-US" sz="1300" dirty="0"/>
          </a:p>
        </p:txBody>
      </p:sp>
      <p:sp>
        <p:nvSpPr>
          <p:cNvPr id="34" name="Text 32"/>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35" name="Text 33"/>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163C2C"/>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FUNDAMENTALS</a:t>
            </a:r>
            <a:endParaRPr lang="en-US" sz="1050" dirty="0"/>
          </a:p>
        </p:txBody>
      </p:sp>
      <p:sp>
        <p:nvSpPr>
          <p:cNvPr id="4" name="Text 2"/>
          <p:cNvSpPr txBox="1"/>
          <p:nvPr/>
        </p:nvSpPr>
        <p:spPr>
          <a:xfrm>
            <a:off x="640080" y="914400"/>
            <a:ext cx="10881360" cy="548640"/>
          </a:xfrm>
          <a:prstGeom prst="rect">
            <a:avLst/>
          </a:prstGeom>
          <a:noFill/>
          <a:ln/>
        </p:spPr>
        <p:txBody>
          <a:bodyPr wrap="square" lIns="0" tIns="0" rIns="0" bIns="0" rtlCol="0" anchor="ctr"/>
          <a:lstStyle/>
          <a:p>
            <a:pPr indent="0" marL="0">
              <a:buNone/>
            </a:pPr>
            <a:r>
              <a:rPr lang="en-US" sz="2700" b="1" dirty="0">
                <a:solidFill>
                  <a:srgbClr val="18181B"/>
                </a:solidFill>
                <a:latin typeface="Cambria" pitchFamily="34" charset="0"/>
                <a:ea typeface="Cambria" pitchFamily="34" charset="-122"/>
                <a:cs typeface="Cambria" pitchFamily="34" charset="-120"/>
              </a:rPr>
              <a:t>The Regression Behind Every Verdict</a:t>
            </a:r>
            <a:endParaRPr lang="en-US" sz="2700" dirty="0"/>
          </a:p>
        </p:txBody>
      </p:sp>
      <p:sp>
        <p:nvSpPr>
          <p:cNvPr id="5" name="Text 3"/>
          <p:cNvSpPr txBox="1"/>
          <p:nvPr/>
        </p:nvSpPr>
        <p:spPr>
          <a:xfrm>
            <a:off x="640080" y="1463040"/>
            <a:ext cx="10881360" cy="365760"/>
          </a:xfrm>
          <a:prstGeom prst="rect">
            <a:avLst/>
          </a:prstGeom>
          <a:noFill/>
          <a:ln/>
        </p:spPr>
        <p:txBody>
          <a:bodyPr wrap="square" lIns="0" tIns="0" rIns="0" bIns="0" rtlCol="0" anchor="ctr"/>
          <a:lstStyle/>
          <a:p>
            <a:pPr indent="0" marL="0">
              <a:buNone/>
            </a:pPr>
            <a:r>
              <a:rPr lang="en-US" sz="1300" dirty="0">
                <a:solidFill>
                  <a:srgbClr val="6B6B73"/>
                </a:solidFill>
                <a:latin typeface="Calibri" pitchFamily="34" charset="0"/>
                <a:ea typeface="Calibri" pitchFamily="34" charset="-122"/>
                <a:cs typeface="Calibri" pitchFamily="34" charset="-120"/>
              </a:rPr>
              <a:t>Every H1–H6 result comes from fitting the same kind of line through data and asking how confident we can be in its slope.</a:t>
            </a:r>
            <a:endParaRPr lang="en-US" sz="1300" dirty="0"/>
          </a:p>
        </p:txBody>
      </p:sp>
      <p:sp>
        <p:nvSpPr>
          <p:cNvPr id="6" name="Text 4"/>
          <p:cNvSpPr txBox="1"/>
          <p:nvPr/>
        </p:nvSpPr>
        <p:spPr>
          <a:xfrm>
            <a:off x="822960" y="1965960"/>
            <a:ext cx="4937760" cy="502920"/>
          </a:xfrm>
          <a:prstGeom prst="rect">
            <a:avLst/>
          </a:prstGeom>
          <a:solidFill>
            <a:srgbClr val="EEF0F4"/>
          </a:solidFill>
          <a:ln/>
        </p:spPr>
        <p:txBody>
          <a:bodyPr wrap="square" lIns="0" tIns="0" rIns="0" bIns="0" rtlCol="0" anchor="ctr"/>
          <a:lstStyle/>
          <a:p>
            <a:pPr algn="ctr" indent="0" marL="0">
              <a:buNone/>
            </a:pPr>
            <a:r>
              <a:rPr lang="en-US" sz="2000" dirty="0">
                <a:solidFill>
                  <a:srgbClr val="18181B"/>
                </a:solidFill>
                <a:latin typeface="Cambria" pitchFamily="34" charset="0"/>
                <a:ea typeface="Cambria" pitchFamily="34" charset="-122"/>
                <a:cs typeface="Cambria" pitchFamily="34" charset="-120"/>
              </a:rPr>
              <a:t>y = α + βx + ε</a:t>
            </a:r>
            <a:endParaRPr lang="en-US" sz="2000" dirty="0"/>
          </a:p>
        </p:txBody>
      </p:sp>
      <p:sp>
        <p:nvSpPr>
          <p:cNvPr id="7" name="Text 5"/>
          <p:cNvSpPr txBox="1"/>
          <p:nvPr/>
        </p:nvSpPr>
        <p:spPr>
          <a:xfrm>
            <a:off x="822960" y="2606040"/>
            <a:ext cx="4937760" cy="1280160"/>
          </a:xfrm>
          <a:prstGeom prst="rect">
            <a:avLst/>
          </a:prstGeom>
          <a:noFill/>
          <a:ln/>
        </p:spPr>
        <p:txBody>
          <a:bodyPr wrap="square" lIns="0" tIns="0" rIns="0" bIns="0" rtlCol="0" anchor="ctr"/>
          <a:lstStyle/>
          <a:p>
            <a:pPr indent="0" marL="0">
              <a:lnSpc>
                <a:spcPct val="130000"/>
              </a:lnSpc>
              <a:buNone/>
            </a:pPr>
            <a:r>
              <a:rPr lang="en-US" sz="1250" dirty="0">
                <a:solidFill>
                  <a:srgbClr val="18181B"/>
                </a:solidFill>
                <a:latin typeface="Calibri" pitchFamily="34" charset="0"/>
                <a:ea typeface="Calibri" pitchFamily="34" charset="-122"/>
                <a:cs typeface="Calibri" pitchFamily="34" charset="-120"/>
              </a:rPr>
              <a:t>β is the effect size we care about: how much y moves per unit of x. Ordinary Least Squares picks α̂, β̂ to minimize the sum of squared residuals — the line that fits the data best in that specific sense.</a:t>
            </a:r>
            <a:endParaRPr lang="en-US" sz="1250" dirty="0"/>
          </a:p>
        </p:txBody>
      </p:sp>
      <p:sp>
        <p:nvSpPr>
          <p:cNvPr id="8" name="Shape 6"/>
          <p:cNvSpPr/>
          <p:nvPr/>
        </p:nvSpPr>
        <p:spPr>
          <a:xfrm>
            <a:off x="6035040" y="1965960"/>
            <a:ext cx="5532120" cy="3977640"/>
          </a:xfrm>
          <a:prstGeom prst="roundRect">
            <a:avLst>
              <a:gd name="adj" fmla="val 2299"/>
            </a:avLst>
          </a:prstGeom>
          <a:solidFill>
            <a:srgbClr val="163C2C"/>
          </a:solidFill>
          <a:ln/>
          <a:effectLst>
            <a:outerShdw sx="100000" sy="100000" kx="0" ky="0" algn="bl" rotWithShape="0" blurRad="101600" dist="38100" dir="5400000">
              <a:srgbClr val="163C2C">
                <a:alpha val="18000"/>
              </a:srgbClr>
            </a:outerShdw>
          </a:effectLst>
        </p:spPr>
      </p:sp>
      <p:sp>
        <p:nvSpPr>
          <p:cNvPr id="9" name="Shape 7"/>
          <p:cNvSpPr/>
          <p:nvPr/>
        </p:nvSpPr>
        <p:spPr>
          <a:xfrm>
            <a:off x="6309360" y="2194560"/>
            <a:ext cx="1691640" cy="292608"/>
          </a:xfrm>
          <a:prstGeom prst="roundRect">
            <a:avLst>
              <a:gd name="adj" fmla="val 50000"/>
            </a:avLst>
          </a:prstGeom>
          <a:solidFill>
            <a:srgbClr val="6D5B97"/>
          </a:solidFill>
          <a:ln/>
        </p:spPr>
      </p:sp>
      <p:sp>
        <p:nvSpPr>
          <p:cNvPr id="10" name="Text 8"/>
          <p:cNvSpPr txBox="1"/>
          <p:nvPr/>
        </p:nvSpPr>
        <p:spPr>
          <a:xfrm>
            <a:off x="6309360" y="2194560"/>
            <a:ext cx="169164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WORKED EXAMPLE</a:t>
            </a:r>
            <a:endParaRPr lang="en-US" sz="950" dirty="0"/>
          </a:p>
        </p:txBody>
      </p:sp>
      <p:sp>
        <p:nvSpPr>
          <p:cNvPr id="11" name="Text 9"/>
          <p:cNvSpPr txBox="1"/>
          <p:nvPr/>
        </p:nvSpPr>
        <p:spPr>
          <a:xfrm>
            <a:off x="6309360" y="2606040"/>
            <a:ext cx="4983480" cy="457200"/>
          </a:xfrm>
          <a:prstGeom prst="rect">
            <a:avLst/>
          </a:prstGeom>
          <a:noFill/>
          <a:ln/>
        </p:spPr>
        <p:txBody>
          <a:bodyPr wrap="square" lIns="0" tIns="0" rIns="0" bIns="0" rtlCol="0" anchor="ctr"/>
          <a:lstStyle/>
          <a:p>
            <a:pPr indent="0" marL="0">
              <a:lnSpc>
                <a:spcPct val="120000"/>
              </a:lnSpc>
              <a:buNone/>
            </a:pPr>
            <a:r>
              <a:rPr lang="en-US" sz="1200" dirty="0">
                <a:solidFill>
                  <a:srgbClr val="D7E6DC"/>
                </a:solidFill>
                <a:latin typeface="Calibri" pitchFamily="34" charset="0"/>
                <a:ea typeface="Calibri" pitchFamily="34" charset="-122"/>
                <a:cs typeface="Calibri" pitchFamily="34" charset="-120"/>
              </a:rPr>
              <a:t>Six observations, three before an outage and three during it</a:t>
            </a:r>
            <a:endParaRPr lang="en-US" sz="1200" dirty="0"/>
          </a:p>
        </p:txBody>
      </p:sp>
      <p:sp>
        <p:nvSpPr>
          <p:cNvPr id="12" name="Text 10"/>
          <p:cNvSpPr txBox="1"/>
          <p:nvPr/>
        </p:nvSpPr>
        <p:spPr>
          <a:xfrm>
            <a:off x="6309360" y="3200400"/>
            <a:ext cx="2093062"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β̂ (slope)</a:t>
            </a:r>
            <a:endParaRPr lang="en-US" sz="1200" dirty="0"/>
          </a:p>
        </p:txBody>
      </p:sp>
      <p:sp>
        <p:nvSpPr>
          <p:cNvPr id="13" name="Text 11"/>
          <p:cNvSpPr txBox="1"/>
          <p:nvPr/>
        </p:nvSpPr>
        <p:spPr>
          <a:xfrm>
            <a:off x="8402422" y="3200400"/>
            <a:ext cx="2890418" cy="365760"/>
          </a:xfrm>
          <a:prstGeom prst="rect">
            <a:avLst/>
          </a:prstGeom>
          <a:noFill/>
          <a:ln/>
        </p:spPr>
        <p:txBody>
          <a:bodyPr wrap="square" lIns="0" tIns="0" rIns="0" bIns="0" rtlCol="0" anchor="ctr"/>
          <a:lstStyle/>
          <a:p>
            <a:pPr algn="r" indent="0" marL="0">
              <a:buNone/>
            </a:pPr>
            <a:r>
              <a:rPr lang="en-US" sz="1300" b="1" dirty="0">
                <a:solidFill>
                  <a:srgbClr val="FFFFFF"/>
                </a:solidFill>
                <a:latin typeface="Consolas" pitchFamily="34" charset="0"/>
                <a:ea typeface="Consolas" pitchFamily="34" charset="-122"/>
                <a:cs typeface="Consolas" pitchFamily="34" charset="-120"/>
              </a:rPr>
              <a:t>−5.333</a:t>
            </a:r>
            <a:endParaRPr lang="en-US" sz="1300" dirty="0"/>
          </a:p>
        </p:txBody>
      </p:sp>
      <p:sp>
        <p:nvSpPr>
          <p:cNvPr id="14" name="Text 12"/>
          <p:cNvSpPr txBox="1"/>
          <p:nvPr/>
        </p:nvSpPr>
        <p:spPr>
          <a:xfrm>
            <a:off x="6309360" y="3611880"/>
            <a:ext cx="2093062"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α̂ (intercept)</a:t>
            </a:r>
            <a:endParaRPr lang="en-US" sz="1200" dirty="0"/>
          </a:p>
        </p:txBody>
      </p:sp>
      <p:sp>
        <p:nvSpPr>
          <p:cNvPr id="15" name="Text 13"/>
          <p:cNvSpPr txBox="1"/>
          <p:nvPr/>
        </p:nvSpPr>
        <p:spPr>
          <a:xfrm>
            <a:off x="8402422" y="3611880"/>
            <a:ext cx="2890418" cy="365760"/>
          </a:xfrm>
          <a:prstGeom prst="rect">
            <a:avLst/>
          </a:prstGeom>
          <a:noFill/>
          <a:ln/>
        </p:spPr>
        <p:txBody>
          <a:bodyPr wrap="square" lIns="0" tIns="0" rIns="0" bIns="0" rtlCol="0" anchor="ctr"/>
          <a:lstStyle/>
          <a:p>
            <a:pPr algn="r" indent="0" marL="0">
              <a:buNone/>
            </a:pPr>
            <a:r>
              <a:rPr lang="en-US" sz="1300" b="1" dirty="0">
                <a:solidFill>
                  <a:srgbClr val="FFFFFF"/>
                </a:solidFill>
                <a:latin typeface="Consolas" pitchFamily="34" charset="0"/>
                <a:ea typeface="Consolas" pitchFamily="34" charset="-122"/>
                <a:cs typeface="Consolas" pitchFamily="34" charset="-120"/>
              </a:rPr>
              <a:t>100.333</a:t>
            </a:r>
            <a:endParaRPr lang="en-US" sz="1300" dirty="0"/>
          </a:p>
        </p:txBody>
      </p:sp>
      <p:sp>
        <p:nvSpPr>
          <p:cNvPr id="16" name="Text 14"/>
          <p:cNvSpPr txBox="1"/>
          <p:nvPr/>
        </p:nvSpPr>
        <p:spPr>
          <a:xfrm>
            <a:off x="6309360" y="4023360"/>
            <a:ext cx="2093062"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SE(β̂)</a:t>
            </a:r>
            <a:endParaRPr lang="en-US" sz="1200" dirty="0"/>
          </a:p>
        </p:txBody>
      </p:sp>
      <p:sp>
        <p:nvSpPr>
          <p:cNvPr id="17" name="Text 15"/>
          <p:cNvSpPr txBox="1"/>
          <p:nvPr/>
        </p:nvSpPr>
        <p:spPr>
          <a:xfrm>
            <a:off x="8402422" y="4023360"/>
            <a:ext cx="2890418" cy="365760"/>
          </a:xfrm>
          <a:prstGeom prst="rect">
            <a:avLst/>
          </a:prstGeom>
          <a:noFill/>
          <a:ln/>
        </p:spPr>
        <p:txBody>
          <a:bodyPr wrap="square" lIns="0" tIns="0" rIns="0" bIns="0" rtlCol="0" anchor="ctr"/>
          <a:lstStyle/>
          <a:p>
            <a:pPr algn="r" indent="0" marL="0">
              <a:buNone/>
            </a:pPr>
            <a:r>
              <a:rPr lang="en-US" sz="1300" b="1" dirty="0">
                <a:solidFill>
                  <a:srgbClr val="FFFFFF"/>
                </a:solidFill>
                <a:latin typeface="Consolas" pitchFamily="34" charset="0"/>
                <a:ea typeface="Consolas" pitchFamily="34" charset="-122"/>
                <a:cs typeface="Consolas" pitchFamily="34" charset="-120"/>
              </a:rPr>
              <a:t>1.667</a:t>
            </a:r>
            <a:endParaRPr lang="en-US" sz="1300" dirty="0"/>
          </a:p>
        </p:txBody>
      </p:sp>
      <p:sp>
        <p:nvSpPr>
          <p:cNvPr id="18" name="Text 16"/>
          <p:cNvSpPr txBox="1"/>
          <p:nvPr/>
        </p:nvSpPr>
        <p:spPr>
          <a:xfrm>
            <a:off x="6309360" y="4434840"/>
            <a:ext cx="2093062"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t-statistic</a:t>
            </a:r>
            <a:endParaRPr lang="en-US" sz="1200" dirty="0"/>
          </a:p>
        </p:txBody>
      </p:sp>
      <p:sp>
        <p:nvSpPr>
          <p:cNvPr id="19" name="Text 17"/>
          <p:cNvSpPr txBox="1"/>
          <p:nvPr/>
        </p:nvSpPr>
        <p:spPr>
          <a:xfrm>
            <a:off x="8402422" y="4434840"/>
            <a:ext cx="2890418" cy="365760"/>
          </a:xfrm>
          <a:prstGeom prst="rect">
            <a:avLst/>
          </a:prstGeom>
          <a:noFill/>
          <a:ln/>
        </p:spPr>
        <p:txBody>
          <a:bodyPr wrap="square" lIns="0" tIns="0" rIns="0" bIns="0" rtlCol="0" anchor="ctr"/>
          <a:lstStyle/>
          <a:p>
            <a:pPr algn="r" indent="0" marL="0">
              <a:buNone/>
            </a:pPr>
            <a:r>
              <a:rPr lang="en-US" sz="1300" b="1" dirty="0">
                <a:solidFill>
                  <a:srgbClr val="FFFFFF"/>
                </a:solidFill>
                <a:latin typeface="Consolas" pitchFamily="34" charset="0"/>
                <a:ea typeface="Consolas" pitchFamily="34" charset="-122"/>
                <a:cs typeface="Consolas" pitchFamily="34" charset="-120"/>
              </a:rPr>
              <a:t>−3.20</a:t>
            </a:r>
            <a:endParaRPr lang="en-US" sz="1300" dirty="0"/>
          </a:p>
        </p:txBody>
      </p:sp>
      <p:sp>
        <p:nvSpPr>
          <p:cNvPr id="20" name="Text 18"/>
          <p:cNvSpPr txBox="1"/>
          <p:nvPr/>
        </p:nvSpPr>
        <p:spPr>
          <a:xfrm>
            <a:off x="6309360" y="4846320"/>
            <a:ext cx="2093062"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p-value (df=4)</a:t>
            </a:r>
            <a:endParaRPr lang="en-US" sz="1200" dirty="0"/>
          </a:p>
        </p:txBody>
      </p:sp>
      <p:sp>
        <p:nvSpPr>
          <p:cNvPr id="21" name="Text 19"/>
          <p:cNvSpPr txBox="1"/>
          <p:nvPr/>
        </p:nvSpPr>
        <p:spPr>
          <a:xfrm>
            <a:off x="8402422" y="4846320"/>
            <a:ext cx="2890418" cy="365760"/>
          </a:xfrm>
          <a:prstGeom prst="rect">
            <a:avLst/>
          </a:prstGeom>
          <a:noFill/>
          <a:ln/>
        </p:spPr>
        <p:txBody>
          <a:bodyPr wrap="square" lIns="0" tIns="0" rIns="0" bIns="0" rtlCol="0" anchor="ctr"/>
          <a:lstStyle/>
          <a:p>
            <a:pPr algn="r" indent="0" marL="0">
              <a:buNone/>
            </a:pPr>
            <a:r>
              <a:rPr lang="en-US" sz="1300" b="1" dirty="0">
                <a:solidFill>
                  <a:srgbClr val="F5B971"/>
                </a:solidFill>
                <a:latin typeface="Consolas" pitchFamily="34" charset="0"/>
                <a:ea typeface="Consolas" pitchFamily="34" charset="-122"/>
                <a:cs typeface="Consolas" pitchFamily="34" charset="-120"/>
              </a:rPr>
              <a:t>0.033</a:t>
            </a:r>
            <a:endParaRPr lang="en-US" sz="1300" dirty="0"/>
          </a:p>
        </p:txBody>
      </p:sp>
      <p:sp>
        <p:nvSpPr>
          <p:cNvPr id="22" name="Text 20"/>
          <p:cNvSpPr txBox="1"/>
          <p:nvPr/>
        </p:nvSpPr>
        <p:spPr>
          <a:xfrm>
            <a:off x="6309360" y="5303520"/>
            <a:ext cx="4983480" cy="548640"/>
          </a:xfrm>
          <a:prstGeom prst="rect">
            <a:avLst/>
          </a:prstGeom>
          <a:noFill/>
          <a:ln/>
        </p:spPr>
        <p:txBody>
          <a:bodyPr wrap="square" lIns="0" tIns="0" rIns="0" bIns="0" rtlCol="0" anchor="ctr"/>
          <a:lstStyle/>
          <a:p>
            <a:pPr indent="0" marL="0">
              <a:lnSpc>
                <a:spcPct val="120000"/>
              </a:lnSpc>
              <a:buNone/>
            </a:pPr>
            <a:r>
              <a:rPr lang="en-US" sz="1100" i="1" dirty="0">
                <a:solidFill>
                  <a:srgbClr val="9CC9AE"/>
                </a:solidFill>
                <a:latin typeface="Calibri" pitchFamily="34" charset="0"/>
                <a:ea typeface="Calibri" pitchFamily="34" charset="-122"/>
                <a:cs typeface="Calibri" pitchFamily="34" charset="-120"/>
              </a:rPr>
              <a:t>p &lt; 0.05: reject the null that outages don't move this outcome.</a:t>
            </a:r>
            <a:endParaRPr lang="en-US" sz="1100" dirty="0"/>
          </a:p>
        </p:txBody>
      </p:sp>
      <p:sp>
        <p:nvSpPr>
          <p:cNvPr id="23" name="Text 21"/>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24" name="Text 22"/>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0F4"/>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163C2C"/>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FUNDAMENTALS</a:t>
            </a:r>
            <a:endParaRPr lang="en-US" sz="1050" dirty="0"/>
          </a:p>
        </p:txBody>
      </p:sp>
      <p:sp>
        <p:nvSpPr>
          <p:cNvPr id="4" name="Text 2"/>
          <p:cNvSpPr txBox="1"/>
          <p:nvPr/>
        </p:nvSpPr>
        <p:spPr>
          <a:xfrm>
            <a:off x="640080" y="914400"/>
            <a:ext cx="10881360" cy="548640"/>
          </a:xfrm>
          <a:prstGeom prst="rect">
            <a:avLst/>
          </a:prstGeom>
          <a:noFill/>
          <a:ln/>
        </p:spPr>
        <p:txBody>
          <a:bodyPr wrap="square" lIns="0" tIns="0" rIns="0" bIns="0" rtlCol="0" anchor="ctr"/>
          <a:lstStyle/>
          <a:p>
            <a:pPr indent="0" marL="0">
              <a:buNone/>
            </a:pPr>
            <a:r>
              <a:rPr lang="en-US" sz="2700" b="1" dirty="0">
                <a:solidFill>
                  <a:srgbClr val="18181B"/>
                </a:solidFill>
                <a:latin typeface="Cambria" pitchFamily="34" charset="0"/>
                <a:ea typeface="Cambria" pitchFamily="34" charset="-122"/>
                <a:cs typeface="Cambria" pitchFamily="34" charset="-120"/>
              </a:rPr>
              <a:t>Why Fixed Effects Matter</a:t>
            </a:r>
            <a:endParaRPr lang="en-US" sz="2700" dirty="0"/>
          </a:p>
        </p:txBody>
      </p:sp>
      <p:sp>
        <p:nvSpPr>
          <p:cNvPr id="5" name="Text 3"/>
          <p:cNvSpPr txBox="1"/>
          <p:nvPr/>
        </p:nvSpPr>
        <p:spPr>
          <a:xfrm>
            <a:off x="640080" y="1463040"/>
            <a:ext cx="10881360" cy="548640"/>
          </a:xfrm>
          <a:prstGeom prst="rect">
            <a:avLst/>
          </a:prstGeom>
          <a:noFill/>
          <a:ln/>
        </p:spPr>
        <p:txBody>
          <a:bodyPr wrap="square" lIns="0" tIns="0" rIns="0" bIns="0" rtlCol="0" anchor="ctr"/>
          <a:lstStyle/>
          <a:p>
            <a:pPr indent="0" marL="0">
              <a:lnSpc>
                <a:spcPct val="120000"/>
              </a:lnSpc>
              <a:buNone/>
            </a:pPr>
            <a:r>
              <a:rPr lang="en-US" sz="1300" dirty="0">
                <a:solidFill>
                  <a:srgbClr val="6B6B73"/>
                </a:solidFill>
                <a:latin typeface="Calibri" pitchFamily="34" charset="0"/>
                <a:ea typeface="Calibri" pitchFamily="34" charset="-122"/>
                <a:cs typeface="Calibri" pitchFamily="34" charset="-120"/>
              </a:rPr>
              <a:t>A CNEC with a naturally low RAM and one with a naturally high RAM differ for reasons that have nothing to do with outages. Left uncorrected, that difference can masquerade as an outage effect.</a:t>
            </a:r>
            <a:endParaRPr lang="en-US" sz="1300" dirty="0"/>
          </a:p>
        </p:txBody>
      </p:sp>
      <p:sp>
        <p:nvSpPr>
          <p:cNvPr id="6" name="Text 4"/>
          <p:cNvSpPr txBox="1"/>
          <p:nvPr/>
        </p:nvSpPr>
        <p:spPr>
          <a:xfrm>
            <a:off x="822960" y="2240280"/>
            <a:ext cx="10515600" cy="502920"/>
          </a:xfrm>
          <a:prstGeom prst="rect">
            <a:avLst/>
          </a:prstGeom>
          <a:solidFill>
            <a:srgbClr val="163C2C"/>
          </a:solidFill>
          <a:ln/>
        </p:spPr>
        <p:txBody>
          <a:bodyPr wrap="square" lIns="0" tIns="0" rIns="0" bIns="0" rtlCol="0" anchor="ctr"/>
          <a:lstStyle/>
          <a:p>
            <a:pPr algn="ctr" indent="0" marL="0">
              <a:buNone/>
            </a:pPr>
            <a:r>
              <a:rPr lang="en-US" sz="1800" dirty="0">
                <a:solidFill>
                  <a:srgbClr val="FFFFFF"/>
                </a:solidFill>
                <a:latin typeface="Cambria" pitchFamily="34" charset="0"/>
                <a:ea typeface="Cambria" pitchFamily="34" charset="-122"/>
                <a:cs typeface="Cambria" pitchFamily="34" charset="-120"/>
              </a:rPr>
              <a:t>y_{it} = α_{i} + β D_{it} + ε_{it}</a:t>
            </a:r>
            <a:endParaRPr lang="en-US" sz="1800" dirty="0"/>
          </a:p>
        </p:txBody>
      </p:sp>
      <p:sp>
        <p:nvSpPr>
          <p:cNvPr id="7" name="Text 5"/>
          <p:cNvSpPr txBox="1"/>
          <p:nvPr/>
        </p:nvSpPr>
        <p:spPr>
          <a:xfrm>
            <a:off x="822960" y="2926080"/>
            <a:ext cx="10424160" cy="502920"/>
          </a:xfrm>
          <a:prstGeom prst="rect">
            <a:avLst/>
          </a:prstGeom>
          <a:noFill/>
          <a:ln/>
        </p:spPr>
        <p:txBody>
          <a:bodyPr wrap="square" lIns="0" tIns="0" rIns="0" bIns="0" rtlCol="0" anchor="ctr"/>
          <a:lstStyle/>
          <a:p>
            <a:pPr indent="0" marL="0">
              <a:lnSpc>
                <a:spcPct val="125000"/>
              </a:lnSpc>
              <a:buNone/>
            </a:pPr>
            <a:r>
              <a:rPr lang="en-US" sz="1250" dirty="0">
                <a:solidFill>
                  <a:srgbClr val="18181B"/>
                </a:solidFill>
                <a:latin typeface="Calibri" pitchFamily="34" charset="0"/>
                <a:ea typeface="Calibri" pitchFamily="34" charset="-122"/>
                <a:cs typeface="Calibri" pitchFamily="34" charset="-120"/>
              </a:rPr>
              <a:t>α_i — one fixed effect per CNEC, removed by demeaning each CNEC's own series. What's left, β̂, is identified purely from within-CNEC, before/during comparisons.</a:t>
            </a:r>
            <a:endParaRPr lang="en-US" sz="1250" dirty="0"/>
          </a:p>
        </p:txBody>
      </p:sp>
      <p:sp>
        <p:nvSpPr>
          <p:cNvPr id="8" name="Shape 6"/>
          <p:cNvSpPr/>
          <p:nvPr/>
        </p:nvSpPr>
        <p:spPr>
          <a:xfrm>
            <a:off x="822960" y="3657600"/>
            <a:ext cx="10515600" cy="2468880"/>
          </a:xfrm>
          <a:prstGeom prst="roundRect">
            <a:avLst>
              <a:gd name="adj" fmla="val 3704"/>
            </a:avLst>
          </a:prstGeom>
          <a:solidFill>
            <a:srgbClr val="FFFFFF"/>
          </a:solidFill>
          <a:ln/>
          <a:effectLst>
            <a:outerShdw sx="100000" sy="100000" kx="0" ky="0" algn="bl" rotWithShape="0" blurRad="101600" dist="38100" dir="5400000">
              <a:srgbClr val="163C2C">
                <a:alpha val="18000"/>
              </a:srgbClr>
            </a:outerShdw>
          </a:effectLst>
        </p:spPr>
      </p:sp>
      <p:sp>
        <p:nvSpPr>
          <p:cNvPr id="9" name="Shape 7"/>
          <p:cNvSpPr/>
          <p:nvPr/>
        </p:nvSpPr>
        <p:spPr>
          <a:xfrm>
            <a:off x="1097280" y="3886200"/>
            <a:ext cx="1691640" cy="292608"/>
          </a:xfrm>
          <a:prstGeom prst="roundRect">
            <a:avLst>
              <a:gd name="adj" fmla="val 50000"/>
            </a:avLst>
          </a:prstGeom>
          <a:solidFill>
            <a:srgbClr val="6D5B97"/>
          </a:solidFill>
          <a:ln/>
        </p:spPr>
      </p:sp>
      <p:sp>
        <p:nvSpPr>
          <p:cNvPr id="10" name="Text 8"/>
          <p:cNvSpPr txBox="1"/>
          <p:nvPr/>
        </p:nvSpPr>
        <p:spPr>
          <a:xfrm>
            <a:off x="1097280" y="3886200"/>
            <a:ext cx="169164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WORKED EXAMPLE</a:t>
            </a:r>
            <a:endParaRPr lang="en-US" sz="950" dirty="0"/>
          </a:p>
        </p:txBody>
      </p:sp>
      <p:sp>
        <p:nvSpPr>
          <p:cNvPr id="11" name="Text 9"/>
          <p:cNvSpPr txBox="1"/>
          <p:nvPr/>
        </p:nvSpPr>
        <p:spPr>
          <a:xfrm>
            <a:off x="1097280" y="4251960"/>
            <a:ext cx="9966960" cy="457200"/>
          </a:xfrm>
          <a:prstGeom prst="rect">
            <a:avLst/>
          </a:prstGeom>
          <a:noFill/>
          <a:ln/>
        </p:spPr>
        <p:txBody>
          <a:bodyPr wrap="square" lIns="0" tIns="0" rIns="0" bIns="0" rtlCol="0" anchor="ctr"/>
          <a:lstStyle/>
          <a:p>
            <a:pPr indent="0" marL="0">
              <a:lnSpc>
                <a:spcPct val="120000"/>
              </a:lnSpc>
              <a:buNone/>
            </a:pPr>
            <a:r>
              <a:rPr lang="en-US" sz="1200" dirty="0">
                <a:solidFill>
                  <a:srgbClr val="18181B"/>
                </a:solidFill>
                <a:latin typeface="Calibri" pitchFamily="34" charset="0"/>
                <a:ea typeface="Calibri" pitchFamily="34" charset="-122"/>
                <a:cs typeface="Calibri" pitchFamily="34" charset="-120"/>
              </a:rPr>
              <a:t>Two CNECs, deliberately unbalanced — CNEC A (high baseline) observed mostly BEFORE an outage, CNEC B (low baseline) observed mostly DURING one:</a:t>
            </a:r>
            <a:endParaRPr lang="en-US" sz="1200" dirty="0"/>
          </a:p>
        </p:txBody>
      </p:sp>
      <p:sp>
        <p:nvSpPr>
          <p:cNvPr id="12" name="Text 10"/>
          <p:cNvSpPr txBox="1"/>
          <p:nvPr/>
        </p:nvSpPr>
        <p:spPr>
          <a:xfrm>
            <a:off x="1097280" y="480060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Pooled OLS β̂</a:t>
            </a:r>
            <a:endParaRPr lang="en-US" sz="1200" dirty="0"/>
          </a:p>
        </p:txBody>
      </p:sp>
      <p:sp>
        <p:nvSpPr>
          <p:cNvPr id="13" name="Text 11"/>
          <p:cNvSpPr txBox="1"/>
          <p:nvPr/>
        </p:nvSpPr>
        <p:spPr>
          <a:xfrm>
            <a:off x="3132734" y="4800600"/>
            <a:ext cx="2810866" cy="365760"/>
          </a:xfrm>
          <a:prstGeom prst="rect">
            <a:avLst/>
          </a:prstGeom>
          <a:noFill/>
          <a:ln/>
        </p:spPr>
        <p:txBody>
          <a:bodyPr wrap="square" lIns="0" tIns="0" rIns="0" bIns="0" rtlCol="0" anchor="ctr"/>
          <a:lstStyle/>
          <a:p>
            <a:pPr algn="r" indent="0" marL="0">
              <a:buNone/>
            </a:pPr>
            <a:r>
              <a:rPr lang="en-US" sz="1300" b="1" dirty="0">
                <a:solidFill>
                  <a:srgbClr val="B91C1C"/>
                </a:solidFill>
                <a:latin typeface="Consolas" pitchFamily="34" charset="0"/>
                <a:ea typeface="Consolas" pitchFamily="34" charset="-122"/>
                <a:cs typeface="Consolas" pitchFamily="34" charset="-120"/>
              </a:rPr>
              <a:t>−35.8  (confounded)</a:t>
            </a:r>
            <a:endParaRPr lang="en-US" sz="1300" dirty="0"/>
          </a:p>
        </p:txBody>
      </p:sp>
      <p:sp>
        <p:nvSpPr>
          <p:cNvPr id="14" name="Text 12"/>
          <p:cNvSpPr txBox="1"/>
          <p:nvPr/>
        </p:nvSpPr>
        <p:spPr>
          <a:xfrm>
            <a:off x="6035040" y="480060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Ā / B̄ (raw means)</a:t>
            </a:r>
            <a:endParaRPr lang="en-US" sz="1200" dirty="0"/>
          </a:p>
        </p:txBody>
      </p:sp>
      <p:sp>
        <p:nvSpPr>
          <p:cNvPr id="15" name="Text 13"/>
          <p:cNvSpPr txBox="1"/>
          <p:nvPr/>
        </p:nvSpPr>
        <p:spPr>
          <a:xfrm>
            <a:off x="8070494" y="4800600"/>
            <a:ext cx="2810866" cy="365760"/>
          </a:xfrm>
          <a:prstGeom prst="rect">
            <a:avLst/>
          </a:prstGeom>
          <a:noFill/>
          <a:ln/>
        </p:spPr>
        <p:txBody>
          <a:bodyPr wrap="square" lIns="0" tIns="0" rIns="0" bIns="0" rtlCol="0" anchor="ctr"/>
          <a:lstStyle/>
          <a:p>
            <a:pPr algn="r" indent="0" marL="0">
              <a:buNone/>
            </a:pPr>
            <a:r>
              <a:rPr lang="en-US" sz="1300" b="1" dirty="0">
                <a:solidFill>
                  <a:srgbClr val="6B6B73"/>
                </a:solidFill>
                <a:latin typeface="Consolas" pitchFamily="34" charset="0"/>
                <a:ea typeface="Consolas" pitchFamily="34" charset="-122"/>
                <a:cs typeface="Consolas" pitchFamily="34" charset="-120"/>
              </a:rPr>
              <a:t>197.8 / 146.0</a:t>
            </a:r>
            <a:endParaRPr lang="en-US" sz="1300" dirty="0"/>
          </a:p>
        </p:txBody>
      </p:sp>
      <p:sp>
        <p:nvSpPr>
          <p:cNvPr id="16" name="Text 14"/>
          <p:cNvSpPr txBox="1"/>
          <p:nvPr/>
        </p:nvSpPr>
        <p:spPr>
          <a:xfrm>
            <a:off x="1097280" y="521208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Fixed-effects β̂</a:t>
            </a:r>
            <a:endParaRPr lang="en-US" sz="1200" dirty="0"/>
          </a:p>
        </p:txBody>
      </p:sp>
      <p:sp>
        <p:nvSpPr>
          <p:cNvPr id="17" name="Text 15"/>
          <p:cNvSpPr txBox="1"/>
          <p:nvPr/>
        </p:nvSpPr>
        <p:spPr>
          <a:xfrm>
            <a:off x="3132734" y="5212080"/>
            <a:ext cx="2810866" cy="365760"/>
          </a:xfrm>
          <a:prstGeom prst="rect">
            <a:avLst/>
          </a:prstGeom>
          <a:noFill/>
          <a:ln/>
        </p:spPr>
        <p:txBody>
          <a:bodyPr wrap="square" lIns="0" tIns="0" rIns="0" bIns="0" rtlCol="0" anchor="ctr"/>
          <a:lstStyle/>
          <a:p>
            <a:pPr algn="r" indent="0" marL="0">
              <a:buNone/>
            </a:pPr>
            <a:r>
              <a:rPr lang="en-US" sz="1300" b="1" dirty="0">
                <a:solidFill>
                  <a:srgbClr val="15803D"/>
                </a:solidFill>
                <a:latin typeface="Consolas" pitchFamily="34" charset="0"/>
                <a:ea typeface="Consolas" pitchFamily="34" charset="-122"/>
                <a:cs typeface="Consolas" pitchFamily="34" charset="-120"/>
              </a:rPr>
              <a:t>−7.375</a:t>
            </a:r>
            <a:endParaRPr lang="en-US" sz="1300" dirty="0"/>
          </a:p>
        </p:txBody>
      </p:sp>
      <p:sp>
        <p:nvSpPr>
          <p:cNvPr id="18" name="Text 16"/>
          <p:cNvSpPr txBox="1"/>
          <p:nvPr/>
        </p:nvSpPr>
        <p:spPr>
          <a:xfrm>
            <a:off x="6035040" y="521208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SE, t, p (df=7)</a:t>
            </a:r>
            <a:endParaRPr lang="en-US" sz="1200" dirty="0"/>
          </a:p>
        </p:txBody>
      </p:sp>
      <p:sp>
        <p:nvSpPr>
          <p:cNvPr id="19" name="Text 17"/>
          <p:cNvSpPr txBox="1"/>
          <p:nvPr/>
        </p:nvSpPr>
        <p:spPr>
          <a:xfrm>
            <a:off x="8070494" y="5212080"/>
            <a:ext cx="2810866" cy="365760"/>
          </a:xfrm>
          <a:prstGeom prst="rect">
            <a:avLst/>
          </a:prstGeom>
          <a:noFill/>
          <a:ln/>
        </p:spPr>
        <p:txBody>
          <a:bodyPr wrap="square" lIns="0" tIns="0" rIns="0" bIns="0" rtlCol="0" anchor="ctr"/>
          <a:lstStyle/>
          <a:p>
            <a:pPr algn="r" indent="0" marL="0">
              <a:buNone/>
            </a:pPr>
            <a:r>
              <a:rPr lang="en-US" sz="1300" b="1" dirty="0">
                <a:solidFill>
                  <a:srgbClr val="18181B"/>
                </a:solidFill>
                <a:latin typeface="Consolas" pitchFamily="34" charset="0"/>
                <a:ea typeface="Consolas" pitchFamily="34" charset="-122"/>
                <a:cs typeface="Consolas" pitchFamily="34" charset="-120"/>
              </a:rPr>
              <a:t>1.575, −4.68, 0.0023</a:t>
            </a:r>
            <a:endParaRPr lang="en-US" sz="1300" dirty="0"/>
          </a:p>
        </p:txBody>
      </p:sp>
      <p:sp>
        <p:nvSpPr>
          <p:cNvPr id="20" name="Text 18"/>
          <p:cNvSpPr txBox="1"/>
          <p:nvPr/>
        </p:nvSpPr>
        <p:spPr>
          <a:xfrm>
            <a:off x="1097280" y="5623560"/>
            <a:ext cx="9966960" cy="365760"/>
          </a:xfrm>
          <a:prstGeom prst="rect">
            <a:avLst/>
          </a:prstGeom>
          <a:noFill/>
          <a:ln/>
        </p:spPr>
        <p:txBody>
          <a:bodyPr wrap="square" lIns="0" tIns="0" rIns="0" bIns="0" rtlCol="0" anchor="ctr"/>
          <a:lstStyle/>
          <a:p>
            <a:pPr indent="0" marL="0">
              <a:buNone/>
            </a:pPr>
            <a:r>
              <a:rPr lang="en-US" sz="1100" i="1" dirty="0">
                <a:solidFill>
                  <a:srgbClr val="6B6B73"/>
                </a:solidFill>
                <a:latin typeface="Calibri" pitchFamily="34" charset="0"/>
                <a:ea typeface="Calibri" pitchFamily="34" charset="-122"/>
                <a:cs typeface="Calibri" pitchFamily="34" charset="-120"/>
              </a:rPr>
              <a:t>Same data, opposite conclusion about the effect's size — pooling let CNEC-level differences leak into β̂.</a:t>
            </a:r>
            <a:endParaRPr lang="en-US" sz="1100" dirty="0"/>
          </a:p>
        </p:txBody>
      </p:sp>
      <p:sp>
        <p:nvSpPr>
          <p:cNvPr id="21" name="Text 19"/>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22" name="Text 20"/>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163C2C"/>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FUNDAMENTALS</a:t>
            </a:r>
            <a:endParaRPr lang="en-US" sz="1050" dirty="0"/>
          </a:p>
        </p:txBody>
      </p:sp>
      <p:sp>
        <p:nvSpPr>
          <p:cNvPr id="4" name="Text 2"/>
          <p:cNvSpPr txBox="1"/>
          <p:nvPr/>
        </p:nvSpPr>
        <p:spPr>
          <a:xfrm>
            <a:off x="640080" y="914400"/>
            <a:ext cx="10881360" cy="548640"/>
          </a:xfrm>
          <a:prstGeom prst="rect">
            <a:avLst/>
          </a:prstGeom>
          <a:noFill/>
          <a:ln/>
        </p:spPr>
        <p:txBody>
          <a:bodyPr wrap="square" lIns="0" tIns="0" rIns="0" bIns="0" rtlCol="0" anchor="ctr"/>
          <a:lstStyle/>
          <a:p>
            <a:pPr indent="0" marL="0">
              <a:buNone/>
            </a:pPr>
            <a:r>
              <a:rPr lang="en-US" sz="2700" b="1" dirty="0">
                <a:solidFill>
                  <a:srgbClr val="18181B"/>
                </a:solidFill>
                <a:latin typeface="Cambria" pitchFamily="34" charset="0"/>
                <a:ea typeface="Cambria" pitchFamily="34" charset="-122"/>
                <a:cs typeface="Cambria" pitchFamily="34" charset="-120"/>
              </a:rPr>
              <a:t>Clustered Standard Errors</a:t>
            </a:r>
            <a:endParaRPr lang="en-US" sz="2700" dirty="0"/>
          </a:p>
        </p:txBody>
      </p:sp>
      <p:sp>
        <p:nvSpPr>
          <p:cNvPr id="5" name="Text 3"/>
          <p:cNvSpPr txBox="1"/>
          <p:nvPr/>
        </p:nvSpPr>
        <p:spPr>
          <a:xfrm>
            <a:off x="640080" y="1463040"/>
            <a:ext cx="10881360" cy="548640"/>
          </a:xfrm>
          <a:prstGeom prst="rect">
            <a:avLst/>
          </a:prstGeom>
          <a:noFill/>
          <a:ln/>
        </p:spPr>
        <p:txBody>
          <a:bodyPr wrap="square" lIns="0" tIns="0" rIns="0" bIns="0" rtlCol="0" anchor="ctr"/>
          <a:lstStyle/>
          <a:p>
            <a:pPr indent="0" marL="0">
              <a:lnSpc>
                <a:spcPct val="120000"/>
              </a:lnSpc>
              <a:buNone/>
            </a:pPr>
            <a:r>
              <a:rPr lang="en-US" sz="1300" dirty="0">
                <a:solidFill>
                  <a:srgbClr val="6B6B73"/>
                </a:solidFill>
                <a:latin typeface="Calibri" pitchFamily="34" charset="0"/>
                <a:ea typeface="Calibri" pitchFamily="34" charset="-122"/>
                <a:cs typeface="Calibri" pitchFamily="34" charset="-120"/>
              </a:rPr>
              <a:t>Observations from the same time period aren't independent — a shock at 14:00 plausibly hits several CNECs at once. Ignoring that overstates how confident a t-stat should be.</a:t>
            </a:r>
            <a:endParaRPr lang="en-US" sz="1300" dirty="0"/>
          </a:p>
        </p:txBody>
      </p:sp>
      <p:sp>
        <p:nvSpPr>
          <p:cNvPr id="6" name="Shape 4"/>
          <p:cNvSpPr/>
          <p:nvPr/>
        </p:nvSpPr>
        <p:spPr>
          <a:xfrm>
            <a:off x="822960" y="2240280"/>
            <a:ext cx="5120640" cy="3566160"/>
          </a:xfrm>
          <a:prstGeom prst="roundRect">
            <a:avLst>
              <a:gd name="adj" fmla="val 2564"/>
            </a:avLst>
          </a:prstGeom>
          <a:solidFill>
            <a:srgbClr val="EEF0F4"/>
          </a:solidFill>
          <a:ln/>
        </p:spPr>
      </p:sp>
      <p:sp>
        <p:nvSpPr>
          <p:cNvPr id="7" name="Shape 5"/>
          <p:cNvSpPr/>
          <p:nvPr/>
        </p:nvSpPr>
        <p:spPr>
          <a:xfrm>
            <a:off x="1051560" y="2450592"/>
            <a:ext cx="1691640" cy="292608"/>
          </a:xfrm>
          <a:prstGeom prst="roundRect">
            <a:avLst>
              <a:gd name="adj" fmla="val 50000"/>
            </a:avLst>
          </a:prstGeom>
          <a:solidFill>
            <a:srgbClr val="6D5B97"/>
          </a:solidFill>
          <a:ln/>
        </p:spPr>
      </p:sp>
      <p:sp>
        <p:nvSpPr>
          <p:cNvPr id="8" name="Text 6"/>
          <p:cNvSpPr txBox="1"/>
          <p:nvPr/>
        </p:nvSpPr>
        <p:spPr>
          <a:xfrm>
            <a:off x="1051560" y="2450592"/>
            <a:ext cx="169164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WORKED EXAMPLE</a:t>
            </a:r>
            <a:endParaRPr lang="en-US" sz="950" dirty="0"/>
          </a:p>
        </p:txBody>
      </p:sp>
      <p:sp>
        <p:nvSpPr>
          <p:cNvPr id="9" name="Text 7"/>
          <p:cNvSpPr txBox="1"/>
          <p:nvPr/>
        </p:nvSpPr>
        <p:spPr>
          <a:xfrm>
            <a:off x="1051560" y="2926080"/>
            <a:ext cx="1958645"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SE (naive)</a:t>
            </a:r>
            <a:endParaRPr lang="en-US" sz="1200" dirty="0"/>
          </a:p>
        </p:txBody>
      </p:sp>
      <p:sp>
        <p:nvSpPr>
          <p:cNvPr id="10" name="Text 8"/>
          <p:cNvSpPr txBox="1"/>
          <p:nvPr/>
        </p:nvSpPr>
        <p:spPr>
          <a:xfrm>
            <a:off x="3010205" y="2926080"/>
            <a:ext cx="2704795" cy="365760"/>
          </a:xfrm>
          <a:prstGeom prst="rect">
            <a:avLst/>
          </a:prstGeom>
          <a:noFill/>
          <a:ln/>
        </p:spPr>
        <p:txBody>
          <a:bodyPr wrap="square" lIns="0" tIns="0" rIns="0" bIns="0" rtlCol="0" anchor="ctr"/>
          <a:lstStyle/>
          <a:p>
            <a:pPr algn="r" indent="0" marL="0">
              <a:buNone/>
            </a:pPr>
            <a:r>
              <a:rPr lang="en-US" sz="1300" b="1" dirty="0">
                <a:solidFill>
                  <a:srgbClr val="6B6B73"/>
                </a:solidFill>
                <a:latin typeface="Consolas" pitchFamily="34" charset="0"/>
                <a:ea typeface="Consolas" pitchFamily="34" charset="-122"/>
                <a:cs typeface="Consolas" pitchFamily="34" charset="-120"/>
              </a:rPr>
              <a:t>0.151</a:t>
            </a:r>
            <a:endParaRPr lang="en-US" sz="1300" dirty="0"/>
          </a:p>
        </p:txBody>
      </p:sp>
      <p:sp>
        <p:nvSpPr>
          <p:cNvPr id="11" name="Text 9"/>
          <p:cNvSpPr txBox="1"/>
          <p:nvPr/>
        </p:nvSpPr>
        <p:spPr>
          <a:xfrm>
            <a:off x="1051560" y="3337560"/>
            <a:ext cx="1958645"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SE (clustered)</a:t>
            </a:r>
            <a:endParaRPr lang="en-US" sz="1200" dirty="0"/>
          </a:p>
        </p:txBody>
      </p:sp>
      <p:sp>
        <p:nvSpPr>
          <p:cNvPr id="12" name="Text 10"/>
          <p:cNvSpPr txBox="1"/>
          <p:nvPr/>
        </p:nvSpPr>
        <p:spPr>
          <a:xfrm>
            <a:off x="3010205" y="3337560"/>
            <a:ext cx="2704795" cy="365760"/>
          </a:xfrm>
          <a:prstGeom prst="rect">
            <a:avLst/>
          </a:prstGeom>
          <a:noFill/>
          <a:ln/>
        </p:spPr>
        <p:txBody>
          <a:bodyPr wrap="square" lIns="0" tIns="0" rIns="0" bIns="0" rtlCol="0" anchor="ctr"/>
          <a:lstStyle/>
          <a:p>
            <a:pPr algn="r" indent="0" marL="0">
              <a:buNone/>
            </a:pPr>
            <a:r>
              <a:rPr lang="en-US" sz="1300" b="1" dirty="0">
                <a:solidFill>
                  <a:srgbClr val="163C2C"/>
                </a:solidFill>
                <a:latin typeface="Consolas" pitchFamily="34" charset="0"/>
                <a:ea typeface="Consolas" pitchFamily="34" charset="-122"/>
                <a:cs typeface="Consolas" pitchFamily="34" charset="-120"/>
              </a:rPr>
              <a:t>0.262</a:t>
            </a:r>
            <a:endParaRPr lang="en-US" sz="1300" dirty="0"/>
          </a:p>
        </p:txBody>
      </p:sp>
      <p:sp>
        <p:nvSpPr>
          <p:cNvPr id="13" name="Text 11"/>
          <p:cNvSpPr txBox="1"/>
          <p:nvPr/>
        </p:nvSpPr>
        <p:spPr>
          <a:xfrm>
            <a:off x="1051560" y="3749040"/>
            <a:ext cx="1958645"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t (naive)</a:t>
            </a:r>
            <a:endParaRPr lang="en-US" sz="1200" dirty="0"/>
          </a:p>
        </p:txBody>
      </p:sp>
      <p:sp>
        <p:nvSpPr>
          <p:cNvPr id="14" name="Text 12"/>
          <p:cNvSpPr txBox="1"/>
          <p:nvPr/>
        </p:nvSpPr>
        <p:spPr>
          <a:xfrm>
            <a:off x="3010205" y="3749040"/>
            <a:ext cx="2704795" cy="365760"/>
          </a:xfrm>
          <a:prstGeom prst="rect">
            <a:avLst/>
          </a:prstGeom>
          <a:noFill/>
          <a:ln/>
        </p:spPr>
        <p:txBody>
          <a:bodyPr wrap="square" lIns="0" tIns="0" rIns="0" bIns="0" rtlCol="0" anchor="ctr"/>
          <a:lstStyle/>
          <a:p>
            <a:pPr algn="r" indent="0" marL="0">
              <a:buNone/>
            </a:pPr>
            <a:r>
              <a:rPr lang="en-US" sz="1300" b="1" dirty="0">
                <a:solidFill>
                  <a:srgbClr val="6B6B73"/>
                </a:solidFill>
                <a:latin typeface="Consolas" pitchFamily="34" charset="0"/>
                <a:ea typeface="Consolas" pitchFamily="34" charset="-122"/>
                <a:cs typeface="Consolas" pitchFamily="34" charset="-120"/>
              </a:rPr>
              <a:t>−51.6</a:t>
            </a:r>
            <a:endParaRPr lang="en-US" sz="1300" dirty="0"/>
          </a:p>
        </p:txBody>
      </p:sp>
      <p:sp>
        <p:nvSpPr>
          <p:cNvPr id="15" name="Text 13"/>
          <p:cNvSpPr txBox="1"/>
          <p:nvPr/>
        </p:nvSpPr>
        <p:spPr>
          <a:xfrm>
            <a:off x="1051560" y="4160520"/>
            <a:ext cx="1958645"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t (clustered)</a:t>
            </a:r>
            <a:endParaRPr lang="en-US" sz="1200" dirty="0"/>
          </a:p>
        </p:txBody>
      </p:sp>
      <p:sp>
        <p:nvSpPr>
          <p:cNvPr id="16" name="Text 14"/>
          <p:cNvSpPr txBox="1"/>
          <p:nvPr/>
        </p:nvSpPr>
        <p:spPr>
          <a:xfrm>
            <a:off x="3010205" y="4160520"/>
            <a:ext cx="2704795" cy="365760"/>
          </a:xfrm>
          <a:prstGeom prst="rect">
            <a:avLst/>
          </a:prstGeom>
          <a:noFill/>
          <a:ln/>
        </p:spPr>
        <p:txBody>
          <a:bodyPr wrap="square" lIns="0" tIns="0" rIns="0" bIns="0" rtlCol="0" anchor="ctr"/>
          <a:lstStyle/>
          <a:p>
            <a:pPr algn="r" indent="0" marL="0">
              <a:buNone/>
            </a:pPr>
            <a:r>
              <a:rPr lang="en-US" sz="1300" b="1" dirty="0">
                <a:solidFill>
                  <a:srgbClr val="163C2C"/>
                </a:solidFill>
                <a:latin typeface="Consolas" pitchFamily="34" charset="0"/>
                <a:ea typeface="Consolas" pitchFamily="34" charset="-122"/>
                <a:cs typeface="Consolas" pitchFamily="34" charset="-120"/>
              </a:rPr>
              <a:t>−29.8</a:t>
            </a:r>
            <a:endParaRPr lang="en-US" sz="1300" dirty="0"/>
          </a:p>
        </p:txBody>
      </p:sp>
      <p:sp>
        <p:nvSpPr>
          <p:cNvPr id="17" name="Text 15"/>
          <p:cNvSpPr txBox="1"/>
          <p:nvPr/>
        </p:nvSpPr>
        <p:spPr>
          <a:xfrm>
            <a:off x="1051560" y="4663440"/>
            <a:ext cx="4663440" cy="822960"/>
          </a:xfrm>
          <a:prstGeom prst="rect">
            <a:avLst/>
          </a:prstGeom>
          <a:noFill/>
          <a:ln/>
        </p:spPr>
        <p:txBody>
          <a:bodyPr wrap="square" lIns="0" tIns="0" rIns="0" bIns="0" rtlCol="0" anchor="ctr"/>
          <a:lstStyle/>
          <a:p>
            <a:pPr indent="0" marL="0">
              <a:lnSpc>
                <a:spcPct val="125000"/>
              </a:lnSpc>
              <a:buNone/>
            </a:pPr>
            <a:r>
              <a:rPr lang="en-US" sz="1200" i="1" dirty="0">
                <a:solidFill>
                  <a:srgbClr val="18181B"/>
                </a:solidFill>
                <a:latin typeface="Calibri" pitchFamily="34" charset="0"/>
                <a:ea typeface="Calibri" pitchFamily="34" charset="-122"/>
                <a:cs typeface="Calibri" pitchFamily="34" charset="-120"/>
              </a:rPr>
              <a:t>Clustering made the SE 73% larger — the naive t-stat was overconfident.</a:t>
            </a:r>
            <a:endParaRPr lang="en-US" sz="1200" dirty="0"/>
          </a:p>
        </p:txBody>
      </p:sp>
      <p:sp>
        <p:nvSpPr>
          <p:cNvPr id="18" name="Shape 16"/>
          <p:cNvSpPr/>
          <p:nvPr/>
        </p:nvSpPr>
        <p:spPr>
          <a:xfrm>
            <a:off x="6217920" y="2240280"/>
            <a:ext cx="5349240" cy="3566160"/>
          </a:xfrm>
          <a:prstGeom prst="roundRect">
            <a:avLst>
              <a:gd name="adj" fmla="val 2564"/>
            </a:avLst>
          </a:prstGeom>
          <a:solidFill>
            <a:srgbClr val="163C2C"/>
          </a:solidFill>
          <a:ln/>
          <a:effectLst>
            <a:outerShdw sx="100000" sy="100000" kx="0" ky="0" algn="bl" rotWithShape="0" blurRad="101600" dist="38100" dir="5400000">
              <a:srgbClr val="163C2C">
                <a:alpha val="18000"/>
              </a:srgbClr>
            </a:outerShdw>
          </a:effectLst>
        </p:spPr>
      </p:sp>
      <p:sp>
        <p:nvSpPr>
          <p:cNvPr id="19" name="Text 17"/>
          <p:cNvSpPr txBox="1"/>
          <p:nvPr/>
        </p:nvSpPr>
        <p:spPr>
          <a:xfrm>
            <a:off x="6446520" y="2423160"/>
            <a:ext cx="4892040" cy="365760"/>
          </a:xfrm>
          <a:prstGeom prst="rect">
            <a:avLst/>
          </a:prstGeom>
          <a:noFill/>
          <a:ln/>
        </p:spPr>
        <p:txBody>
          <a:bodyPr wrap="square" lIns="0" tIns="0" rIns="0" bIns="0" rtlCol="0" anchor="ctr"/>
          <a:lstStyle/>
          <a:p>
            <a:pPr indent="0" marL="0">
              <a:buNone/>
            </a:pPr>
            <a:r>
              <a:rPr lang="en-US" sz="1400" b="1" dirty="0">
                <a:solidFill>
                  <a:srgbClr val="9CC9AE"/>
                </a:solidFill>
                <a:latin typeface="Calibri" pitchFamily="34" charset="0"/>
                <a:ea typeface="Calibri" pitchFamily="34" charset="-122"/>
                <a:cs typeface="Calibri" pitchFamily="34" charset="-120"/>
              </a:rPr>
              <a:t>What this app does about it</a:t>
            </a:r>
            <a:endParaRPr lang="en-US" sz="1400" dirty="0"/>
          </a:p>
        </p:txBody>
      </p:sp>
      <p:sp>
        <p:nvSpPr>
          <p:cNvPr id="20" name="Text 18"/>
          <p:cNvSpPr txBox="1"/>
          <p:nvPr/>
        </p:nvSpPr>
        <p:spPr>
          <a:xfrm>
            <a:off x="6446520" y="2880360"/>
            <a:ext cx="4892040" cy="640080"/>
          </a:xfrm>
          <a:prstGeom prst="rect">
            <a:avLst/>
          </a:prstGeom>
          <a:noFill/>
          <a:ln/>
        </p:spPr>
        <p:txBody>
          <a:bodyPr wrap="square" lIns="0" tIns="0" rIns="0" bIns="0" rtlCol="0" anchor="ctr"/>
          <a:lstStyle/>
          <a:p>
            <a:pPr marL="342900" indent="-342900">
              <a:lnSpc>
                <a:spcPct val="120000"/>
              </a:lnSpc>
              <a:buSzPct val="100000"/>
              <a:buChar char="•"/>
            </a:pPr>
            <a:r>
              <a:rPr lang="en-US" sz="1150" dirty="0">
                <a:solidFill>
                  <a:srgbClr val="D7E6DC"/>
                </a:solidFill>
                <a:latin typeface="Calibri" pitchFamily="34" charset="0"/>
                <a:ea typeface="Calibri" pitchFamily="34" charset="-122"/>
                <a:cs typeface="Calibri" pitchFamily="34" charset="-120"/>
              </a:rPr>
              <a:t>Requests time-clustered SEs by default for every H1–H6 fit</a:t>
            </a:r>
            <a:endParaRPr lang="en-US" sz="1150" dirty="0"/>
          </a:p>
        </p:txBody>
      </p:sp>
      <p:sp>
        <p:nvSpPr>
          <p:cNvPr id="21" name="Text 19"/>
          <p:cNvSpPr txBox="1"/>
          <p:nvPr/>
        </p:nvSpPr>
        <p:spPr>
          <a:xfrm>
            <a:off x="6446520" y="3566160"/>
            <a:ext cx="4892040" cy="640080"/>
          </a:xfrm>
          <a:prstGeom prst="rect">
            <a:avLst/>
          </a:prstGeom>
          <a:noFill/>
          <a:ln/>
        </p:spPr>
        <p:txBody>
          <a:bodyPr wrap="square" lIns="0" tIns="0" rIns="0" bIns="0" rtlCol="0" anchor="ctr"/>
          <a:lstStyle/>
          <a:p>
            <a:pPr marL="342900" indent="-342900">
              <a:lnSpc>
                <a:spcPct val="120000"/>
              </a:lnSpc>
              <a:buSzPct val="100000"/>
              <a:buChar char="•"/>
            </a:pPr>
            <a:r>
              <a:rPr lang="en-US" sz="1150" dirty="0">
                <a:solidFill>
                  <a:srgbClr val="D7E6DC"/>
                </a:solidFill>
                <a:latin typeface="Calibri" pitchFamily="34" charset="0"/>
                <a:ea typeface="Calibri" pitchFamily="34" charset="-122"/>
                <a:cs typeface="Calibri" pitchFamily="34" charset="-120"/>
              </a:rPr>
              <a:t>Falls back through time → entity → robust → unadjusted if a mode can't be fit</a:t>
            </a:r>
            <a:endParaRPr lang="en-US" sz="1150" dirty="0"/>
          </a:p>
        </p:txBody>
      </p:sp>
      <p:sp>
        <p:nvSpPr>
          <p:cNvPr id="22" name="Text 20"/>
          <p:cNvSpPr txBox="1"/>
          <p:nvPr/>
        </p:nvSpPr>
        <p:spPr>
          <a:xfrm>
            <a:off x="6446520" y="4251960"/>
            <a:ext cx="4892040" cy="640080"/>
          </a:xfrm>
          <a:prstGeom prst="rect">
            <a:avLst/>
          </a:prstGeom>
          <a:noFill/>
          <a:ln/>
        </p:spPr>
        <p:txBody>
          <a:bodyPr wrap="square" lIns="0" tIns="0" rIns="0" bIns="0" rtlCol="0" anchor="ctr"/>
          <a:lstStyle/>
          <a:p>
            <a:pPr marL="342900" indent="-342900">
              <a:lnSpc>
                <a:spcPct val="120000"/>
              </a:lnSpc>
              <a:buSzPct val="100000"/>
              <a:buChar char="•"/>
            </a:pPr>
            <a:r>
              <a:rPr lang="en-US" sz="1150" dirty="0">
                <a:solidFill>
                  <a:srgbClr val="D7E6DC"/>
                </a:solidFill>
                <a:latin typeface="Calibri" pitchFamily="34" charset="0"/>
                <a:ea typeface="Calibri" pitchFamily="34" charset="-122"/>
                <a:cs typeface="Calibri" pitchFamily="34" charset="-120"/>
              </a:rPr>
              <a:t>cov_type_used / se_fallback_occurred travel with every result — so a reader can see when it happened</a:t>
            </a:r>
            <a:endParaRPr lang="en-US" sz="1150" dirty="0"/>
          </a:p>
        </p:txBody>
      </p:sp>
      <p:sp>
        <p:nvSpPr>
          <p:cNvPr id="23" name="Text 21"/>
          <p:cNvSpPr txBox="1"/>
          <p:nvPr/>
        </p:nvSpPr>
        <p:spPr>
          <a:xfrm>
            <a:off x="6446520" y="4937760"/>
            <a:ext cx="4892040" cy="640080"/>
          </a:xfrm>
          <a:prstGeom prst="rect">
            <a:avLst/>
          </a:prstGeom>
          <a:noFill/>
          <a:ln/>
        </p:spPr>
        <p:txBody>
          <a:bodyPr wrap="square" lIns="0" tIns="0" rIns="0" bIns="0" rtlCol="0" anchor="ctr"/>
          <a:lstStyle/>
          <a:p>
            <a:pPr marL="342900" indent="-342900">
              <a:lnSpc>
                <a:spcPct val="120000"/>
              </a:lnSpc>
              <a:buSzPct val="100000"/>
              <a:buChar char="•"/>
            </a:pPr>
            <a:r>
              <a:rPr lang="en-US" sz="1150" dirty="0">
                <a:solidFill>
                  <a:srgbClr val="D7E6DC"/>
                </a:solidFill>
                <a:latin typeface="Calibri" pitchFamily="34" charset="0"/>
                <a:ea typeface="Calibri" pitchFamily="34" charset="-122"/>
                <a:cs typeface="Calibri" pitchFamily="34" charset="-120"/>
              </a:rPr>
              <a:t>summarize_hypotheses() appends “n=…, se=…” to every verdict</a:t>
            </a:r>
            <a:endParaRPr lang="en-US" sz="1150" dirty="0"/>
          </a:p>
        </p:txBody>
      </p:sp>
      <p:sp>
        <p:nvSpPr>
          <p:cNvPr id="24" name="Text 22"/>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25" name="Text 23"/>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0F4"/>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163C2C"/>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FUNDAMENTALS</a:t>
            </a:r>
            <a:endParaRPr lang="en-US" sz="1050" dirty="0"/>
          </a:p>
        </p:txBody>
      </p:sp>
      <p:sp>
        <p:nvSpPr>
          <p:cNvPr id="4" name="Text 2"/>
          <p:cNvSpPr txBox="1"/>
          <p:nvPr/>
        </p:nvSpPr>
        <p:spPr>
          <a:xfrm>
            <a:off x="640080" y="914400"/>
            <a:ext cx="10881360" cy="548640"/>
          </a:xfrm>
          <a:prstGeom prst="rect">
            <a:avLst/>
          </a:prstGeom>
          <a:noFill/>
          <a:ln/>
        </p:spPr>
        <p:txBody>
          <a:bodyPr wrap="square" lIns="0" tIns="0" rIns="0" bIns="0" rtlCol="0" anchor="ctr"/>
          <a:lstStyle/>
          <a:p>
            <a:pPr indent="0" marL="0">
              <a:buNone/>
            </a:pPr>
            <a:r>
              <a:rPr lang="en-US" sz="2500" b="1" dirty="0">
                <a:solidFill>
                  <a:srgbClr val="18181B"/>
                </a:solidFill>
                <a:latin typeface="Cambria" pitchFamily="34" charset="0"/>
                <a:ea typeface="Cambria" pitchFamily="34" charset="-122"/>
                <a:cs typeface="Cambria" pitchFamily="34" charset="-120"/>
              </a:rPr>
              <a:t>p-Values, Confidence Intervals, and the Two Errors</a:t>
            </a:r>
            <a:endParaRPr lang="en-US" sz="2500" dirty="0"/>
          </a:p>
        </p:txBody>
      </p:sp>
      <p:sp>
        <p:nvSpPr>
          <p:cNvPr id="5" name="Text 3"/>
          <p:cNvSpPr txBox="1"/>
          <p:nvPr/>
        </p:nvSpPr>
        <p:spPr>
          <a:xfrm>
            <a:off x="822960" y="1600200"/>
            <a:ext cx="10515600" cy="457200"/>
          </a:xfrm>
          <a:prstGeom prst="rect">
            <a:avLst/>
          </a:prstGeom>
          <a:solidFill>
            <a:srgbClr val="163C2C"/>
          </a:solidFill>
          <a:ln/>
        </p:spPr>
        <p:txBody>
          <a:bodyPr wrap="square" lIns="0" tIns="0" rIns="0" bIns="0" rtlCol="0" anchor="ctr"/>
          <a:lstStyle/>
          <a:p>
            <a:pPr algn="ctr" indent="0" marL="0">
              <a:buNone/>
            </a:pPr>
            <a:r>
              <a:rPr lang="en-US" sz="1700" dirty="0">
                <a:solidFill>
                  <a:srgbClr val="FFFFFF"/>
                </a:solidFill>
                <a:latin typeface="Cambria" pitchFamily="34" charset="0"/>
                <a:ea typeface="Cambria" pitchFamily="34" charset="-122"/>
                <a:cs typeface="Cambria" pitchFamily="34" charset="-120"/>
              </a:rPr>
              <a:t>β̂ ± t_{α/2, df} · SE(β̂)</a:t>
            </a:r>
            <a:endParaRPr lang="en-US" sz="1700" dirty="0"/>
          </a:p>
        </p:txBody>
      </p:sp>
      <p:sp>
        <p:nvSpPr>
          <p:cNvPr id="6" name="Shape 4"/>
          <p:cNvSpPr/>
          <p:nvPr/>
        </p:nvSpPr>
        <p:spPr>
          <a:xfrm>
            <a:off x="640080" y="2286000"/>
            <a:ext cx="5349240" cy="1874520"/>
          </a:xfrm>
          <a:prstGeom prst="roundRect">
            <a:avLst>
              <a:gd name="adj" fmla="val 4878"/>
            </a:avLst>
          </a:prstGeom>
          <a:solidFill>
            <a:srgbClr val="FFFFFF"/>
          </a:solidFill>
          <a:ln/>
          <a:effectLst>
            <a:outerShdw sx="100000" sy="100000" kx="0" ky="0" algn="bl" rotWithShape="0" blurRad="101600" dist="38100" dir="5400000">
              <a:srgbClr val="163C2C">
                <a:alpha val="18000"/>
              </a:srgbClr>
            </a:outerShdw>
          </a:effectLst>
        </p:spPr>
      </p:sp>
      <p:sp>
        <p:nvSpPr>
          <p:cNvPr id="7" name="Text 5"/>
          <p:cNvSpPr txBox="1"/>
          <p:nvPr/>
        </p:nvSpPr>
        <p:spPr>
          <a:xfrm>
            <a:off x="868680" y="2450592"/>
            <a:ext cx="4892040" cy="365760"/>
          </a:xfrm>
          <a:prstGeom prst="rect">
            <a:avLst/>
          </a:prstGeom>
          <a:noFill/>
          <a:ln/>
        </p:spPr>
        <p:txBody>
          <a:bodyPr wrap="square" lIns="0" tIns="0" rIns="0" bIns="0" rtlCol="0" anchor="ctr"/>
          <a:lstStyle/>
          <a:p>
            <a:pPr indent="0" marL="0">
              <a:buNone/>
            </a:pPr>
            <a:r>
              <a:rPr lang="en-US" sz="1450" b="1" dirty="0">
                <a:solidFill>
                  <a:srgbClr val="163C2C"/>
                </a:solidFill>
                <a:latin typeface="Calibri" pitchFamily="34" charset="0"/>
                <a:ea typeface="Calibri" pitchFamily="34" charset="-122"/>
                <a:cs typeface="Calibri" pitchFamily="34" charset="-120"/>
              </a:rPr>
              <a:t>p-value</a:t>
            </a:r>
            <a:endParaRPr lang="en-US" sz="1450" dirty="0"/>
          </a:p>
        </p:txBody>
      </p:sp>
      <p:sp>
        <p:nvSpPr>
          <p:cNvPr id="8" name="Text 6"/>
          <p:cNvSpPr txBox="1"/>
          <p:nvPr/>
        </p:nvSpPr>
        <p:spPr>
          <a:xfrm>
            <a:off x="868680" y="2834640"/>
            <a:ext cx="4892040" cy="1188720"/>
          </a:xfrm>
          <a:prstGeom prst="rect">
            <a:avLst/>
          </a:prstGeom>
          <a:noFill/>
          <a:ln/>
        </p:spPr>
        <p:txBody>
          <a:bodyPr wrap="square" lIns="0" tIns="0" rIns="0" bIns="0" rtlCol="0" anchor="ctr"/>
          <a:lstStyle/>
          <a:p>
            <a:pPr indent="0" marL="0">
              <a:lnSpc>
                <a:spcPct val="125000"/>
              </a:lnSpc>
              <a:buNone/>
            </a:pPr>
            <a:r>
              <a:rPr lang="en-US" sz="1150" dirty="0">
                <a:solidFill>
                  <a:srgbClr val="18181B"/>
                </a:solidFill>
                <a:latin typeface="Calibri" pitchFamily="34" charset="0"/>
                <a:ea typeface="Calibri" pitchFamily="34" charset="-122"/>
                <a:cs typeface="Calibri" pitchFamily="34" charset="-120"/>
              </a:rPr>
              <a:t>The probability of seeing an effect this large, or larger, if the true effect were zero. Small p ⇒ the data is hard to explain by chance alone.</a:t>
            </a:r>
            <a:endParaRPr lang="en-US" sz="1150" dirty="0"/>
          </a:p>
        </p:txBody>
      </p:sp>
      <p:sp>
        <p:nvSpPr>
          <p:cNvPr id="9" name="Shape 7"/>
          <p:cNvSpPr/>
          <p:nvPr/>
        </p:nvSpPr>
        <p:spPr>
          <a:xfrm>
            <a:off x="6263640" y="2286000"/>
            <a:ext cx="5349240" cy="1874520"/>
          </a:xfrm>
          <a:prstGeom prst="roundRect">
            <a:avLst>
              <a:gd name="adj" fmla="val 4878"/>
            </a:avLst>
          </a:prstGeom>
          <a:solidFill>
            <a:srgbClr val="FFFFFF"/>
          </a:solidFill>
          <a:ln/>
          <a:effectLst>
            <a:outerShdw sx="100000" sy="100000" kx="0" ky="0" algn="bl" rotWithShape="0" blurRad="101600" dist="38100" dir="5400000">
              <a:srgbClr val="163C2C">
                <a:alpha val="18000"/>
              </a:srgbClr>
            </a:outerShdw>
          </a:effectLst>
        </p:spPr>
      </p:sp>
      <p:sp>
        <p:nvSpPr>
          <p:cNvPr id="10" name="Text 8"/>
          <p:cNvSpPr txBox="1"/>
          <p:nvPr/>
        </p:nvSpPr>
        <p:spPr>
          <a:xfrm>
            <a:off x="6492240" y="2450592"/>
            <a:ext cx="4892040" cy="365760"/>
          </a:xfrm>
          <a:prstGeom prst="rect">
            <a:avLst/>
          </a:prstGeom>
          <a:noFill/>
          <a:ln/>
        </p:spPr>
        <p:txBody>
          <a:bodyPr wrap="square" lIns="0" tIns="0" rIns="0" bIns="0" rtlCol="0" anchor="ctr"/>
          <a:lstStyle/>
          <a:p>
            <a:pPr indent="0" marL="0">
              <a:buNone/>
            </a:pPr>
            <a:r>
              <a:rPr lang="en-US" sz="1450" b="1" dirty="0">
                <a:solidFill>
                  <a:srgbClr val="163C2C"/>
                </a:solidFill>
                <a:latin typeface="Calibri" pitchFamily="34" charset="0"/>
                <a:ea typeface="Calibri" pitchFamily="34" charset="-122"/>
                <a:cs typeface="Calibri" pitchFamily="34" charset="-120"/>
              </a:rPr>
              <a:t>Confidence interval</a:t>
            </a:r>
            <a:endParaRPr lang="en-US" sz="1450" dirty="0"/>
          </a:p>
        </p:txBody>
      </p:sp>
      <p:sp>
        <p:nvSpPr>
          <p:cNvPr id="11" name="Text 9"/>
          <p:cNvSpPr txBox="1"/>
          <p:nvPr/>
        </p:nvSpPr>
        <p:spPr>
          <a:xfrm>
            <a:off x="6492240" y="2834640"/>
            <a:ext cx="4892040" cy="1188720"/>
          </a:xfrm>
          <a:prstGeom prst="rect">
            <a:avLst/>
          </a:prstGeom>
          <a:noFill/>
          <a:ln/>
        </p:spPr>
        <p:txBody>
          <a:bodyPr wrap="square" lIns="0" tIns="0" rIns="0" bIns="0" rtlCol="0" anchor="ctr"/>
          <a:lstStyle/>
          <a:p>
            <a:pPr indent="0" marL="0">
              <a:lnSpc>
                <a:spcPct val="125000"/>
              </a:lnSpc>
              <a:buNone/>
            </a:pPr>
            <a:r>
              <a:rPr lang="en-US" sz="1150" dirty="0">
                <a:solidFill>
                  <a:srgbClr val="18181B"/>
                </a:solidFill>
                <a:latin typeface="Calibri" pitchFamily="34" charset="0"/>
                <a:ea typeface="Calibri" pitchFamily="34" charset="-122"/>
                <a:cs typeface="Calibri" pitchFamily="34" charset="-120"/>
              </a:rPr>
              <a:t>The range of β values NOT ruled out at the chosen confidence level. A 95% CI excluding zero is the same statement as p &lt; 0.05, in interval form.</a:t>
            </a:r>
            <a:endParaRPr lang="en-US" sz="1150" dirty="0"/>
          </a:p>
        </p:txBody>
      </p:sp>
      <p:sp>
        <p:nvSpPr>
          <p:cNvPr id="12" name="Shape 10"/>
          <p:cNvSpPr/>
          <p:nvPr/>
        </p:nvSpPr>
        <p:spPr>
          <a:xfrm>
            <a:off x="640080" y="4343400"/>
            <a:ext cx="5349240" cy="1874520"/>
          </a:xfrm>
          <a:prstGeom prst="roundRect">
            <a:avLst>
              <a:gd name="adj" fmla="val 4878"/>
            </a:avLst>
          </a:prstGeom>
          <a:solidFill>
            <a:srgbClr val="FFFFFF"/>
          </a:solidFill>
          <a:ln/>
          <a:effectLst>
            <a:outerShdw sx="100000" sy="100000" kx="0" ky="0" algn="bl" rotWithShape="0" blurRad="101600" dist="38100" dir="5400000">
              <a:srgbClr val="163C2C">
                <a:alpha val="18000"/>
              </a:srgbClr>
            </a:outerShdw>
          </a:effectLst>
        </p:spPr>
      </p:sp>
      <p:sp>
        <p:nvSpPr>
          <p:cNvPr id="13" name="Text 11"/>
          <p:cNvSpPr txBox="1"/>
          <p:nvPr/>
        </p:nvSpPr>
        <p:spPr>
          <a:xfrm>
            <a:off x="868680" y="4507992"/>
            <a:ext cx="4892040" cy="365760"/>
          </a:xfrm>
          <a:prstGeom prst="rect">
            <a:avLst/>
          </a:prstGeom>
          <a:noFill/>
          <a:ln/>
        </p:spPr>
        <p:txBody>
          <a:bodyPr wrap="square" lIns="0" tIns="0" rIns="0" bIns="0" rtlCol="0" anchor="ctr"/>
          <a:lstStyle/>
          <a:p>
            <a:pPr indent="0" marL="0">
              <a:buNone/>
            </a:pPr>
            <a:r>
              <a:rPr lang="en-US" sz="1450" b="1" dirty="0">
                <a:solidFill>
                  <a:srgbClr val="163C2C"/>
                </a:solidFill>
                <a:latin typeface="Calibri" pitchFamily="34" charset="0"/>
                <a:ea typeface="Calibri" pitchFamily="34" charset="-122"/>
                <a:cs typeface="Calibri" pitchFamily="34" charset="-120"/>
              </a:rPr>
              <a:t>Type I error (α)</a:t>
            </a:r>
            <a:endParaRPr lang="en-US" sz="1450" dirty="0"/>
          </a:p>
        </p:txBody>
      </p:sp>
      <p:sp>
        <p:nvSpPr>
          <p:cNvPr id="14" name="Text 12"/>
          <p:cNvSpPr txBox="1"/>
          <p:nvPr/>
        </p:nvSpPr>
        <p:spPr>
          <a:xfrm>
            <a:off x="868680" y="4892040"/>
            <a:ext cx="4892040" cy="1188720"/>
          </a:xfrm>
          <a:prstGeom prst="rect">
            <a:avLst/>
          </a:prstGeom>
          <a:noFill/>
          <a:ln/>
        </p:spPr>
        <p:txBody>
          <a:bodyPr wrap="square" lIns="0" tIns="0" rIns="0" bIns="0" rtlCol="0" anchor="ctr"/>
          <a:lstStyle/>
          <a:p>
            <a:pPr indent="0" marL="0">
              <a:lnSpc>
                <a:spcPct val="125000"/>
              </a:lnSpc>
              <a:buNone/>
            </a:pPr>
            <a:r>
              <a:rPr lang="en-US" sz="1150" dirty="0">
                <a:solidFill>
                  <a:srgbClr val="18181B"/>
                </a:solidFill>
                <a:latin typeface="Calibri" pitchFamily="34" charset="0"/>
                <a:ea typeface="Calibri" pitchFamily="34" charset="-122"/>
                <a:cs typeface="Calibri" pitchFamily="34" charset="-120"/>
              </a:rPr>
              <a:t>Calling a real-zero effect “significant.” Controlled by the significance threshold (0.05) — and by Holm–Bonferroni across six tests, next slide.</a:t>
            </a:r>
            <a:endParaRPr lang="en-US" sz="1150" dirty="0"/>
          </a:p>
        </p:txBody>
      </p:sp>
      <p:sp>
        <p:nvSpPr>
          <p:cNvPr id="15" name="Shape 13"/>
          <p:cNvSpPr/>
          <p:nvPr/>
        </p:nvSpPr>
        <p:spPr>
          <a:xfrm>
            <a:off x="6263640" y="4343400"/>
            <a:ext cx="5349240" cy="1874520"/>
          </a:xfrm>
          <a:prstGeom prst="roundRect">
            <a:avLst>
              <a:gd name="adj" fmla="val 4878"/>
            </a:avLst>
          </a:prstGeom>
          <a:solidFill>
            <a:srgbClr val="FFFFFF"/>
          </a:solidFill>
          <a:ln/>
          <a:effectLst>
            <a:outerShdw sx="100000" sy="100000" kx="0" ky="0" algn="bl" rotWithShape="0" blurRad="101600" dist="38100" dir="5400000">
              <a:srgbClr val="163C2C">
                <a:alpha val="18000"/>
              </a:srgbClr>
            </a:outerShdw>
          </a:effectLst>
        </p:spPr>
      </p:sp>
      <p:sp>
        <p:nvSpPr>
          <p:cNvPr id="16" name="Text 14"/>
          <p:cNvSpPr txBox="1"/>
          <p:nvPr/>
        </p:nvSpPr>
        <p:spPr>
          <a:xfrm>
            <a:off x="6492240" y="4507992"/>
            <a:ext cx="4892040" cy="365760"/>
          </a:xfrm>
          <a:prstGeom prst="rect">
            <a:avLst/>
          </a:prstGeom>
          <a:noFill/>
          <a:ln/>
        </p:spPr>
        <p:txBody>
          <a:bodyPr wrap="square" lIns="0" tIns="0" rIns="0" bIns="0" rtlCol="0" anchor="ctr"/>
          <a:lstStyle/>
          <a:p>
            <a:pPr indent="0" marL="0">
              <a:buNone/>
            </a:pPr>
            <a:r>
              <a:rPr lang="en-US" sz="1450" b="1" dirty="0">
                <a:solidFill>
                  <a:srgbClr val="163C2C"/>
                </a:solidFill>
                <a:latin typeface="Calibri" pitchFamily="34" charset="0"/>
                <a:ea typeface="Calibri" pitchFamily="34" charset="-122"/>
                <a:cs typeface="Calibri" pitchFamily="34" charset="-120"/>
              </a:rPr>
              <a:t>Type II error</a:t>
            </a:r>
            <a:endParaRPr lang="en-US" sz="1450" dirty="0"/>
          </a:p>
        </p:txBody>
      </p:sp>
      <p:sp>
        <p:nvSpPr>
          <p:cNvPr id="17" name="Text 15"/>
          <p:cNvSpPr txBox="1"/>
          <p:nvPr/>
        </p:nvSpPr>
        <p:spPr>
          <a:xfrm>
            <a:off x="6492240" y="4892040"/>
            <a:ext cx="4892040" cy="1188720"/>
          </a:xfrm>
          <a:prstGeom prst="rect">
            <a:avLst/>
          </a:prstGeom>
          <a:noFill/>
          <a:ln/>
        </p:spPr>
        <p:txBody>
          <a:bodyPr wrap="square" lIns="0" tIns="0" rIns="0" bIns="0" rtlCol="0" anchor="ctr"/>
          <a:lstStyle/>
          <a:p>
            <a:pPr indent="0" marL="0">
              <a:lnSpc>
                <a:spcPct val="125000"/>
              </a:lnSpc>
              <a:buNone/>
            </a:pPr>
            <a:r>
              <a:rPr lang="en-US" sz="1150" dirty="0">
                <a:solidFill>
                  <a:srgbClr val="18181B"/>
                </a:solidFill>
                <a:latin typeface="Calibri" pitchFamily="34" charset="0"/>
                <a:ea typeface="Calibri" pitchFamily="34" charset="-122"/>
                <a:cs typeface="Calibri" pitchFamily="34" charset="-120"/>
              </a:rPr>
              <a:t>Missing a real effect. More likely with a short pre-period, few outage episodes, or a noisy dependent variable like shadow price.</a:t>
            </a:r>
            <a:endParaRPr lang="en-US" sz="1150" dirty="0"/>
          </a:p>
        </p:txBody>
      </p:sp>
      <p:sp>
        <p:nvSpPr>
          <p:cNvPr id="18" name="Text 16"/>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19" name="Text 17"/>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163C2C"/>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FUNDAMENTALS</a:t>
            </a:r>
            <a:endParaRPr lang="en-US" sz="1050" dirty="0"/>
          </a:p>
        </p:txBody>
      </p:sp>
      <p:sp>
        <p:nvSpPr>
          <p:cNvPr id="4" name="Text 2"/>
          <p:cNvSpPr txBox="1"/>
          <p:nvPr/>
        </p:nvSpPr>
        <p:spPr>
          <a:xfrm>
            <a:off x="640080" y="914400"/>
            <a:ext cx="10881360" cy="548640"/>
          </a:xfrm>
          <a:prstGeom prst="rect">
            <a:avLst/>
          </a:prstGeom>
          <a:noFill/>
          <a:ln/>
        </p:spPr>
        <p:txBody>
          <a:bodyPr wrap="square" lIns="0" tIns="0" rIns="0" bIns="0" rtlCol="0" anchor="ctr"/>
          <a:lstStyle/>
          <a:p>
            <a:pPr indent="0" marL="0">
              <a:buNone/>
            </a:pPr>
            <a:r>
              <a:rPr lang="en-US" sz="2700" b="1" dirty="0">
                <a:solidFill>
                  <a:srgbClr val="18181B"/>
                </a:solidFill>
                <a:latin typeface="Cambria" pitchFamily="34" charset="0"/>
                <a:ea typeface="Cambria" pitchFamily="34" charset="-122"/>
                <a:cs typeface="Cambria" pitchFamily="34" charset="-120"/>
              </a:rPr>
              <a:t>Testing Six Hypotheses at Once</a:t>
            </a:r>
            <a:endParaRPr lang="en-US" sz="2700" dirty="0"/>
          </a:p>
        </p:txBody>
      </p:sp>
      <p:sp>
        <p:nvSpPr>
          <p:cNvPr id="5" name="Text 3"/>
          <p:cNvSpPr txBox="1"/>
          <p:nvPr/>
        </p:nvSpPr>
        <p:spPr>
          <a:xfrm>
            <a:off x="640080" y="1463040"/>
            <a:ext cx="10881360" cy="548640"/>
          </a:xfrm>
          <a:prstGeom prst="rect">
            <a:avLst/>
          </a:prstGeom>
          <a:noFill/>
          <a:ln/>
        </p:spPr>
        <p:txBody>
          <a:bodyPr wrap="square" lIns="0" tIns="0" rIns="0" bIns="0" rtlCol="0" anchor="ctr"/>
          <a:lstStyle/>
          <a:p>
            <a:pPr indent="0" marL="0">
              <a:lnSpc>
                <a:spcPct val="120000"/>
              </a:lnSpc>
              <a:buNone/>
            </a:pPr>
            <a:r>
              <a:rPr lang="en-US" sz="1300" dirty="0">
                <a:solidFill>
                  <a:srgbClr val="6B6B73"/>
                </a:solidFill>
                <a:latin typeface="Calibri" pitchFamily="34" charset="0"/>
                <a:ea typeface="Calibri" pitchFamily="34" charset="-122"/>
                <a:cs typeface="Calibri" pitchFamily="34" charset="-120"/>
              </a:rPr>
              <a:t>Run six tests at α=0.05 each, and the chance that AT LEAST ONE looks significant by pure luck climbs well past 5%. Holm–Bonferroni corrects for that, in order of strength.</a:t>
            </a:r>
            <a:endParaRPr lang="en-US" sz="1300" dirty="0"/>
          </a:p>
        </p:txBody>
      </p:sp>
      <p:sp>
        <p:nvSpPr>
          <p:cNvPr id="6" name="Shape 4"/>
          <p:cNvSpPr/>
          <p:nvPr/>
        </p:nvSpPr>
        <p:spPr>
          <a:xfrm>
            <a:off x="640080" y="2148840"/>
            <a:ext cx="1691640" cy="292608"/>
          </a:xfrm>
          <a:prstGeom prst="roundRect">
            <a:avLst>
              <a:gd name="adj" fmla="val 50000"/>
            </a:avLst>
          </a:prstGeom>
          <a:solidFill>
            <a:srgbClr val="6D5B97"/>
          </a:solidFill>
          <a:ln/>
        </p:spPr>
      </p:sp>
      <p:sp>
        <p:nvSpPr>
          <p:cNvPr id="7" name="Text 5"/>
          <p:cNvSpPr txBox="1"/>
          <p:nvPr/>
        </p:nvSpPr>
        <p:spPr>
          <a:xfrm>
            <a:off x="640080" y="2148840"/>
            <a:ext cx="169164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WORKED EXAMPLE</a:t>
            </a:r>
            <a:endParaRPr lang="en-US" sz="950" dirty="0"/>
          </a:p>
        </p:txBody>
      </p:sp>
      <p:sp>
        <p:nvSpPr>
          <p:cNvPr id="8" name="Text 6"/>
          <p:cNvSpPr txBox="1"/>
          <p:nvPr/>
        </p:nvSpPr>
        <p:spPr>
          <a:xfrm>
            <a:off x="2514600" y="2103120"/>
            <a:ext cx="9052560" cy="365760"/>
          </a:xfrm>
          <a:prstGeom prst="rect">
            <a:avLst/>
          </a:prstGeom>
          <a:noFill/>
          <a:ln/>
        </p:spPr>
        <p:txBody>
          <a:bodyPr wrap="square" lIns="0" tIns="0" rIns="0" bIns="0" rtlCol="0" anchor="ctr"/>
          <a:lstStyle/>
          <a:p>
            <a:pPr indent="0" marL="0">
              <a:buNone/>
            </a:pPr>
            <a:r>
              <a:rPr lang="en-US" sz="1250" dirty="0">
                <a:solidFill>
                  <a:srgbClr val="18181B"/>
                </a:solidFill>
                <a:latin typeface="Consolas" pitchFamily="34" charset="0"/>
                <a:ea typeface="Consolas" pitchFamily="34" charset="-122"/>
                <a:cs typeface="Consolas" pitchFamily="34" charset="-120"/>
              </a:rPr>
              <a:t>p_{(k)} ≤ α / (m − k + 1)    — test in order from smallest p-value, stop at the first failure</a:t>
            </a:r>
            <a:endParaRPr lang="en-US" sz="1250" dirty="0"/>
          </a:p>
        </p:txBody>
      </p:sp>
      <p:sp>
        <p:nvSpPr>
          <p:cNvPr id="9" name="Text 7"/>
          <p:cNvSpPr txBox="1"/>
          <p:nvPr/>
        </p:nvSpPr>
        <p:spPr>
          <a:xfrm>
            <a:off x="640080" y="2743200"/>
            <a:ext cx="1371600" cy="320040"/>
          </a:xfrm>
          <a:prstGeom prst="rect">
            <a:avLst/>
          </a:prstGeom>
          <a:noFill/>
          <a:ln/>
        </p:spPr>
        <p:txBody>
          <a:bodyPr wrap="square" lIns="0" tIns="0" rIns="0" bIns="0" rtlCol="0" anchor="ctr"/>
          <a:lstStyle/>
          <a:p>
            <a:pPr indent="0" marL="0">
              <a:buNone/>
            </a:pPr>
            <a:r>
              <a:rPr lang="en-US" sz="1050" b="1" dirty="0">
                <a:solidFill>
                  <a:srgbClr val="6B6B73"/>
                </a:solidFill>
                <a:latin typeface="Calibri" pitchFamily="34" charset="0"/>
                <a:ea typeface="Calibri" pitchFamily="34" charset="-122"/>
                <a:cs typeface="Calibri" pitchFamily="34" charset="-120"/>
              </a:rPr>
              <a:t>Rank (k)</a:t>
            </a:r>
            <a:endParaRPr lang="en-US" sz="1050" dirty="0"/>
          </a:p>
        </p:txBody>
      </p:sp>
      <p:sp>
        <p:nvSpPr>
          <p:cNvPr id="10" name="Text 8"/>
          <p:cNvSpPr txBox="1"/>
          <p:nvPr/>
        </p:nvSpPr>
        <p:spPr>
          <a:xfrm>
            <a:off x="2103120" y="2743200"/>
            <a:ext cx="2743200" cy="320040"/>
          </a:xfrm>
          <a:prstGeom prst="rect">
            <a:avLst/>
          </a:prstGeom>
          <a:noFill/>
          <a:ln/>
        </p:spPr>
        <p:txBody>
          <a:bodyPr wrap="square" lIns="0" tIns="0" rIns="0" bIns="0" rtlCol="0" anchor="ctr"/>
          <a:lstStyle/>
          <a:p>
            <a:pPr indent="0" marL="0">
              <a:buNone/>
            </a:pPr>
            <a:r>
              <a:rPr lang="en-US" sz="1050" b="1" dirty="0">
                <a:solidFill>
                  <a:srgbClr val="6B6B73"/>
                </a:solidFill>
                <a:latin typeface="Calibri" pitchFamily="34" charset="0"/>
                <a:ea typeface="Calibri" pitchFamily="34" charset="-122"/>
                <a:cs typeface="Calibri" pitchFamily="34" charset="-120"/>
              </a:rPr>
              <a:t>Hypothesis</a:t>
            </a:r>
            <a:endParaRPr lang="en-US" sz="1050" dirty="0"/>
          </a:p>
        </p:txBody>
      </p:sp>
      <p:sp>
        <p:nvSpPr>
          <p:cNvPr id="11" name="Text 9"/>
          <p:cNvSpPr txBox="1"/>
          <p:nvPr/>
        </p:nvSpPr>
        <p:spPr>
          <a:xfrm>
            <a:off x="5029200" y="2743200"/>
            <a:ext cx="1554480" cy="320040"/>
          </a:xfrm>
          <a:prstGeom prst="rect">
            <a:avLst/>
          </a:prstGeom>
          <a:noFill/>
          <a:ln/>
        </p:spPr>
        <p:txBody>
          <a:bodyPr wrap="square" lIns="0" tIns="0" rIns="0" bIns="0" rtlCol="0" anchor="ctr"/>
          <a:lstStyle/>
          <a:p>
            <a:pPr indent="0" marL="0">
              <a:buNone/>
            </a:pPr>
            <a:r>
              <a:rPr lang="en-US" sz="1050" b="1" dirty="0">
                <a:solidFill>
                  <a:srgbClr val="6B6B73"/>
                </a:solidFill>
                <a:latin typeface="Calibri" pitchFamily="34" charset="0"/>
                <a:ea typeface="Calibri" pitchFamily="34" charset="-122"/>
                <a:cs typeface="Calibri" pitchFamily="34" charset="-120"/>
              </a:rPr>
              <a:t>p-value</a:t>
            </a:r>
            <a:endParaRPr lang="en-US" sz="1050" dirty="0"/>
          </a:p>
        </p:txBody>
      </p:sp>
      <p:sp>
        <p:nvSpPr>
          <p:cNvPr id="12" name="Text 10"/>
          <p:cNvSpPr txBox="1"/>
          <p:nvPr/>
        </p:nvSpPr>
        <p:spPr>
          <a:xfrm>
            <a:off x="6766560" y="2743200"/>
            <a:ext cx="2377440" cy="320040"/>
          </a:xfrm>
          <a:prstGeom prst="rect">
            <a:avLst/>
          </a:prstGeom>
          <a:noFill/>
          <a:ln/>
        </p:spPr>
        <p:txBody>
          <a:bodyPr wrap="square" lIns="0" tIns="0" rIns="0" bIns="0" rtlCol="0" anchor="ctr"/>
          <a:lstStyle/>
          <a:p>
            <a:pPr indent="0" marL="0">
              <a:buNone/>
            </a:pPr>
            <a:r>
              <a:rPr lang="en-US" sz="1050" b="1" dirty="0">
                <a:solidFill>
                  <a:srgbClr val="6B6B73"/>
                </a:solidFill>
                <a:latin typeface="Calibri" pitchFamily="34" charset="0"/>
                <a:ea typeface="Calibri" pitchFamily="34" charset="-122"/>
                <a:cs typeface="Calibri" pitchFamily="34" charset="-120"/>
              </a:rPr>
              <a:t>Threshold α/(m−k+1)</a:t>
            </a:r>
            <a:endParaRPr lang="en-US" sz="1050" dirty="0"/>
          </a:p>
        </p:txBody>
      </p:sp>
      <p:sp>
        <p:nvSpPr>
          <p:cNvPr id="13" name="Text 11"/>
          <p:cNvSpPr txBox="1"/>
          <p:nvPr/>
        </p:nvSpPr>
        <p:spPr>
          <a:xfrm>
            <a:off x="9326880" y="2743200"/>
            <a:ext cx="2240280" cy="320040"/>
          </a:xfrm>
          <a:prstGeom prst="rect">
            <a:avLst/>
          </a:prstGeom>
          <a:noFill/>
          <a:ln/>
        </p:spPr>
        <p:txBody>
          <a:bodyPr wrap="square" lIns="0" tIns="0" rIns="0" bIns="0" rtlCol="0" anchor="ctr"/>
          <a:lstStyle/>
          <a:p>
            <a:pPr indent="0" marL="0">
              <a:buNone/>
            </a:pPr>
            <a:r>
              <a:rPr lang="en-US" sz="1050" b="1" dirty="0">
                <a:solidFill>
                  <a:srgbClr val="6B6B73"/>
                </a:solidFill>
                <a:latin typeface="Calibri" pitchFamily="34" charset="0"/>
                <a:ea typeface="Calibri" pitchFamily="34" charset="-122"/>
                <a:cs typeface="Calibri" pitchFamily="34" charset="-120"/>
              </a:rPr>
              <a:t>Outcome</a:t>
            </a:r>
            <a:endParaRPr lang="en-US" sz="1050" dirty="0"/>
          </a:p>
        </p:txBody>
      </p:sp>
      <p:sp>
        <p:nvSpPr>
          <p:cNvPr id="14" name="Shape 12"/>
          <p:cNvSpPr/>
          <p:nvPr/>
        </p:nvSpPr>
        <p:spPr>
          <a:xfrm>
            <a:off x="640080" y="3108960"/>
            <a:ext cx="10927080" cy="438912"/>
          </a:xfrm>
          <a:prstGeom prst="roundRect">
            <a:avLst>
              <a:gd name="adj" fmla="val 10417"/>
            </a:avLst>
          </a:prstGeom>
          <a:solidFill>
            <a:srgbClr val="EEF0F4"/>
          </a:solidFill>
          <a:ln/>
        </p:spPr>
      </p:sp>
      <p:sp>
        <p:nvSpPr>
          <p:cNvPr id="15" name="Text 13"/>
          <p:cNvSpPr txBox="1"/>
          <p:nvPr/>
        </p:nvSpPr>
        <p:spPr>
          <a:xfrm>
            <a:off x="640080" y="3127248"/>
            <a:ext cx="1371600" cy="402336"/>
          </a:xfrm>
          <a:prstGeom prst="rect">
            <a:avLst/>
          </a:prstGeom>
          <a:noFill/>
          <a:ln/>
        </p:spPr>
        <p:txBody>
          <a:bodyPr wrap="square" lIns="0" tIns="0" rIns="0" bIns="0" rtlCol="0" anchor="ctr"/>
          <a:lstStyle/>
          <a:p>
            <a:pPr indent="0" marL="0">
              <a:buNone/>
            </a:pPr>
            <a:r>
              <a:rPr lang="en-US" sz="1150" dirty="0">
                <a:solidFill>
                  <a:srgbClr val="18181B"/>
                </a:solidFill>
                <a:latin typeface="Consolas" pitchFamily="34" charset="0"/>
                <a:ea typeface="Consolas" pitchFamily="34" charset="-122"/>
                <a:cs typeface="Consolas" pitchFamily="34" charset="-120"/>
              </a:rPr>
              <a:t>1</a:t>
            </a:r>
            <a:endParaRPr lang="en-US" sz="1150" dirty="0"/>
          </a:p>
        </p:txBody>
      </p:sp>
      <p:sp>
        <p:nvSpPr>
          <p:cNvPr id="16" name="Text 14"/>
          <p:cNvSpPr txBox="1"/>
          <p:nvPr/>
        </p:nvSpPr>
        <p:spPr>
          <a:xfrm>
            <a:off x="2103120" y="3127248"/>
            <a:ext cx="2743200" cy="402336"/>
          </a:xfrm>
          <a:prstGeom prst="rect">
            <a:avLst/>
          </a:prstGeom>
          <a:noFill/>
          <a:ln/>
        </p:spPr>
        <p:txBody>
          <a:bodyPr wrap="square" lIns="0" tIns="0" rIns="0" bIns="0" rtlCol="0" anchor="ctr"/>
          <a:lstStyle/>
          <a:p>
            <a:pPr indent="0" marL="0">
              <a:buNone/>
            </a:pPr>
            <a:r>
              <a:rPr lang="en-US" sz="1150" dirty="0">
                <a:solidFill>
                  <a:srgbClr val="18181B"/>
                </a:solidFill>
                <a:latin typeface="Consolas" pitchFamily="34" charset="0"/>
                <a:ea typeface="Consolas" pitchFamily="34" charset="-122"/>
                <a:cs typeface="Consolas" pitchFamily="34" charset="-120"/>
              </a:rPr>
              <a:t>H1</a:t>
            </a:r>
            <a:endParaRPr lang="en-US" sz="1150" dirty="0"/>
          </a:p>
        </p:txBody>
      </p:sp>
      <p:sp>
        <p:nvSpPr>
          <p:cNvPr id="17" name="Text 15"/>
          <p:cNvSpPr txBox="1"/>
          <p:nvPr/>
        </p:nvSpPr>
        <p:spPr>
          <a:xfrm>
            <a:off x="5029200" y="3127248"/>
            <a:ext cx="1554480" cy="402336"/>
          </a:xfrm>
          <a:prstGeom prst="rect">
            <a:avLst/>
          </a:prstGeom>
          <a:noFill/>
          <a:ln/>
        </p:spPr>
        <p:txBody>
          <a:bodyPr wrap="square" lIns="0" tIns="0" rIns="0" bIns="0" rtlCol="0" anchor="ctr"/>
          <a:lstStyle/>
          <a:p>
            <a:pPr indent="0" marL="0">
              <a:buNone/>
            </a:pPr>
            <a:r>
              <a:rPr lang="en-US" sz="1150" dirty="0">
                <a:solidFill>
                  <a:srgbClr val="18181B"/>
                </a:solidFill>
                <a:latin typeface="Consolas" pitchFamily="34" charset="0"/>
                <a:ea typeface="Consolas" pitchFamily="34" charset="-122"/>
                <a:cs typeface="Consolas" pitchFamily="34" charset="-120"/>
              </a:rPr>
              <a:t>0.001</a:t>
            </a:r>
            <a:endParaRPr lang="en-US" sz="1150" dirty="0"/>
          </a:p>
        </p:txBody>
      </p:sp>
      <p:sp>
        <p:nvSpPr>
          <p:cNvPr id="18" name="Text 16"/>
          <p:cNvSpPr txBox="1"/>
          <p:nvPr/>
        </p:nvSpPr>
        <p:spPr>
          <a:xfrm>
            <a:off x="6766560" y="3127248"/>
            <a:ext cx="2377440" cy="402336"/>
          </a:xfrm>
          <a:prstGeom prst="rect">
            <a:avLst/>
          </a:prstGeom>
          <a:noFill/>
          <a:ln/>
        </p:spPr>
        <p:txBody>
          <a:bodyPr wrap="square" lIns="0" tIns="0" rIns="0" bIns="0" rtlCol="0" anchor="ctr"/>
          <a:lstStyle/>
          <a:p>
            <a:pPr indent="0" marL="0">
              <a:buNone/>
            </a:pPr>
            <a:r>
              <a:rPr lang="en-US" sz="1150" dirty="0">
                <a:solidFill>
                  <a:srgbClr val="18181B"/>
                </a:solidFill>
                <a:latin typeface="Consolas" pitchFamily="34" charset="0"/>
                <a:ea typeface="Consolas" pitchFamily="34" charset="-122"/>
                <a:cs typeface="Consolas" pitchFamily="34" charset="-120"/>
              </a:rPr>
              <a:t>0.05/4 = 0.0125</a:t>
            </a:r>
            <a:endParaRPr lang="en-US" sz="1150" dirty="0"/>
          </a:p>
        </p:txBody>
      </p:sp>
      <p:sp>
        <p:nvSpPr>
          <p:cNvPr id="19" name="Text 17"/>
          <p:cNvSpPr txBox="1"/>
          <p:nvPr/>
        </p:nvSpPr>
        <p:spPr>
          <a:xfrm>
            <a:off x="9326880" y="3127248"/>
            <a:ext cx="2240280" cy="402336"/>
          </a:xfrm>
          <a:prstGeom prst="rect">
            <a:avLst/>
          </a:prstGeom>
          <a:noFill/>
          <a:ln/>
        </p:spPr>
        <p:txBody>
          <a:bodyPr wrap="square" lIns="0" tIns="0" rIns="0" bIns="0" rtlCol="0" anchor="ctr"/>
          <a:lstStyle/>
          <a:p>
            <a:pPr indent="0" marL="0">
              <a:buNone/>
            </a:pPr>
            <a:r>
              <a:rPr lang="en-US" sz="1150" b="1" dirty="0">
                <a:solidFill>
                  <a:srgbClr val="15803D"/>
                </a:solidFill>
                <a:latin typeface="Calibri" pitchFamily="34" charset="0"/>
                <a:ea typeface="Calibri" pitchFamily="34" charset="-122"/>
                <a:cs typeface="Calibri" pitchFamily="34" charset="-120"/>
              </a:rPr>
              <a:t>Reject H₀</a:t>
            </a:r>
            <a:endParaRPr lang="en-US" sz="1150" dirty="0"/>
          </a:p>
        </p:txBody>
      </p:sp>
      <p:sp>
        <p:nvSpPr>
          <p:cNvPr id="20" name="Shape 18"/>
          <p:cNvSpPr/>
          <p:nvPr/>
        </p:nvSpPr>
        <p:spPr>
          <a:xfrm>
            <a:off x="640080" y="3611880"/>
            <a:ext cx="10927080" cy="438912"/>
          </a:xfrm>
          <a:prstGeom prst="roundRect">
            <a:avLst>
              <a:gd name="adj" fmla="val 10417"/>
            </a:avLst>
          </a:prstGeom>
          <a:solidFill>
            <a:srgbClr val="FFFFFF"/>
          </a:solidFill>
          <a:ln/>
        </p:spPr>
      </p:sp>
      <p:sp>
        <p:nvSpPr>
          <p:cNvPr id="21" name="Text 19"/>
          <p:cNvSpPr txBox="1"/>
          <p:nvPr/>
        </p:nvSpPr>
        <p:spPr>
          <a:xfrm>
            <a:off x="640080" y="3630168"/>
            <a:ext cx="1371600" cy="402336"/>
          </a:xfrm>
          <a:prstGeom prst="rect">
            <a:avLst/>
          </a:prstGeom>
          <a:noFill/>
          <a:ln/>
        </p:spPr>
        <p:txBody>
          <a:bodyPr wrap="square" lIns="0" tIns="0" rIns="0" bIns="0" rtlCol="0" anchor="ctr"/>
          <a:lstStyle/>
          <a:p>
            <a:pPr indent="0" marL="0">
              <a:buNone/>
            </a:pPr>
            <a:r>
              <a:rPr lang="en-US" sz="1150" dirty="0">
                <a:solidFill>
                  <a:srgbClr val="18181B"/>
                </a:solidFill>
                <a:latin typeface="Consolas" pitchFamily="34" charset="0"/>
                <a:ea typeface="Consolas" pitchFamily="34" charset="-122"/>
                <a:cs typeface="Consolas" pitchFamily="34" charset="-120"/>
              </a:rPr>
              <a:t>2</a:t>
            </a:r>
            <a:endParaRPr lang="en-US" sz="1150" dirty="0"/>
          </a:p>
        </p:txBody>
      </p:sp>
      <p:sp>
        <p:nvSpPr>
          <p:cNvPr id="22" name="Text 20"/>
          <p:cNvSpPr txBox="1"/>
          <p:nvPr/>
        </p:nvSpPr>
        <p:spPr>
          <a:xfrm>
            <a:off x="2103120" y="3630168"/>
            <a:ext cx="2743200" cy="402336"/>
          </a:xfrm>
          <a:prstGeom prst="rect">
            <a:avLst/>
          </a:prstGeom>
          <a:noFill/>
          <a:ln/>
        </p:spPr>
        <p:txBody>
          <a:bodyPr wrap="square" lIns="0" tIns="0" rIns="0" bIns="0" rtlCol="0" anchor="ctr"/>
          <a:lstStyle/>
          <a:p>
            <a:pPr indent="0" marL="0">
              <a:buNone/>
            </a:pPr>
            <a:r>
              <a:rPr lang="en-US" sz="1150" dirty="0">
                <a:solidFill>
                  <a:srgbClr val="18181B"/>
                </a:solidFill>
                <a:latin typeface="Consolas" pitchFamily="34" charset="0"/>
                <a:ea typeface="Consolas" pitchFamily="34" charset="-122"/>
                <a:cs typeface="Consolas" pitchFamily="34" charset="-120"/>
              </a:rPr>
              <a:t>H4</a:t>
            </a:r>
            <a:endParaRPr lang="en-US" sz="1150" dirty="0"/>
          </a:p>
        </p:txBody>
      </p:sp>
      <p:sp>
        <p:nvSpPr>
          <p:cNvPr id="23" name="Text 21"/>
          <p:cNvSpPr txBox="1"/>
          <p:nvPr/>
        </p:nvSpPr>
        <p:spPr>
          <a:xfrm>
            <a:off x="5029200" y="3630168"/>
            <a:ext cx="1554480" cy="402336"/>
          </a:xfrm>
          <a:prstGeom prst="rect">
            <a:avLst/>
          </a:prstGeom>
          <a:noFill/>
          <a:ln/>
        </p:spPr>
        <p:txBody>
          <a:bodyPr wrap="square" lIns="0" tIns="0" rIns="0" bIns="0" rtlCol="0" anchor="ctr"/>
          <a:lstStyle/>
          <a:p>
            <a:pPr indent="0" marL="0">
              <a:buNone/>
            </a:pPr>
            <a:r>
              <a:rPr lang="en-US" sz="1150" dirty="0">
                <a:solidFill>
                  <a:srgbClr val="18181B"/>
                </a:solidFill>
                <a:latin typeface="Consolas" pitchFamily="34" charset="0"/>
                <a:ea typeface="Consolas" pitchFamily="34" charset="-122"/>
                <a:cs typeface="Consolas" pitchFamily="34" charset="-120"/>
              </a:rPr>
              <a:t>0.020</a:t>
            </a:r>
            <a:endParaRPr lang="en-US" sz="1150" dirty="0"/>
          </a:p>
        </p:txBody>
      </p:sp>
      <p:sp>
        <p:nvSpPr>
          <p:cNvPr id="24" name="Text 22"/>
          <p:cNvSpPr txBox="1"/>
          <p:nvPr/>
        </p:nvSpPr>
        <p:spPr>
          <a:xfrm>
            <a:off x="6766560" y="3630168"/>
            <a:ext cx="2377440" cy="402336"/>
          </a:xfrm>
          <a:prstGeom prst="rect">
            <a:avLst/>
          </a:prstGeom>
          <a:noFill/>
          <a:ln/>
        </p:spPr>
        <p:txBody>
          <a:bodyPr wrap="square" lIns="0" tIns="0" rIns="0" bIns="0" rtlCol="0" anchor="ctr"/>
          <a:lstStyle/>
          <a:p>
            <a:pPr indent="0" marL="0">
              <a:buNone/>
            </a:pPr>
            <a:r>
              <a:rPr lang="en-US" sz="1150" dirty="0">
                <a:solidFill>
                  <a:srgbClr val="18181B"/>
                </a:solidFill>
                <a:latin typeface="Consolas" pitchFamily="34" charset="0"/>
                <a:ea typeface="Consolas" pitchFamily="34" charset="-122"/>
                <a:cs typeface="Consolas" pitchFamily="34" charset="-120"/>
              </a:rPr>
              <a:t>0.05/3 = 0.0167</a:t>
            </a:r>
            <a:endParaRPr lang="en-US" sz="1150" dirty="0"/>
          </a:p>
        </p:txBody>
      </p:sp>
      <p:sp>
        <p:nvSpPr>
          <p:cNvPr id="25" name="Text 23"/>
          <p:cNvSpPr txBox="1"/>
          <p:nvPr/>
        </p:nvSpPr>
        <p:spPr>
          <a:xfrm>
            <a:off x="9326880" y="3630168"/>
            <a:ext cx="2240280" cy="402336"/>
          </a:xfrm>
          <a:prstGeom prst="rect">
            <a:avLst/>
          </a:prstGeom>
          <a:noFill/>
          <a:ln/>
        </p:spPr>
        <p:txBody>
          <a:bodyPr wrap="square" lIns="0" tIns="0" rIns="0" bIns="0" rtlCol="0" anchor="ctr"/>
          <a:lstStyle/>
          <a:p>
            <a:pPr indent="0" marL="0">
              <a:buNone/>
            </a:pPr>
            <a:r>
              <a:rPr lang="en-US" sz="1150" b="1" dirty="0">
                <a:solidFill>
                  <a:srgbClr val="B91C1C"/>
                </a:solidFill>
                <a:latin typeface="Calibri" pitchFamily="34" charset="0"/>
                <a:ea typeface="Calibri" pitchFamily="34" charset="-122"/>
                <a:cs typeface="Calibri" pitchFamily="34" charset="-120"/>
              </a:rPr>
              <a:t>FAIL — procedure stops</a:t>
            </a:r>
            <a:endParaRPr lang="en-US" sz="1150" dirty="0"/>
          </a:p>
        </p:txBody>
      </p:sp>
      <p:sp>
        <p:nvSpPr>
          <p:cNvPr id="26" name="Shape 24"/>
          <p:cNvSpPr/>
          <p:nvPr/>
        </p:nvSpPr>
        <p:spPr>
          <a:xfrm>
            <a:off x="640080" y="4114800"/>
            <a:ext cx="10927080" cy="438912"/>
          </a:xfrm>
          <a:prstGeom prst="roundRect">
            <a:avLst>
              <a:gd name="adj" fmla="val 10417"/>
            </a:avLst>
          </a:prstGeom>
          <a:solidFill>
            <a:srgbClr val="EEF0F4"/>
          </a:solidFill>
          <a:ln/>
        </p:spPr>
      </p:sp>
      <p:sp>
        <p:nvSpPr>
          <p:cNvPr id="27" name="Text 25"/>
          <p:cNvSpPr txBox="1"/>
          <p:nvPr/>
        </p:nvSpPr>
        <p:spPr>
          <a:xfrm>
            <a:off x="640080" y="4133088"/>
            <a:ext cx="1371600" cy="402336"/>
          </a:xfrm>
          <a:prstGeom prst="rect">
            <a:avLst/>
          </a:prstGeom>
          <a:noFill/>
          <a:ln/>
        </p:spPr>
        <p:txBody>
          <a:bodyPr wrap="square" lIns="0" tIns="0" rIns="0" bIns="0" rtlCol="0" anchor="ctr"/>
          <a:lstStyle/>
          <a:p>
            <a:pPr indent="0" marL="0">
              <a:buNone/>
            </a:pPr>
            <a:r>
              <a:rPr lang="en-US" sz="1150" dirty="0">
                <a:solidFill>
                  <a:srgbClr val="18181B"/>
                </a:solidFill>
                <a:latin typeface="Consolas" pitchFamily="34" charset="0"/>
                <a:ea typeface="Consolas" pitchFamily="34" charset="-122"/>
                <a:cs typeface="Consolas" pitchFamily="34" charset="-120"/>
              </a:rPr>
              <a:t>3</a:t>
            </a:r>
            <a:endParaRPr lang="en-US" sz="1150" dirty="0"/>
          </a:p>
        </p:txBody>
      </p:sp>
      <p:sp>
        <p:nvSpPr>
          <p:cNvPr id="28" name="Text 26"/>
          <p:cNvSpPr txBox="1"/>
          <p:nvPr/>
        </p:nvSpPr>
        <p:spPr>
          <a:xfrm>
            <a:off x="2103120" y="4133088"/>
            <a:ext cx="2743200" cy="402336"/>
          </a:xfrm>
          <a:prstGeom prst="rect">
            <a:avLst/>
          </a:prstGeom>
          <a:noFill/>
          <a:ln/>
        </p:spPr>
        <p:txBody>
          <a:bodyPr wrap="square" lIns="0" tIns="0" rIns="0" bIns="0" rtlCol="0" anchor="ctr"/>
          <a:lstStyle/>
          <a:p>
            <a:pPr indent="0" marL="0">
              <a:buNone/>
            </a:pPr>
            <a:r>
              <a:rPr lang="en-US" sz="1150" dirty="0">
                <a:solidFill>
                  <a:srgbClr val="18181B"/>
                </a:solidFill>
                <a:latin typeface="Consolas" pitchFamily="34" charset="0"/>
                <a:ea typeface="Consolas" pitchFamily="34" charset="-122"/>
                <a:cs typeface="Consolas" pitchFamily="34" charset="-120"/>
              </a:rPr>
              <a:t>H3</a:t>
            </a:r>
            <a:endParaRPr lang="en-US" sz="1150" dirty="0"/>
          </a:p>
        </p:txBody>
      </p:sp>
      <p:sp>
        <p:nvSpPr>
          <p:cNvPr id="29" name="Text 27"/>
          <p:cNvSpPr txBox="1"/>
          <p:nvPr/>
        </p:nvSpPr>
        <p:spPr>
          <a:xfrm>
            <a:off x="5029200" y="4133088"/>
            <a:ext cx="1554480" cy="402336"/>
          </a:xfrm>
          <a:prstGeom prst="rect">
            <a:avLst/>
          </a:prstGeom>
          <a:noFill/>
          <a:ln/>
        </p:spPr>
        <p:txBody>
          <a:bodyPr wrap="square" lIns="0" tIns="0" rIns="0" bIns="0" rtlCol="0" anchor="ctr"/>
          <a:lstStyle/>
          <a:p>
            <a:pPr indent="0" marL="0">
              <a:buNone/>
            </a:pPr>
            <a:r>
              <a:rPr lang="en-US" sz="1150" dirty="0">
                <a:solidFill>
                  <a:srgbClr val="18181B"/>
                </a:solidFill>
                <a:latin typeface="Consolas" pitchFamily="34" charset="0"/>
                <a:ea typeface="Consolas" pitchFamily="34" charset="-122"/>
                <a:cs typeface="Consolas" pitchFamily="34" charset="-120"/>
              </a:rPr>
              <a:t>0.030</a:t>
            </a:r>
            <a:endParaRPr lang="en-US" sz="1150" dirty="0"/>
          </a:p>
        </p:txBody>
      </p:sp>
      <p:sp>
        <p:nvSpPr>
          <p:cNvPr id="30" name="Text 28"/>
          <p:cNvSpPr txBox="1"/>
          <p:nvPr/>
        </p:nvSpPr>
        <p:spPr>
          <a:xfrm>
            <a:off x="6766560" y="4133088"/>
            <a:ext cx="2377440" cy="402336"/>
          </a:xfrm>
          <a:prstGeom prst="rect">
            <a:avLst/>
          </a:prstGeom>
          <a:noFill/>
          <a:ln/>
        </p:spPr>
        <p:txBody>
          <a:bodyPr wrap="square" lIns="0" tIns="0" rIns="0" bIns="0" rtlCol="0" anchor="ctr"/>
          <a:lstStyle/>
          <a:p>
            <a:pPr indent="0" marL="0">
              <a:buNone/>
            </a:pPr>
            <a:r>
              <a:rPr lang="en-US" sz="1150" dirty="0">
                <a:solidFill>
                  <a:srgbClr val="18181B"/>
                </a:solidFill>
                <a:latin typeface="Consolas" pitchFamily="34" charset="0"/>
                <a:ea typeface="Consolas" pitchFamily="34" charset="-122"/>
                <a:cs typeface="Consolas" pitchFamily="34" charset="-120"/>
              </a:rPr>
              <a:t>—</a:t>
            </a:r>
            <a:endParaRPr lang="en-US" sz="1150" dirty="0"/>
          </a:p>
        </p:txBody>
      </p:sp>
      <p:sp>
        <p:nvSpPr>
          <p:cNvPr id="31" name="Text 29"/>
          <p:cNvSpPr txBox="1"/>
          <p:nvPr/>
        </p:nvSpPr>
        <p:spPr>
          <a:xfrm>
            <a:off x="9326880" y="4133088"/>
            <a:ext cx="2240280" cy="402336"/>
          </a:xfrm>
          <a:prstGeom prst="rect">
            <a:avLst/>
          </a:prstGeom>
          <a:noFill/>
          <a:ln/>
        </p:spPr>
        <p:txBody>
          <a:bodyPr wrap="square" lIns="0" tIns="0" rIns="0" bIns="0" rtlCol="0" anchor="ctr"/>
          <a:lstStyle/>
          <a:p>
            <a:pPr indent="0" marL="0">
              <a:buNone/>
            </a:pPr>
            <a:r>
              <a:rPr lang="en-US" sz="1150" b="1" dirty="0">
                <a:solidFill>
                  <a:srgbClr val="6B6B73"/>
                </a:solidFill>
                <a:latin typeface="Calibri" pitchFamily="34" charset="0"/>
                <a:ea typeface="Calibri" pitchFamily="34" charset="-122"/>
                <a:cs typeface="Calibri" pitchFamily="34" charset="-120"/>
              </a:rPr>
              <a:t>Not rejected (stopped)</a:t>
            </a:r>
            <a:endParaRPr lang="en-US" sz="1150" dirty="0"/>
          </a:p>
        </p:txBody>
      </p:sp>
      <p:sp>
        <p:nvSpPr>
          <p:cNvPr id="32" name="Shape 30"/>
          <p:cNvSpPr/>
          <p:nvPr/>
        </p:nvSpPr>
        <p:spPr>
          <a:xfrm>
            <a:off x="640080" y="4617720"/>
            <a:ext cx="10927080" cy="438912"/>
          </a:xfrm>
          <a:prstGeom prst="roundRect">
            <a:avLst>
              <a:gd name="adj" fmla="val 10417"/>
            </a:avLst>
          </a:prstGeom>
          <a:solidFill>
            <a:srgbClr val="FFFFFF"/>
          </a:solidFill>
          <a:ln/>
        </p:spPr>
      </p:sp>
      <p:sp>
        <p:nvSpPr>
          <p:cNvPr id="33" name="Text 31"/>
          <p:cNvSpPr txBox="1"/>
          <p:nvPr/>
        </p:nvSpPr>
        <p:spPr>
          <a:xfrm>
            <a:off x="640080" y="4636008"/>
            <a:ext cx="1371600" cy="402336"/>
          </a:xfrm>
          <a:prstGeom prst="rect">
            <a:avLst/>
          </a:prstGeom>
          <a:noFill/>
          <a:ln/>
        </p:spPr>
        <p:txBody>
          <a:bodyPr wrap="square" lIns="0" tIns="0" rIns="0" bIns="0" rtlCol="0" anchor="ctr"/>
          <a:lstStyle/>
          <a:p>
            <a:pPr indent="0" marL="0">
              <a:buNone/>
            </a:pPr>
            <a:r>
              <a:rPr lang="en-US" sz="1150" dirty="0">
                <a:solidFill>
                  <a:srgbClr val="18181B"/>
                </a:solidFill>
                <a:latin typeface="Consolas" pitchFamily="34" charset="0"/>
                <a:ea typeface="Consolas" pitchFamily="34" charset="-122"/>
                <a:cs typeface="Consolas" pitchFamily="34" charset="-120"/>
              </a:rPr>
              <a:t>4</a:t>
            </a:r>
            <a:endParaRPr lang="en-US" sz="1150" dirty="0"/>
          </a:p>
        </p:txBody>
      </p:sp>
      <p:sp>
        <p:nvSpPr>
          <p:cNvPr id="34" name="Text 32"/>
          <p:cNvSpPr txBox="1"/>
          <p:nvPr/>
        </p:nvSpPr>
        <p:spPr>
          <a:xfrm>
            <a:off x="2103120" y="4636008"/>
            <a:ext cx="2743200" cy="402336"/>
          </a:xfrm>
          <a:prstGeom prst="rect">
            <a:avLst/>
          </a:prstGeom>
          <a:noFill/>
          <a:ln/>
        </p:spPr>
        <p:txBody>
          <a:bodyPr wrap="square" lIns="0" tIns="0" rIns="0" bIns="0" rtlCol="0" anchor="ctr"/>
          <a:lstStyle/>
          <a:p>
            <a:pPr indent="0" marL="0">
              <a:buNone/>
            </a:pPr>
            <a:r>
              <a:rPr lang="en-US" sz="1150" dirty="0">
                <a:solidFill>
                  <a:srgbClr val="18181B"/>
                </a:solidFill>
                <a:latin typeface="Consolas" pitchFamily="34" charset="0"/>
                <a:ea typeface="Consolas" pitchFamily="34" charset="-122"/>
                <a:cs typeface="Consolas" pitchFamily="34" charset="-120"/>
              </a:rPr>
              <a:t>H2</a:t>
            </a:r>
            <a:endParaRPr lang="en-US" sz="1150" dirty="0"/>
          </a:p>
        </p:txBody>
      </p:sp>
      <p:sp>
        <p:nvSpPr>
          <p:cNvPr id="35" name="Text 33"/>
          <p:cNvSpPr txBox="1"/>
          <p:nvPr/>
        </p:nvSpPr>
        <p:spPr>
          <a:xfrm>
            <a:off x="5029200" y="4636008"/>
            <a:ext cx="1554480" cy="402336"/>
          </a:xfrm>
          <a:prstGeom prst="rect">
            <a:avLst/>
          </a:prstGeom>
          <a:noFill/>
          <a:ln/>
        </p:spPr>
        <p:txBody>
          <a:bodyPr wrap="square" lIns="0" tIns="0" rIns="0" bIns="0" rtlCol="0" anchor="ctr"/>
          <a:lstStyle/>
          <a:p>
            <a:pPr indent="0" marL="0">
              <a:buNone/>
            </a:pPr>
            <a:r>
              <a:rPr lang="en-US" sz="1150" dirty="0">
                <a:solidFill>
                  <a:srgbClr val="18181B"/>
                </a:solidFill>
                <a:latin typeface="Consolas" pitchFamily="34" charset="0"/>
                <a:ea typeface="Consolas" pitchFamily="34" charset="-122"/>
                <a:cs typeface="Consolas" pitchFamily="34" charset="-120"/>
              </a:rPr>
              <a:t>0.040</a:t>
            </a:r>
            <a:endParaRPr lang="en-US" sz="1150" dirty="0"/>
          </a:p>
        </p:txBody>
      </p:sp>
      <p:sp>
        <p:nvSpPr>
          <p:cNvPr id="36" name="Text 34"/>
          <p:cNvSpPr txBox="1"/>
          <p:nvPr/>
        </p:nvSpPr>
        <p:spPr>
          <a:xfrm>
            <a:off x="6766560" y="4636008"/>
            <a:ext cx="2377440" cy="402336"/>
          </a:xfrm>
          <a:prstGeom prst="rect">
            <a:avLst/>
          </a:prstGeom>
          <a:noFill/>
          <a:ln/>
        </p:spPr>
        <p:txBody>
          <a:bodyPr wrap="square" lIns="0" tIns="0" rIns="0" bIns="0" rtlCol="0" anchor="ctr"/>
          <a:lstStyle/>
          <a:p>
            <a:pPr indent="0" marL="0">
              <a:buNone/>
            </a:pPr>
            <a:r>
              <a:rPr lang="en-US" sz="1150" dirty="0">
                <a:solidFill>
                  <a:srgbClr val="18181B"/>
                </a:solidFill>
                <a:latin typeface="Consolas" pitchFamily="34" charset="0"/>
                <a:ea typeface="Consolas" pitchFamily="34" charset="-122"/>
                <a:cs typeface="Consolas" pitchFamily="34" charset="-120"/>
              </a:rPr>
              <a:t>—</a:t>
            </a:r>
            <a:endParaRPr lang="en-US" sz="1150" dirty="0"/>
          </a:p>
        </p:txBody>
      </p:sp>
      <p:sp>
        <p:nvSpPr>
          <p:cNvPr id="37" name="Text 35"/>
          <p:cNvSpPr txBox="1"/>
          <p:nvPr/>
        </p:nvSpPr>
        <p:spPr>
          <a:xfrm>
            <a:off x="9326880" y="4636008"/>
            <a:ext cx="2240280" cy="402336"/>
          </a:xfrm>
          <a:prstGeom prst="rect">
            <a:avLst/>
          </a:prstGeom>
          <a:noFill/>
          <a:ln/>
        </p:spPr>
        <p:txBody>
          <a:bodyPr wrap="square" lIns="0" tIns="0" rIns="0" bIns="0" rtlCol="0" anchor="ctr"/>
          <a:lstStyle/>
          <a:p>
            <a:pPr indent="0" marL="0">
              <a:buNone/>
            </a:pPr>
            <a:r>
              <a:rPr lang="en-US" sz="1150" b="1" dirty="0">
                <a:solidFill>
                  <a:srgbClr val="6B6B73"/>
                </a:solidFill>
                <a:latin typeface="Calibri" pitchFamily="34" charset="0"/>
                <a:ea typeface="Calibri" pitchFamily="34" charset="-122"/>
                <a:cs typeface="Calibri" pitchFamily="34" charset="-120"/>
              </a:rPr>
              <a:t>Not rejected (stopped)</a:t>
            </a:r>
            <a:endParaRPr lang="en-US" sz="1150" dirty="0"/>
          </a:p>
        </p:txBody>
      </p:sp>
      <p:sp>
        <p:nvSpPr>
          <p:cNvPr id="38" name="Text 36"/>
          <p:cNvSpPr txBox="1"/>
          <p:nvPr/>
        </p:nvSpPr>
        <p:spPr>
          <a:xfrm>
            <a:off x="822960" y="5532120"/>
            <a:ext cx="10515600" cy="777240"/>
          </a:xfrm>
          <a:prstGeom prst="rect">
            <a:avLst/>
          </a:prstGeom>
          <a:noFill/>
          <a:ln/>
        </p:spPr>
        <p:txBody>
          <a:bodyPr wrap="square" lIns="0" tIns="0" rIns="0" bIns="0" rtlCol="0" anchor="ctr"/>
          <a:lstStyle/>
          <a:p>
            <a:pPr indent="0" marL="0">
              <a:lnSpc>
                <a:spcPct val="125000"/>
              </a:lnSpc>
              <a:buNone/>
            </a:pPr>
            <a:r>
              <a:rPr lang="en-US" sz="1200" i="1" dirty="0">
                <a:solidFill>
                  <a:srgbClr val="6B6B73"/>
                </a:solidFill>
                <a:latin typeface="Calibri" pitchFamily="34" charset="0"/>
                <a:ea typeface="Calibri" pitchFamily="34" charset="-122"/>
                <a:cs typeface="Calibri" pitchFamily="34" charset="-120"/>
              </a:rPr>
              <a:t>H2's raw p-value (0.040) would clear an uncorrected 0.05 threshold — but under Holm–Bonferroni it is NOT rejected, because the procedure already failed at H4. This is why the app applies this correction across the whole H1–H6 family, not per-hypothesis.</a:t>
            </a:r>
            <a:endParaRPr lang="en-US" sz="1200" dirty="0"/>
          </a:p>
        </p:txBody>
      </p:sp>
      <p:sp>
        <p:nvSpPr>
          <p:cNvPr id="39" name="Text 37"/>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40" name="Text 38"/>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3C2C"/>
        </a:solidFill>
      </p:bgPr>
    </p:bg>
    <p:spTree>
      <p:nvGrpSpPr>
        <p:cNvPr id="1" name=""/>
        <p:cNvGrpSpPr/>
        <p:nvPr/>
      </p:nvGrpSpPr>
      <p:grpSpPr>
        <a:xfrm>
          <a:off x="0" y="0"/>
          <a:ext cx="0" cy="0"/>
          <a:chOff x="0" y="0"/>
          <a:chExt cx="0" cy="0"/>
        </a:xfrm>
      </p:grpSpPr>
      <p:sp>
        <p:nvSpPr>
          <p:cNvPr id="2" name="Text 0"/>
          <p:cNvSpPr txBox="1"/>
          <p:nvPr/>
        </p:nvSpPr>
        <p:spPr>
          <a:xfrm>
            <a:off x="640080" y="548640"/>
            <a:ext cx="1088136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Significant Isn't the Same as Meaningful</a:t>
            </a:r>
            <a:endParaRPr lang="en-US" sz="2800" dirty="0"/>
          </a:p>
        </p:txBody>
      </p:sp>
      <p:sp>
        <p:nvSpPr>
          <p:cNvPr id="3" name="Text 1"/>
          <p:cNvSpPr txBox="1"/>
          <p:nvPr/>
        </p:nvSpPr>
        <p:spPr>
          <a:xfrm>
            <a:off x="640080" y="1188720"/>
            <a:ext cx="10881360" cy="365760"/>
          </a:xfrm>
          <a:prstGeom prst="rect">
            <a:avLst/>
          </a:prstGeom>
          <a:noFill/>
          <a:ln/>
        </p:spPr>
        <p:txBody>
          <a:bodyPr wrap="square" lIns="0" tIns="0" rIns="0" bIns="0" rtlCol="0" anchor="ctr"/>
          <a:lstStyle/>
          <a:p>
            <a:pPr indent="0" marL="0">
              <a:buNone/>
            </a:pPr>
            <a:r>
              <a:rPr lang="en-US" sz="1350" dirty="0">
                <a:solidFill>
                  <a:srgbClr val="D7E6DC"/>
                </a:solidFill>
                <a:latin typeface="Calibri" pitchFamily="34" charset="0"/>
                <a:ea typeface="Calibri" pitchFamily="34" charset="-122"/>
                <a:cs typeface="Calibri" pitchFamily="34" charset="-120"/>
              </a:rPr>
              <a:t>A coefficient can clear p &lt; 0.05 and still be too small to matter operationally.</a:t>
            </a:r>
            <a:endParaRPr lang="en-US" sz="1350" dirty="0"/>
          </a:p>
        </p:txBody>
      </p:sp>
      <p:sp>
        <p:nvSpPr>
          <p:cNvPr id="4" name="Shape 2"/>
          <p:cNvSpPr/>
          <p:nvPr/>
        </p:nvSpPr>
        <p:spPr>
          <a:xfrm>
            <a:off x="822960" y="1874520"/>
            <a:ext cx="5120640" cy="2377440"/>
          </a:xfrm>
          <a:prstGeom prst="roundRect">
            <a:avLst>
              <a:gd name="adj" fmla="val 3846"/>
            </a:avLst>
          </a:prstGeom>
          <a:solidFill>
            <a:srgbClr val="FFFFFF"/>
          </a:solidFill>
          <a:ln/>
          <a:effectLst>
            <a:outerShdw sx="100000" sy="100000" kx="0" ky="0" algn="bl" rotWithShape="0" blurRad="101600" dist="38100" dir="5400000">
              <a:srgbClr val="163C2C">
                <a:alpha val="18000"/>
              </a:srgbClr>
            </a:outerShdw>
          </a:effectLst>
        </p:spPr>
      </p:sp>
      <p:sp>
        <p:nvSpPr>
          <p:cNvPr id="5" name="Shape 3"/>
          <p:cNvSpPr/>
          <p:nvPr/>
        </p:nvSpPr>
        <p:spPr>
          <a:xfrm>
            <a:off x="1051560" y="2103120"/>
            <a:ext cx="128016" cy="1737360"/>
          </a:xfrm>
          <a:prstGeom prst="roundRect">
            <a:avLst/>
          </a:prstGeom>
          <a:solidFill>
            <a:srgbClr val="15803D"/>
          </a:solidFill>
          <a:ln/>
        </p:spPr>
      </p:sp>
      <p:sp>
        <p:nvSpPr>
          <p:cNvPr id="6" name="Text 4"/>
          <p:cNvSpPr txBox="1"/>
          <p:nvPr/>
        </p:nvSpPr>
        <p:spPr>
          <a:xfrm>
            <a:off x="1325880" y="2103120"/>
            <a:ext cx="4434840" cy="457200"/>
          </a:xfrm>
          <a:prstGeom prst="rect">
            <a:avLst/>
          </a:prstGeom>
          <a:noFill/>
          <a:ln/>
        </p:spPr>
        <p:txBody>
          <a:bodyPr wrap="square" lIns="0" tIns="0" rIns="0" bIns="0" rtlCol="0" anchor="ctr"/>
          <a:lstStyle/>
          <a:p>
            <a:pPr indent="0" marL="0">
              <a:buNone/>
            </a:pPr>
            <a:r>
              <a:rPr lang="en-US" sz="1500" b="1" dirty="0">
                <a:solidFill>
                  <a:srgbClr val="18181B"/>
                </a:solidFill>
                <a:latin typeface="Calibri" pitchFamily="34" charset="0"/>
                <a:ea typeface="Calibri" pitchFamily="34" charset="-122"/>
                <a:cs typeface="Calibri" pitchFamily="34" charset="-120"/>
              </a:rPr>
              <a:t>Statistical significance</a:t>
            </a:r>
            <a:endParaRPr lang="en-US" sz="1500" dirty="0"/>
          </a:p>
        </p:txBody>
      </p:sp>
      <p:sp>
        <p:nvSpPr>
          <p:cNvPr id="7" name="Text 5"/>
          <p:cNvSpPr txBox="1"/>
          <p:nvPr/>
        </p:nvSpPr>
        <p:spPr>
          <a:xfrm>
            <a:off x="1325880" y="2606040"/>
            <a:ext cx="4434840" cy="1554480"/>
          </a:xfrm>
          <a:prstGeom prst="rect">
            <a:avLst/>
          </a:prstGeom>
          <a:noFill/>
          <a:ln/>
        </p:spPr>
        <p:txBody>
          <a:bodyPr wrap="square" lIns="0" tIns="0" rIns="0" bIns="0" rtlCol="0" anchor="ctr"/>
          <a:lstStyle/>
          <a:p>
            <a:pPr indent="0" marL="0">
              <a:lnSpc>
                <a:spcPct val="130000"/>
              </a:lnSpc>
              <a:buNone/>
            </a:pPr>
            <a:r>
              <a:rPr lang="en-US" sz="1200" dirty="0">
                <a:solidFill>
                  <a:srgbClr val="6B6B73"/>
                </a:solidFill>
                <a:latin typeface="Calibri" pitchFamily="34" charset="0"/>
                <a:ea typeface="Calibri" pitchFamily="34" charset="-122"/>
                <a:cs typeface="Calibri" pitchFamily="34" charset="-120"/>
              </a:rPr>
              <a:t>“This effect is unlikely to be zero.” A property of the estimate's precision — driven partly by sample size.</a:t>
            </a:r>
            <a:endParaRPr lang="en-US" sz="1200" dirty="0"/>
          </a:p>
        </p:txBody>
      </p:sp>
      <p:sp>
        <p:nvSpPr>
          <p:cNvPr id="8" name="Shape 6"/>
          <p:cNvSpPr/>
          <p:nvPr/>
        </p:nvSpPr>
        <p:spPr>
          <a:xfrm>
            <a:off x="6309360" y="1874520"/>
            <a:ext cx="5120640" cy="2377440"/>
          </a:xfrm>
          <a:prstGeom prst="roundRect">
            <a:avLst>
              <a:gd name="adj" fmla="val 3846"/>
            </a:avLst>
          </a:prstGeom>
          <a:solidFill>
            <a:srgbClr val="FFFFFF"/>
          </a:solidFill>
          <a:ln/>
          <a:effectLst>
            <a:outerShdw sx="100000" sy="100000" kx="0" ky="0" algn="bl" rotWithShape="0" blurRad="101600" dist="38100" dir="5400000">
              <a:srgbClr val="163C2C">
                <a:alpha val="18000"/>
              </a:srgbClr>
            </a:outerShdw>
          </a:effectLst>
        </p:spPr>
      </p:sp>
      <p:sp>
        <p:nvSpPr>
          <p:cNvPr id="9" name="Shape 7"/>
          <p:cNvSpPr/>
          <p:nvPr/>
        </p:nvSpPr>
        <p:spPr>
          <a:xfrm>
            <a:off x="6537960" y="2103120"/>
            <a:ext cx="128016" cy="1737360"/>
          </a:xfrm>
          <a:prstGeom prst="roundRect">
            <a:avLst/>
          </a:prstGeom>
          <a:solidFill>
            <a:srgbClr val="B45309"/>
          </a:solidFill>
          <a:ln/>
        </p:spPr>
      </p:sp>
      <p:sp>
        <p:nvSpPr>
          <p:cNvPr id="10" name="Text 8"/>
          <p:cNvSpPr txBox="1"/>
          <p:nvPr/>
        </p:nvSpPr>
        <p:spPr>
          <a:xfrm>
            <a:off x="6812280" y="2103120"/>
            <a:ext cx="4434840" cy="457200"/>
          </a:xfrm>
          <a:prstGeom prst="rect">
            <a:avLst/>
          </a:prstGeom>
          <a:noFill/>
          <a:ln/>
        </p:spPr>
        <p:txBody>
          <a:bodyPr wrap="square" lIns="0" tIns="0" rIns="0" bIns="0" rtlCol="0" anchor="ctr"/>
          <a:lstStyle/>
          <a:p>
            <a:pPr indent="0" marL="0">
              <a:buNone/>
            </a:pPr>
            <a:r>
              <a:rPr lang="en-US" sz="1500" b="1" dirty="0">
                <a:solidFill>
                  <a:srgbClr val="18181B"/>
                </a:solidFill>
                <a:latin typeface="Calibri" pitchFamily="34" charset="0"/>
                <a:ea typeface="Calibri" pitchFamily="34" charset="-122"/>
                <a:cs typeface="Calibri" pitchFamily="34" charset="-120"/>
              </a:rPr>
              <a:t>Economic significance</a:t>
            </a:r>
            <a:endParaRPr lang="en-US" sz="1500" dirty="0"/>
          </a:p>
        </p:txBody>
      </p:sp>
      <p:sp>
        <p:nvSpPr>
          <p:cNvPr id="11" name="Text 9"/>
          <p:cNvSpPr txBox="1"/>
          <p:nvPr/>
        </p:nvSpPr>
        <p:spPr>
          <a:xfrm>
            <a:off x="6812280" y="2606040"/>
            <a:ext cx="4434840" cy="1554480"/>
          </a:xfrm>
          <a:prstGeom prst="rect">
            <a:avLst/>
          </a:prstGeom>
          <a:noFill/>
          <a:ln/>
        </p:spPr>
        <p:txBody>
          <a:bodyPr wrap="square" lIns="0" tIns="0" rIns="0" bIns="0" rtlCol="0" anchor="ctr"/>
          <a:lstStyle/>
          <a:p>
            <a:pPr indent="0" marL="0">
              <a:lnSpc>
                <a:spcPct val="130000"/>
              </a:lnSpc>
              <a:buNone/>
            </a:pPr>
            <a:r>
              <a:rPr lang="en-US" sz="1200" dirty="0">
                <a:solidFill>
                  <a:srgbClr val="6B6B73"/>
                </a:solidFill>
                <a:latin typeface="Calibri" pitchFamily="34" charset="0"/>
                <a:ea typeface="Calibri" pitchFamily="34" charset="-122"/>
                <a:cs typeface="Calibri" pitchFamily="34" charset="-120"/>
              </a:rPr>
              <a:t>“This effect is big enough to matter.” A property of the effect's SIZE, judged against ECONOMIC_SIGNIFICANCE_THRESHOLDS — a documented, conservative floor per dependent variable.</a:t>
            </a:r>
            <a:endParaRPr lang="en-US" sz="1200" dirty="0"/>
          </a:p>
        </p:txBody>
      </p:sp>
      <p:sp>
        <p:nvSpPr>
          <p:cNvPr id="12" name="Text 10"/>
          <p:cNvSpPr txBox="1"/>
          <p:nvPr/>
        </p:nvSpPr>
        <p:spPr>
          <a:xfrm>
            <a:off x="822960" y="4572000"/>
            <a:ext cx="10515600" cy="822960"/>
          </a:xfrm>
          <a:prstGeom prst="rect">
            <a:avLst/>
          </a:prstGeom>
          <a:noFill/>
          <a:ln/>
        </p:spPr>
        <p:txBody>
          <a:bodyPr wrap="square" lIns="0" tIns="0" rIns="0" bIns="0" rtlCol="0" anchor="ctr"/>
          <a:lstStyle/>
          <a:p>
            <a:pPr indent="0" marL="0">
              <a:lnSpc>
                <a:spcPct val="130000"/>
              </a:lnSpc>
              <a:buNone/>
            </a:pPr>
            <a:r>
              <a:rPr lang="en-US" sz="1300" i="1" dirty="0">
                <a:solidFill>
                  <a:srgbClr val="D7E6DC"/>
                </a:solidFill>
                <a:latin typeface="Calibri" pitchFamily="34" charset="0"/>
                <a:ea typeface="Calibri" pitchFamily="34" charset="-122"/>
                <a:cs typeface="Calibri" pitchFamily="34" charset="-120"/>
              </a:rPr>
              <a:t>A hypothesis that clears p&lt;0.05 but not its economic floor is reported “statistically significant,” never “SUPPORTED.” That distinction is why H3's sample verdict later in this deck reads “SIGNIFICANT*” rather than “SUPPORTED.”</a:t>
            </a:r>
            <a:endParaRPr lang="en-US" sz="1300" dirty="0"/>
          </a:p>
        </p:txBody>
      </p:sp>
      <p:sp>
        <p:nvSpPr>
          <p:cNvPr id="13" name="Text 11"/>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BFD0C6"/>
                </a:solidFill>
                <a:latin typeface="Calibri" pitchFamily="34" charset="0"/>
                <a:ea typeface="Calibri" pitchFamily="34" charset="-122"/>
                <a:cs typeface="Calibri" pitchFamily="34" charset="-120"/>
              </a:rPr>
              <a:t>Reading the Results  ·  Nordic FBMC Propagation</a:t>
            </a:r>
            <a:endParaRPr lang="en-US" sz="900" dirty="0"/>
          </a:p>
        </p:txBody>
      </p:sp>
      <p:sp>
        <p:nvSpPr>
          <p:cNvPr id="14" name="Text 12"/>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BFD0C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640080"/>
          </a:xfrm>
          <a:prstGeom prst="rect">
            <a:avLst/>
          </a:prstGeom>
          <a:noFill/>
          <a:ln/>
        </p:spPr>
        <p:txBody>
          <a:bodyPr wrap="square" lIns="0" tIns="0" rIns="0" bIns="0" rtlCol="0" anchor="ctr"/>
          <a:lstStyle/>
          <a:p>
            <a:pPr indent="0" marL="0">
              <a:buNone/>
            </a:pPr>
            <a:r>
              <a:rPr lang="en-US" sz="3000" b="1" dirty="0">
                <a:solidFill>
                  <a:srgbClr val="18181B"/>
                </a:solidFill>
                <a:latin typeface="Cambria" pitchFamily="34" charset="0"/>
                <a:ea typeface="Cambria" pitchFamily="34" charset="-122"/>
                <a:cs typeface="Cambria" pitchFamily="34" charset="-120"/>
              </a:rPr>
              <a:t>The Six Hypotheses</a:t>
            </a:r>
            <a:endParaRPr lang="en-US" sz="3000" dirty="0"/>
          </a:p>
        </p:txBody>
      </p:sp>
      <p:sp>
        <p:nvSpPr>
          <p:cNvPr id="3" name="Text 1"/>
          <p:cNvSpPr txBox="1"/>
          <p:nvPr/>
        </p:nvSpPr>
        <p:spPr>
          <a:xfrm>
            <a:off x="640080" y="1097280"/>
            <a:ext cx="10881360" cy="365760"/>
          </a:xfrm>
          <a:prstGeom prst="rect">
            <a:avLst/>
          </a:prstGeom>
          <a:noFill/>
          <a:ln/>
        </p:spPr>
        <p:txBody>
          <a:bodyPr wrap="square" lIns="0" tIns="0" rIns="0" bIns="0" rtlCol="0" anchor="ctr"/>
          <a:lstStyle/>
          <a:p>
            <a:pPr indent="0" marL="0">
              <a:buNone/>
            </a:pPr>
            <a:r>
              <a:rPr lang="en-US" sz="1350" dirty="0">
                <a:solidFill>
                  <a:srgbClr val="6B6B73"/>
                </a:solidFill>
                <a:latin typeface="Calibri" pitchFamily="34" charset="0"/>
                <a:ea typeface="Calibri" pitchFamily="34" charset="-122"/>
                <a:cs typeface="Calibri" pitchFamily="34" charset="-120"/>
              </a:rPr>
              <a:t>Each isolates one specific channel from a specific outage type to a specific CNEC parameter.</a:t>
            </a:r>
            <a:endParaRPr lang="en-US" sz="1350" dirty="0"/>
          </a:p>
        </p:txBody>
      </p:sp>
      <p:sp>
        <p:nvSpPr>
          <p:cNvPr id="4" name="Text 2"/>
          <p:cNvSpPr txBox="1"/>
          <p:nvPr/>
        </p:nvSpPr>
        <p:spPr>
          <a:xfrm>
            <a:off x="1417320" y="1783080"/>
            <a:ext cx="2377440" cy="320040"/>
          </a:xfrm>
          <a:prstGeom prst="rect">
            <a:avLst/>
          </a:prstGeom>
          <a:noFill/>
          <a:ln/>
        </p:spPr>
        <p:txBody>
          <a:bodyPr wrap="square" lIns="0" tIns="0" rIns="0" bIns="0" rtlCol="0" anchor="ctr"/>
          <a:lstStyle/>
          <a:p>
            <a:pPr indent="0" marL="0">
              <a:buNone/>
            </a:pPr>
            <a:r>
              <a:rPr lang="en-US" sz="1100" b="1" dirty="0">
                <a:solidFill>
                  <a:srgbClr val="6B6B73"/>
                </a:solidFill>
                <a:latin typeface="Calibri" pitchFamily="34" charset="0"/>
                <a:ea typeface="Calibri" pitchFamily="34" charset="-122"/>
                <a:cs typeface="Calibri" pitchFamily="34" charset="-120"/>
              </a:rPr>
              <a:t>Outage type</a:t>
            </a:r>
            <a:endParaRPr lang="en-US" sz="1100" dirty="0"/>
          </a:p>
        </p:txBody>
      </p:sp>
      <p:sp>
        <p:nvSpPr>
          <p:cNvPr id="5" name="Text 3"/>
          <p:cNvSpPr txBox="1"/>
          <p:nvPr/>
        </p:nvSpPr>
        <p:spPr>
          <a:xfrm>
            <a:off x="4480560" y="1783080"/>
            <a:ext cx="2743200" cy="320040"/>
          </a:xfrm>
          <a:prstGeom prst="rect">
            <a:avLst/>
          </a:prstGeom>
          <a:noFill/>
          <a:ln/>
        </p:spPr>
        <p:txBody>
          <a:bodyPr wrap="square" lIns="0" tIns="0" rIns="0" bIns="0" rtlCol="0" anchor="ctr"/>
          <a:lstStyle/>
          <a:p>
            <a:pPr indent="0" marL="0">
              <a:buNone/>
            </a:pPr>
            <a:r>
              <a:rPr lang="en-US" sz="1100" b="1" dirty="0">
                <a:solidFill>
                  <a:srgbClr val="6B6B73"/>
                </a:solidFill>
                <a:latin typeface="Calibri" pitchFamily="34" charset="0"/>
                <a:ea typeface="Calibri" pitchFamily="34" charset="-122"/>
                <a:cs typeface="Calibri" pitchFamily="34" charset="-120"/>
              </a:rPr>
              <a:t>Parameter tested</a:t>
            </a:r>
            <a:endParaRPr lang="en-US" sz="1100" dirty="0"/>
          </a:p>
        </p:txBody>
      </p:sp>
      <p:sp>
        <p:nvSpPr>
          <p:cNvPr id="6" name="Text 4"/>
          <p:cNvSpPr txBox="1"/>
          <p:nvPr/>
        </p:nvSpPr>
        <p:spPr>
          <a:xfrm>
            <a:off x="7315200" y="1783080"/>
            <a:ext cx="2194560" cy="320040"/>
          </a:xfrm>
          <a:prstGeom prst="rect">
            <a:avLst/>
          </a:prstGeom>
          <a:noFill/>
          <a:ln/>
        </p:spPr>
        <p:txBody>
          <a:bodyPr wrap="square" lIns="0" tIns="0" rIns="0" bIns="0" rtlCol="0" anchor="ctr"/>
          <a:lstStyle/>
          <a:p>
            <a:pPr indent="0" marL="0">
              <a:buNone/>
            </a:pPr>
            <a:r>
              <a:rPr lang="en-US" sz="1100" b="1" dirty="0">
                <a:solidFill>
                  <a:srgbClr val="6B6B73"/>
                </a:solidFill>
                <a:latin typeface="Calibri" pitchFamily="34" charset="0"/>
                <a:ea typeface="Calibri" pitchFamily="34" charset="-122"/>
                <a:cs typeface="Calibri" pitchFamily="34" charset="-120"/>
              </a:rPr>
              <a:t>Mechanism</a:t>
            </a:r>
            <a:endParaRPr lang="en-US" sz="1100" dirty="0"/>
          </a:p>
        </p:txBody>
      </p:sp>
      <p:sp>
        <p:nvSpPr>
          <p:cNvPr id="7" name="Text 5"/>
          <p:cNvSpPr txBox="1"/>
          <p:nvPr/>
        </p:nvSpPr>
        <p:spPr>
          <a:xfrm>
            <a:off x="9646920" y="1783080"/>
            <a:ext cx="1965960" cy="320040"/>
          </a:xfrm>
          <a:prstGeom prst="rect">
            <a:avLst/>
          </a:prstGeom>
          <a:noFill/>
          <a:ln/>
        </p:spPr>
        <p:txBody>
          <a:bodyPr wrap="square" lIns="0" tIns="0" rIns="0" bIns="0" rtlCol="0" anchor="ctr"/>
          <a:lstStyle/>
          <a:p>
            <a:pPr indent="0" marL="0">
              <a:buNone/>
            </a:pPr>
            <a:r>
              <a:rPr lang="en-US" sz="1100" b="1" dirty="0">
                <a:solidFill>
                  <a:srgbClr val="6B6B73"/>
                </a:solidFill>
                <a:latin typeface="Calibri" pitchFamily="34" charset="0"/>
                <a:ea typeface="Calibri" pitchFamily="34" charset="-122"/>
                <a:cs typeface="Calibri" pitchFamily="34" charset="-120"/>
              </a:rPr>
              <a:t>Status</a:t>
            </a:r>
            <a:endParaRPr lang="en-US" sz="1100" dirty="0"/>
          </a:p>
        </p:txBody>
      </p:sp>
      <p:sp>
        <p:nvSpPr>
          <p:cNvPr id="8" name="Shape 6"/>
          <p:cNvSpPr/>
          <p:nvPr/>
        </p:nvSpPr>
        <p:spPr>
          <a:xfrm>
            <a:off x="640080" y="2194560"/>
            <a:ext cx="10927080" cy="566928"/>
          </a:xfrm>
          <a:prstGeom prst="roundRect">
            <a:avLst>
              <a:gd name="adj" fmla="val 9677"/>
            </a:avLst>
          </a:prstGeom>
          <a:solidFill>
            <a:srgbClr val="EEF0F4"/>
          </a:solidFill>
          <a:ln/>
        </p:spPr>
      </p:sp>
      <p:sp>
        <p:nvSpPr>
          <p:cNvPr id="9" name="Shape 7"/>
          <p:cNvSpPr/>
          <p:nvPr/>
        </p:nvSpPr>
        <p:spPr>
          <a:xfrm>
            <a:off x="713232" y="2267712"/>
            <a:ext cx="457200" cy="457200"/>
          </a:xfrm>
          <a:prstGeom prst="ellipse">
            <a:avLst/>
          </a:prstGeom>
          <a:solidFill>
            <a:srgbClr val="163C2C"/>
          </a:solidFill>
          <a:ln/>
        </p:spPr>
      </p:sp>
      <p:sp>
        <p:nvSpPr>
          <p:cNvPr id="10" name="Text 8"/>
          <p:cNvSpPr txBox="1"/>
          <p:nvPr/>
        </p:nvSpPr>
        <p:spPr>
          <a:xfrm>
            <a:off x="713232" y="22677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H1</a:t>
            </a:r>
            <a:endParaRPr lang="en-US" sz="1300" dirty="0"/>
          </a:p>
        </p:txBody>
      </p:sp>
      <p:sp>
        <p:nvSpPr>
          <p:cNvPr id="11" name="Text 9"/>
          <p:cNvSpPr txBox="1"/>
          <p:nvPr/>
        </p:nvSpPr>
        <p:spPr>
          <a:xfrm>
            <a:off x="1417320" y="2267712"/>
            <a:ext cx="2377440" cy="411480"/>
          </a:xfrm>
          <a:prstGeom prst="rect">
            <a:avLst/>
          </a:prstGeom>
          <a:noFill/>
          <a:ln/>
        </p:spPr>
        <p:txBody>
          <a:bodyPr wrap="square" lIns="0" tIns="0" rIns="0" bIns="0" rtlCol="0" anchor="ctr"/>
          <a:lstStyle/>
          <a:p>
            <a:pPr indent="0" marL="0">
              <a:buNone/>
            </a:pPr>
            <a:r>
              <a:rPr lang="en-US" sz="1250" dirty="0">
                <a:solidFill>
                  <a:srgbClr val="18181B"/>
                </a:solidFill>
                <a:latin typeface="Calibri" pitchFamily="34" charset="0"/>
                <a:ea typeface="Calibri" pitchFamily="34" charset="-122"/>
                <a:cs typeface="Calibri" pitchFamily="34" charset="-120"/>
              </a:rPr>
              <a:t>HVDC outages</a:t>
            </a:r>
            <a:endParaRPr lang="en-US" sz="1250" dirty="0"/>
          </a:p>
        </p:txBody>
      </p:sp>
      <p:sp>
        <p:nvSpPr>
          <p:cNvPr id="12" name="Text 10"/>
          <p:cNvSpPr txBox="1"/>
          <p:nvPr/>
        </p:nvSpPr>
        <p:spPr>
          <a:xfrm>
            <a:off x="3931920" y="2267712"/>
            <a:ext cx="457200" cy="411480"/>
          </a:xfrm>
          <a:prstGeom prst="rect">
            <a:avLst/>
          </a:prstGeom>
          <a:noFill/>
          <a:ln/>
        </p:spPr>
        <p:txBody>
          <a:bodyPr wrap="square" lIns="0" tIns="0" rIns="0" bIns="0" rtlCol="0" anchor="ctr"/>
          <a:lstStyle/>
          <a:p>
            <a:pPr algn="ctr" indent="0" marL="0">
              <a:buNone/>
            </a:pPr>
            <a:r>
              <a:rPr lang="en-US" sz="1300" dirty="0">
                <a:solidFill>
                  <a:srgbClr val="163C2C"/>
                </a:solidFill>
                <a:latin typeface="Calibri" pitchFamily="34" charset="0"/>
                <a:ea typeface="Calibri" pitchFamily="34" charset="-122"/>
                <a:cs typeface="Calibri" pitchFamily="34" charset="-120"/>
              </a:rPr>
              <a:t>→</a:t>
            </a:r>
            <a:endParaRPr lang="en-US" sz="1300" dirty="0"/>
          </a:p>
        </p:txBody>
      </p:sp>
      <p:sp>
        <p:nvSpPr>
          <p:cNvPr id="13" name="Text 11"/>
          <p:cNvSpPr txBox="1"/>
          <p:nvPr/>
        </p:nvSpPr>
        <p:spPr>
          <a:xfrm>
            <a:off x="4480560" y="2267712"/>
            <a:ext cx="2743200" cy="411480"/>
          </a:xfrm>
          <a:prstGeom prst="rect">
            <a:avLst/>
          </a:prstGeom>
          <a:noFill/>
          <a:ln/>
        </p:spPr>
        <p:txBody>
          <a:bodyPr wrap="square" lIns="0" tIns="0" rIns="0" bIns="0" rtlCol="0" anchor="ctr"/>
          <a:lstStyle/>
          <a:p>
            <a:pPr indent="0" marL="0">
              <a:buNone/>
            </a:pPr>
            <a:r>
              <a:rPr lang="en-US" sz="1250" b="1" dirty="0">
                <a:solidFill>
                  <a:srgbClr val="18181B"/>
                </a:solidFill>
                <a:latin typeface="Calibri" pitchFamily="34" charset="0"/>
                <a:ea typeface="Calibri" pitchFamily="34" charset="-122"/>
                <a:cs typeface="Calibri" pitchFamily="34" charset="-120"/>
              </a:rPr>
              <a:t>Reference flow (fall)</a:t>
            </a:r>
            <a:endParaRPr lang="en-US" sz="1250" dirty="0"/>
          </a:p>
        </p:txBody>
      </p:sp>
      <p:sp>
        <p:nvSpPr>
          <p:cNvPr id="14" name="Text 12"/>
          <p:cNvSpPr txBox="1"/>
          <p:nvPr/>
        </p:nvSpPr>
        <p:spPr>
          <a:xfrm>
            <a:off x="7315200" y="2267712"/>
            <a:ext cx="2194560" cy="411480"/>
          </a:xfrm>
          <a:prstGeom prst="rect">
            <a:avLst/>
          </a:prstGeom>
          <a:noFill/>
          <a:ln/>
        </p:spPr>
        <p:txBody>
          <a:bodyPr wrap="square" lIns="0" tIns="0" rIns="0" bIns="0" rtlCol="0" anchor="ctr"/>
          <a:lstStyle/>
          <a:p>
            <a:pPr indent="0" marL="0">
              <a:buNone/>
            </a:pPr>
            <a:r>
              <a:rPr lang="en-US" sz="1150" i="1" dirty="0">
                <a:solidFill>
                  <a:srgbClr val="6B6B73"/>
                </a:solidFill>
                <a:latin typeface="Calibri" pitchFamily="34" charset="0"/>
                <a:ea typeface="Calibri" pitchFamily="34" charset="-122"/>
                <a:cs typeface="Calibri" pitchFamily="34" charset="-120"/>
              </a:rPr>
              <a:t>Direct physical rerouting</a:t>
            </a:r>
            <a:endParaRPr lang="en-US" sz="1150" dirty="0"/>
          </a:p>
        </p:txBody>
      </p:sp>
      <p:sp>
        <p:nvSpPr>
          <p:cNvPr id="15" name="Text 13"/>
          <p:cNvSpPr txBox="1"/>
          <p:nvPr/>
        </p:nvSpPr>
        <p:spPr>
          <a:xfrm>
            <a:off x="9646920" y="2267712"/>
            <a:ext cx="1965960" cy="411480"/>
          </a:xfrm>
          <a:prstGeom prst="rect">
            <a:avLst/>
          </a:prstGeom>
          <a:noFill/>
          <a:ln/>
        </p:spPr>
        <p:txBody>
          <a:bodyPr wrap="square" lIns="0" tIns="0" rIns="0" bIns="0" rtlCol="0" anchor="ctr"/>
          <a:lstStyle/>
          <a:p>
            <a:pPr indent="0" marL="0">
              <a:buNone/>
            </a:pPr>
            <a:r>
              <a:rPr lang="en-US" sz="1050" b="1" dirty="0">
                <a:solidFill>
                  <a:srgbClr val="163C2C"/>
                </a:solidFill>
                <a:latin typeface="Calibri" pitchFamily="34" charset="0"/>
                <a:ea typeface="Calibri" pitchFamily="34" charset="-122"/>
                <a:cs typeface="Calibri" pitchFamily="34" charset="-120"/>
              </a:rPr>
              <a:t>Tested</a:t>
            </a:r>
            <a:endParaRPr lang="en-US" sz="1050" dirty="0"/>
          </a:p>
        </p:txBody>
      </p:sp>
      <p:sp>
        <p:nvSpPr>
          <p:cNvPr id="16" name="Shape 14"/>
          <p:cNvSpPr/>
          <p:nvPr/>
        </p:nvSpPr>
        <p:spPr>
          <a:xfrm>
            <a:off x="640080" y="2852928"/>
            <a:ext cx="10927080" cy="566928"/>
          </a:xfrm>
          <a:prstGeom prst="roundRect">
            <a:avLst>
              <a:gd name="adj" fmla="val 9677"/>
            </a:avLst>
          </a:prstGeom>
          <a:solidFill>
            <a:srgbClr val="FFFFFF"/>
          </a:solidFill>
          <a:ln/>
        </p:spPr>
      </p:sp>
      <p:sp>
        <p:nvSpPr>
          <p:cNvPr id="17" name="Shape 15"/>
          <p:cNvSpPr/>
          <p:nvPr/>
        </p:nvSpPr>
        <p:spPr>
          <a:xfrm>
            <a:off x="713232" y="2926080"/>
            <a:ext cx="457200" cy="457200"/>
          </a:xfrm>
          <a:prstGeom prst="ellipse">
            <a:avLst/>
          </a:prstGeom>
          <a:solidFill>
            <a:srgbClr val="163C2C"/>
          </a:solidFill>
          <a:ln/>
        </p:spPr>
      </p:sp>
      <p:sp>
        <p:nvSpPr>
          <p:cNvPr id="18" name="Text 16"/>
          <p:cNvSpPr txBox="1"/>
          <p:nvPr/>
        </p:nvSpPr>
        <p:spPr>
          <a:xfrm>
            <a:off x="713232" y="29260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H2</a:t>
            </a:r>
            <a:endParaRPr lang="en-US" sz="1300" dirty="0"/>
          </a:p>
        </p:txBody>
      </p:sp>
      <p:sp>
        <p:nvSpPr>
          <p:cNvPr id="19" name="Text 17"/>
          <p:cNvSpPr txBox="1"/>
          <p:nvPr/>
        </p:nvSpPr>
        <p:spPr>
          <a:xfrm>
            <a:off x="1417320" y="2926080"/>
            <a:ext cx="2377440" cy="411480"/>
          </a:xfrm>
          <a:prstGeom prst="rect">
            <a:avLst/>
          </a:prstGeom>
          <a:noFill/>
          <a:ln/>
        </p:spPr>
        <p:txBody>
          <a:bodyPr wrap="square" lIns="0" tIns="0" rIns="0" bIns="0" rtlCol="0" anchor="ctr"/>
          <a:lstStyle/>
          <a:p>
            <a:pPr indent="0" marL="0">
              <a:buNone/>
            </a:pPr>
            <a:r>
              <a:rPr lang="en-US" sz="1250" dirty="0">
                <a:solidFill>
                  <a:srgbClr val="18181B"/>
                </a:solidFill>
                <a:latin typeface="Calibri" pitchFamily="34" charset="0"/>
                <a:ea typeface="Calibri" pitchFamily="34" charset="-122"/>
                <a:cs typeface="Calibri" pitchFamily="34" charset="-120"/>
              </a:rPr>
              <a:t>AC line outages</a:t>
            </a:r>
            <a:endParaRPr lang="en-US" sz="1250" dirty="0"/>
          </a:p>
        </p:txBody>
      </p:sp>
      <p:sp>
        <p:nvSpPr>
          <p:cNvPr id="20" name="Text 18"/>
          <p:cNvSpPr txBox="1"/>
          <p:nvPr/>
        </p:nvSpPr>
        <p:spPr>
          <a:xfrm>
            <a:off x="3931920" y="2926080"/>
            <a:ext cx="457200" cy="411480"/>
          </a:xfrm>
          <a:prstGeom prst="rect">
            <a:avLst/>
          </a:prstGeom>
          <a:noFill/>
          <a:ln/>
        </p:spPr>
        <p:txBody>
          <a:bodyPr wrap="square" lIns="0" tIns="0" rIns="0" bIns="0" rtlCol="0" anchor="ctr"/>
          <a:lstStyle/>
          <a:p>
            <a:pPr algn="ctr" indent="0" marL="0">
              <a:buNone/>
            </a:pPr>
            <a:r>
              <a:rPr lang="en-US" sz="1300" dirty="0">
                <a:solidFill>
                  <a:srgbClr val="163C2C"/>
                </a:solidFill>
                <a:latin typeface="Calibri" pitchFamily="34" charset="0"/>
                <a:ea typeface="Calibri" pitchFamily="34" charset="-122"/>
                <a:cs typeface="Calibri" pitchFamily="34" charset="-120"/>
              </a:rPr>
              <a:t>→</a:t>
            </a:r>
            <a:endParaRPr lang="en-US" sz="1300" dirty="0"/>
          </a:p>
        </p:txBody>
      </p:sp>
      <p:sp>
        <p:nvSpPr>
          <p:cNvPr id="21" name="Text 19"/>
          <p:cNvSpPr txBox="1"/>
          <p:nvPr/>
        </p:nvSpPr>
        <p:spPr>
          <a:xfrm>
            <a:off x="4480560" y="2926080"/>
            <a:ext cx="2743200" cy="411480"/>
          </a:xfrm>
          <a:prstGeom prst="rect">
            <a:avLst/>
          </a:prstGeom>
          <a:noFill/>
          <a:ln/>
        </p:spPr>
        <p:txBody>
          <a:bodyPr wrap="square" lIns="0" tIns="0" rIns="0" bIns="0" rtlCol="0" anchor="ctr"/>
          <a:lstStyle/>
          <a:p>
            <a:pPr indent="0" marL="0">
              <a:buNone/>
            </a:pPr>
            <a:r>
              <a:rPr lang="en-US" sz="1250" b="1" dirty="0">
                <a:solidFill>
                  <a:srgbClr val="18181B"/>
                </a:solidFill>
                <a:latin typeface="Calibri" pitchFamily="34" charset="0"/>
                <a:ea typeface="Calibri" pitchFamily="34" charset="-122"/>
                <a:cs typeface="Calibri" pitchFamily="34" charset="-120"/>
              </a:rPr>
              <a:t>PTDF sensitivity</a:t>
            </a:r>
            <a:endParaRPr lang="en-US" sz="1250" dirty="0"/>
          </a:p>
        </p:txBody>
      </p:sp>
      <p:sp>
        <p:nvSpPr>
          <p:cNvPr id="22" name="Text 20"/>
          <p:cNvSpPr txBox="1"/>
          <p:nvPr/>
        </p:nvSpPr>
        <p:spPr>
          <a:xfrm>
            <a:off x="7315200" y="2926080"/>
            <a:ext cx="2194560" cy="411480"/>
          </a:xfrm>
          <a:prstGeom prst="rect">
            <a:avLst/>
          </a:prstGeom>
          <a:noFill/>
          <a:ln/>
        </p:spPr>
        <p:txBody>
          <a:bodyPr wrap="square" lIns="0" tIns="0" rIns="0" bIns="0" rtlCol="0" anchor="ctr"/>
          <a:lstStyle/>
          <a:p>
            <a:pPr indent="0" marL="0">
              <a:buNone/>
            </a:pPr>
            <a:r>
              <a:rPr lang="en-US" sz="1150" i="1" dirty="0">
                <a:solidFill>
                  <a:srgbClr val="6B6B73"/>
                </a:solidFill>
                <a:latin typeface="Calibri" pitchFamily="34" charset="0"/>
                <a:ea typeface="Calibri" pitchFamily="34" charset="-122"/>
                <a:cs typeface="Calibri" pitchFamily="34" charset="-120"/>
              </a:rPr>
              <a:t>Topology change</a:t>
            </a:r>
            <a:endParaRPr lang="en-US" sz="1150" dirty="0"/>
          </a:p>
        </p:txBody>
      </p:sp>
      <p:sp>
        <p:nvSpPr>
          <p:cNvPr id="23" name="Text 21"/>
          <p:cNvSpPr txBox="1"/>
          <p:nvPr/>
        </p:nvSpPr>
        <p:spPr>
          <a:xfrm>
            <a:off x="9646920" y="2926080"/>
            <a:ext cx="1965960" cy="411480"/>
          </a:xfrm>
          <a:prstGeom prst="rect">
            <a:avLst/>
          </a:prstGeom>
          <a:noFill/>
          <a:ln/>
        </p:spPr>
        <p:txBody>
          <a:bodyPr wrap="square" lIns="0" tIns="0" rIns="0" bIns="0" rtlCol="0" anchor="ctr"/>
          <a:lstStyle/>
          <a:p>
            <a:pPr indent="0" marL="0">
              <a:buNone/>
            </a:pPr>
            <a:r>
              <a:rPr lang="en-US" sz="1050" b="1" dirty="0">
                <a:solidFill>
                  <a:srgbClr val="163C2C"/>
                </a:solidFill>
                <a:latin typeface="Calibri" pitchFamily="34" charset="0"/>
                <a:ea typeface="Calibri" pitchFamily="34" charset="-122"/>
                <a:cs typeface="Calibri" pitchFamily="34" charset="-120"/>
              </a:rPr>
              <a:t>Tested</a:t>
            </a:r>
            <a:endParaRPr lang="en-US" sz="1050" dirty="0"/>
          </a:p>
        </p:txBody>
      </p:sp>
      <p:sp>
        <p:nvSpPr>
          <p:cNvPr id="24" name="Shape 22"/>
          <p:cNvSpPr/>
          <p:nvPr/>
        </p:nvSpPr>
        <p:spPr>
          <a:xfrm>
            <a:off x="640080" y="3511296"/>
            <a:ext cx="10927080" cy="566928"/>
          </a:xfrm>
          <a:prstGeom prst="roundRect">
            <a:avLst>
              <a:gd name="adj" fmla="val 9677"/>
            </a:avLst>
          </a:prstGeom>
          <a:solidFill>
            <a:srgbClr val="EEF0F4"/>
          </a:solidFill>
          <a:ln/>
        </p:spPr>
      </p:sp>
      <p:sp>
        <p:nvSpPr>
          <p:cNvPr id="25" name="Shape 23"/>
          <p:cNvSpPr/>
          <p:nvPr/>
        </p:nvSpPr>
        <p:spPr>
          <a:xfrm>
            <a:off x="713232" y="3584448"/>
            <a:ext cx="457200" cy="457200"/>
          </a:xfrm>
          <a:prstGeom prst="ellipse">
            <a:avLst/>
          </a:prstGeom>
          <a:solidFill>
            <a:srgbClr val="163C2C"/>
          </a:solidFill>
          <a:ln/>
        </p:spPr>
      </p:sp>
      <p:sp>
        <p:nvSpPr>
          <p:cNvPr id="26" name="Text 24"/>
          <p:cNvSpPr txBox="1"/>
          <p:nvPr/>
        </p:nvSpPr>
        <p:spPr>
          <a:xfrm>
            <a:off x="713232" y="35844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H3</a:t>
            </a:r>
            <a:endParaRPr lang="en-US" sz="1300" dirty="0"/>
          </a:p>
        </p:txBody>
      </p:sp>
      <p:sp>
        <p:nvSpPr>
          <p:cNvPr id="27" name="Text 25"/>
          <p:cNvSpPr txBox="1"/>
          <p:nvPr/>
        </p:nvSpPr>
        <p:spPr>
          <a:xfrm>
            <a:off x="1417320" y="3584448"/>
            <a:ext cx="2377440" cy="411480"/>
          </a:xfrm>
          <a:prstGeom prst="rect">
            <a:avLst/>
          </a:prstGeom>
          <a:noFill/>
          <a:ln/>
        </p:spPr>
        <p:txBody>
          <a:bodyPr wrap="square" lIns="0" tIns="0" rIns="0" bIns="0" rtlCol="0" anchor="ctr"/>
          <a:lstStyle/>
          <a:p>
            <a:pPr indent="0" marL="0">
              <a:buNone/>
            </a:pPr>
            <a:r>
              <a:rPr lang="en-US" sz="1250" dirty="0">
                <a:solidFill>
                  <a:srgbClr val="18181B"/>
                </a:solidFill>
                <a:latin typeface="Calibri" pitchFamily="34" charset="0"/>
                <a:ea typeface="Calibri" pitchFamily="34" charset="-122"/>
                <a:cs typeface="Calibri" pitchFamily="34" charset="-120"/>
              </a:rPr>
              <a:t>Forced outages</a:t>
            </a:r>
            <a:endParaRPr lang="en-US" sz="1250" dirty="0"/>
          </a:p>
        </p:txBody>
      </p:sp>
      <p:sp>
        <p:nvSpPr>
          <p:cNvPr id="28" name="Text 26"/>
          <p:cNvSpPr txBox="1"/>
          <p:nvPr/>
        </p:nvSpPr>
        <p:spPr>
          <a:xfrm>
            <a:off x="3931920" y="3584448"/>
            <a:ext cx="457200" cy="411480"/>
          </a:xfrm>
          <a:prstGeom prst="rect">
            <a:avLst/>
          </a:prstGeom>
          <a:noFill/>
          <a:ln/>
        </p:spPr>
        <p:txBody>
          <a:bodyPr wrap="square" lIns="0" tIns="0" rIns="0" bIns="0" rtlCol="0" anchor="ctr"/>
          <a:lstStyle/>
          <a:p>
            <a:pPr algn="ctr" indent="0" marL="0">
              <a:buNone/>
            </a:pPr>
            <a:r>
              <a:rPr lang="en-US" sz="1300" dirty="0">
                <a:solidFill>
                  <a:srgbClr val="163C2C"/>
                </a:solidFill>
                <a:latin typeface="Calibri" pitchFamily="34" charset="0"/>
                <a:ea typeface="Calibri" pitchFamily="34" charset="-122"/>
                <a:cs typeface="Calibri" pitchFamily="34" charset="-120"/>
              </a:rPr>
              <a:t>→</a:t>
            </a:r>
            <a:endParaRPr lang="en-US" sz="1300" dirty="0"/>
          </a:p>
        </p:txBody>
      </p:sp>
      <p:sp>
        <p:nvSpPr>
          <p:cNvPr id="29" name="Text 27"/>
          <p:cNvSpPr txBox="1"/>
          <p:nvPr/>
        </p:nvSpPr>
        <p:spPr>
          <a:xfrm>
            <a:off x="4480560" y="3584448"/>
            <a:ext cx="2743200" cy="411480"/>
          </a:xfrm>
          <a:prstGeom prst="rect">
            <a:avLst/>
          </a:prstGeom>
          <a:noFill/>
          <a:ln/>
        </p:spPr>
        <p:txBody>
          <a:bodyPr wrap="square" lIns="0" tIns="0" rIns="0" bIns="0" rtlCol="0" anchor="ctr"/>
          <a:lstStyle/>
          <a:p>
            <a:pPr indent="0" marL="0">
              <a:buNone/>
            </a:pPr>
            <a:r>
              <a:rPr lang="en-US" sz="1250" b="1" dirty="0">
                <a:solidFill>
                  <a:srgbClr val="18181B"/>
                </a:solidFill>
                <a:latin typeface="Calibri" pitchFamily="34" charset="0"/>
                <a:ea typeface="Calibri" pitchFamily="34" charset="-122"/>
                <a:cs typeface="Calibri" pitchFamily="34" charset="-120"/>
              </a:rPr>
              <a:t>RAM (combined)</a:t>
            </a:r>
            <a:endParaRPr lang="en-US" sz="1250" dirty="0"/>
          </a:p>
        </p:txBody>
      </p:sp>
      <p:sp>
        <p:nvSpPr>
          <p:cNvPr id="30" name="Text 28"/>
          <p:cNvSpPr txBox="1"/>
          <p:nvPr/>
        </p:nvSpPr>
        <p:spPr>
          <a:xfrm>
            <a:off x="7315200" y="3584448"/>
            <a:ext cx="2194560" cy="411480"/>
          </a:xfrm>
          <a:prstGeom prst="rect">
            <a:avLst/>
          </a:prstGeom>
          <a:noFill/>
          <a:ln/>
        </p:spPr>
        <p:txBody>
          <a:bodyPr wrap="square" lIns="0" tIns="0" rIns="0" bIns="0" rtlCol="0" anchor="ctr"/>
          <a:lstStyle/>
          <a:p>
            <a:pPr indent="0" marL="0">
              <a:buNone/>
            </a:pPr>
            <a:r>
              <a:rPr lang="en-US" sz="1150" i="1" dirty="0">
                <a:solidFill>
                  <a:srgbClr val="6B6B73"/>
                </a:solidFill>
                <a:latin typeface="Calibri" pitchFamily="34" charset="0"/>
                <a:ea typeface="Calibri" pitchFamily="34" charset="-122"/>
                <a:cs typeface="Calibri" pitchFamily="34" charset="-120"/>
              </a:rPr>
              <a:t>Net capacity impact</a:t>
            </a:r>
            <a:endParaRPr lang="en-US" sz="1150" dirty="0"/>
          </a:p>
        </p:txBody>
      </p:sp>
      <p:sp>
        <p:nvSpPr>
          <p:cNvPr id="31" name="Text 29"/>
          <p:cNvSpPr txBox="1"/>
          <p:nvPr/>
        </p:nvSpPr>
        <p:spPr>
          <a:xfrm>
            <a:off x="9646920" y="3584448"/>
            <a:ext cx="1965960" cy="411480"/>
          </a:xfrm>
          <a:prstGeom prst="rect">
            <a:avLst/>
          </a:prstGeom>
          <a:noFill/>
          <a:ln/>
        </p:spPr>
        <p:txBody>
          <a:bodyPr wrap="square" lIns="0" tIns="0" rIns="0" bIns="0" rtlCol="0" anchor="ctr"/>
          <a:lstStyle/>
          <a:p>
            <a:pPr indent="0" marL="0">
              <a:buNone/>
            </a:pPr>
            <a:r>
              <a:rPr lang="en-US" sz="1050" b="1" dirty="0">
                <a:solidFill>
                  <a:srgbClr val="163C2C"/>
                </a:solidFill>
                <a:latin typeface="Calibri" pitchFamily="34" charset="0"/>
                <a:ea typeface="Calibri" pitchFamily="34" charset="-122"/>
                <a:cs typeface="Calibri" pitchFamily="34" charset="-120"/>
              </a:rPr>
              <a:t>Tested</a:t>
            </a:r>
            <a:endParaRPr lang="en-US" sz="1050" dirty="0"/>
          </a:p>
        </p:txBody>
      </p:sp>
      <p:sp>
        <p:nvSpPr>
          <p:cNvPr id="32" name="Shape 30"/>
          <p:cNvSpPr/>
          <p:nvPr/>
        </p:nvSpPr>
        <p:spPr>
          <a:xfrm>
            <a:off x="640080" y="4169664"/>
            <a:ext cx="10927080" cy="566928"/>
          </a:xfrm>
          <a:prstGeom prst="roundRect">
            <a:avLst>
              <a:gd name="adj" fmla="val 9677"/>
            </a:avLst>
          </a:prstGeom>
          <a:solidFill>
            <a:srgbClr val="FFFFFF"/>
          </a:solidFill>
          <a:ln/>
        </p:spPr>
      </p:sp>
      <p:sp>
        <p:nvSpPr>
          <p:cNvPr id="33" name="Shape 31"/>
          <p:cNvSpPr/>
          <p:nvPr/>
        </p:nvSpPr>
        <p:spPr>
          <a:xfrm>
            <a:off x="713232" y="4242816"/>
            <a:ext cx="457200" cy="457200"/>
          </a:xfrm>
          <a:prstGeom prst="ellipse">
            <a:avLst/>
          </a:prstGeom>
          <a:solidFill>
            <a:srgbClr val="163C2C"/>
          </a:solidFill>
          <a:ln/>
        </p:spPr>
      </p:sp>
      <p:sp>
        <p:nvSpPr>
          <p:cNvPr id="34" name="Text 32"/>
          <p:cNvSpPr txBox="1"/>
          <p:nvPr/>
        </p:nvSpPr>
        <p:spPr>
          <a:xfrm>
            <a:off x="713232" y="424281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H4</a:t>
            </a:r>
            <a:endParaRPr lang="en-US" sz="1300" dirty="0"/>
          </a:p>
        </p:txBody>
      </p:sp>
      <p:sp>
        <p:nvSpPr>
          <p:cNvPr id="35" name="Text 33"/>
          <p:cNvSpPr txBox="1"/>
          <p:nvPr/>
        </p:nvSpPr>
        <p:spPr>
          <a:xfrm>
            <a:off x="1417320" y="4242816"/>
            <a:ext cx="2377440" cy="411480"/>
          </a:xfrm>
          <a:prstGeom prst="rect">
            <a:avLst/>
          </a:prstGeom>
          <a:noFill/>
          <a:ln/>
        </p:spPr>
        <p:txBody>
          <a:bodyPr wrap="square" lIns="0" tIns="0" rIns="0" bIns="0" rtlCol="0" anchor="ctr"/>
          <a:lstStyle/>
          <a:p>
            <a:pPr indent="0" marL="0">
              <a:buNone/>
            </a:pPr>
            <a:r>
              <a:rPr lang="en-US" sz="1250" dirty="0">
                <a:solidFill>
                  <a:srgbClr val="18181B"/>
                </a:solidFill>
                <a:latin typeface="Calibri" pitchFamily="34" charset="0"/>
                <a:ea typeface="Calibri" pitchFamily="34" charset="-122"/>
                <a:cs typeface="Calibri" pitchFamily="34" charset="-120"/>
              </a:rPr>
              <a:t>Forced outages</a:t>
            </a:r>
            <a:endParaRPr lang="en-US" sz="1250" dirty="0"/>
          </a:p>
        </p:txBody>
      </p:sp>
      <p:sp>
        <p:nvSpPr>
          <p:cNvPr id="36" name="Text 34"/>
          <p:cNvSpPr txBox="1"/>
          <p:nvPr/>
        </p:nvSpPr>
        <p:spPr>
          <a:xfrm>
            <a:off x="3931920" y="4242816"/>
            <a:ext cx="457200" cy="411480"/>
          </a:xfrm>
          <a:prstGeom prst="rect">
            <a:avLst/>
          </a:prstGeom>
          <a:noFill/>
          <a:ln/>
        </p:spPr>
        <p:txBody>
          <a:bodyPr wrap="square" lIns="0" tIns="0" rIns="0" bIns="0" rtlCol="0" anchor="ctr"/>
          <a:lstStyle/>
          <a:p>
            <a:pPr algn="ctr" indent="0" marL="0">
              <a:buNone/>
            </a:pPr>
            <a:r>
              <a:rPr lang="en-US" sz="1300" dirty="0">
                <a:solidFill>
                  <a:srgbClr val="163C2C"/>
                </a:solidFill>
                <a:latin typeface="Calibri" pitchFamily="34" charset="0"/>
                <a:ea typeface="Calibri" pitchFamily="34" charset="-122"/>
                <a:cs typeface="Calibri" pitchFamily="34" charset="-120"/>
              </a:rPr>
              <a:t>→</a:t>
            </a:r>
            <a:endParaRPr lang="en-US" sz="1300" dirty="0"/>
          </a:p>
        </p:txBody>
      </p:sp>
      <p:sp>
        <p:nvSpPr>
          <p:cNvPr id="37" name="Text 35"/>
          <p:cNvSpPr txBox="1"/>
          <p:nvPr/>
        </p:nvSpPr>
        <p:spPr>
          <a:xfrm>
            <a:off x="4480560" y="4242816"/>
            <a:ext cx="2743200" cy="411480"/>
          </a:xfrm>
          <a:prstGeom prst="rect">
            <a:avLst/>
          </a:prstGeom>
          <a:noFill/>
          <a:ln/>
        </p:spPr>
        <p:txBody>
          <a:bodyPr wrap="square" lIns="0" tIns="0" rIns="0" bIns="0" rtlCol="0" anchor="ctr"/>
          <a:lstStyle/>
          <a:p>
            <a:pPr indent="0" marL="0">
              <a:buNone/>
            </a:pPr>
            <a:r>
              <a:rPr lang="en-US" sz="1250" b="1" dirty="0">
                <a:solidFill>
                  <a:srgbClr val="18181B"/>
                </a:solidFill>
                <a:latin typeface="Calibri" pitchFamily="34" charset="0"/>
                <a:ea typeface="Calibri" pitchFamily="34" charset="-122"/>
                <a:cs typeface="Calibri" pitchFamily="34" charset="-120"/>
              </a:rPr>
              <a:t>Shadow price</a:t>
            </a:r>
            <a:endParaRPr lang="en-US" sz="1250" dirty="0"/>
          </a:p>
        </p:txBody>
      </p:sp>
      <p:sp>
        <p:nvSpPr>
          <p:cNvPr id="38" name="Text 36"/>
          <p:cNvSpPr txBox="1"/>
          <p:nvPr/>
        </p:nvSpPr>
        <p:spPr>
          <a:xfrm>
            <a:off x="7315200" y="4242816"/>
            <a:ext cx="2194560" cy="411480"/>
          </a:xfrm>
          <a:prstGeom prst="rect">
            <a:avLst/>
          </a:prstGeom>
          <a:noFill/>
          <a:ln/>
        </p:spPr>
        <p:txBody>
          <a:bodyPr wrap="square" lIns="0" tIns="0" rIns="0" bIns="0" rtlCol="0" anchor="ctr"/>
          <a:lstStyle/>
          <a:p>
            <a:pPr indent="0" marL="0">
              <a:buNone/>
            </a:pPr>
            <a:r>
              <a:rPr lang="en-US" sz="1150" i="1" dirty="0">
                <a:solidFill>
                  <a:srgbClr val="6B6B73"/>
                </a:solidFill>
                <a:latin typeface="Calibri" pitchFamily="34" charset="0"/>
                <a:ea typeface="Calibri" pitchFamily="34" charset="-122"/>
                <a:cs typeface="Calibri" pitchFamily="34" charset="-120"/>
              </a:rPr>
              <a:t>Binding-constraint cost</a:t>
            </a:r>
            <a:endParaRPr lang="en-US" sz="1150" dirty="0"/>
          </a:p>
        </p:txBody>
      </p:sp>
      <p:sp>
        <p:nvSpPr>
          <p:cNvPr id="39" name="Text 37"/>
          <p:cNvSpPr txBox="1"/>
          <p:nvPr/>
        </p:nvSpPr>
        <p:spPr>
          <a:xfrm>
            <a:off x="9646920" y="4242816"/>
            <a:ext cx="1965960" cy="411480"/>
          </a:xfrm>
          <a:prstGeom prst="rect">
            <a:avLst/>
          </a:prstGeom>
          <a:noFill/>
          <a:ln/>
        </p:spPr>
        <p:txBody>
          <a:bodyPr wrap="square" lIns="0" tIns="0" rIns="0" bIns="0" rtlCol="0" anchor="ctr"/>
          <a:lstStyle/>
          <a:p>
            <a:pPr indent="0" marL="0">
              <a:buNone/>
            </a:pPr>
            <a:r>
              <a:rPr lang="en-US" sz="1050" b="1" dirty="0">
                <a:solidFill>
                  <a:srgbClr val="163C2C"/>
                </a:solidFill>
                <a:latin typeface="Calibri" pitchFamily="34" charset="0"/>
                <a:ea typeface="Calibri" pitchFamily="34" charset="-122"/>
                <a:cs typeface="Calibri" pitchFamily="34" charset="-120"/>
              </a:rPr>
              <a:t>Tested</a:t>
            </a:r>
            <a:endParaRPr lang="en-US" sz="1050" dirty="0"/>
          </a:p>
        </p:txBody>
      </p:sp>
      <p:sp>
        <p:nvSpPr>
          <p:cNvPr id="40" name="Shape 38"/>
          <p:cNvSpPr/>
          <p:nvPr/>
        </p:nvSpPr>
        <p:spPr>
          <a:xfrm>
            <a:off x="640080" y="4828032"/>
            <a:ext cx="10927080" cy="566928"/>
          </a:xfrm>
          <a:prstGeom prst="roundRect">
            <a:avLst>
              <a:gd name="adj" fmla="val 9677"/>
            </a:avLst>
          </a:prstGeom>
          <a:solidFill>
            <a:srgbClr val="EEF0F4"/>
          </a:solidFill>
          <a:ln/>
        </p:spPr>
      </p:sp>
      <p:sp>
        <p:nvSpPr>
          <p:cNvPr id="41" name="Shape 39"/>
          <p:cNvSpPr/>
          <p:nvPr/>
        </p:nvSpPr>
        <p:spPr>
          <a:xfrm>
            <a:off x="713232" y="4901184"/>
            <a:ext cx="457200" cy="457200"/>
          </a:xfrm>
          <a:prstGeom prst="ellipse">
            <a:avLst/>
          </a:prstGeom>
          <a:solidFill>
            <a:srgbClr val="163C2C"/>
          </a:solidFill>
          <a:ln/>
        </p:spPr>
      </p:sp>
      <p:sp>
        <p:nvSpPr>
          <p:cNvPr id="42" name="Text 40"/>
          <p:cNvSpPr txBox="1"/>
          <p:nvPr/>
        </p:nvSpPr>
        <p:spPr>
          <a:xfrm>
            <a:off x="713232" y="49011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H5</a:t>
            </a:r>
            <a:endParaRPr lang="en-US" sz="1300" dirty="0"/>
          </a:p>
        </p:txBody>
      </p:sp>
      <p:sp>
        <p:nvSpPr>
          <p:cNvPr id="43" name="Text 41"/>
          <p:cNvSpPr txBox="1"/>
          <p:nvPr/>
        </p:nvSpPr>
        <p:spPr>
          <a:xfrm>
            <a:off x="1417320" y="4901184"/>
            <a:ext cx="2377440" cy="411480"/>
          </a:xfrm>
          <a:prstGeom prst="rect">
            <a:avLst/>
          </a:prstGeom>
          <a:noFill/>
          <a:ln/>
        </p:spPr>
        <p:txBody>
          <a:bodyPr wrap="square" lIns="0" tIns="0" rIns="0" bIns="0" rtlCol="0" anchor="ctr"/>
          <a:lstStyle/>
          <a:p>
            <a:pPr indent="0" marL="0">
              <a:buNone/>
            </a:pPr>
            <a:r>
              <a:rPr lang="en-US" sz="1250" dirty="0">
                <a:solidFill>
                  <a:srgbClr val="18181B"/>
                </a:solidFill>
                <a:latin typeface="Calibri" pitchFamily="34" charset="0"/>
                <a:ea typeface="Calibri" pitchFamily="34" charset="-122"/>
                <a:cs typeface="Calibri" pitchFamily="34" charset="-120"/>
              </a:rPr>
              <a:t>Outage type</a:t>
            </a:r>
            <a:endParaRPr lang="en-US" sz="1250" dirty="0"/>
          </a:p>
        </p:txBody>
      </p:sp>
      <p:sp>
        <p:nvSpPr>
          <p:cNvPr id="44" name="Text 42"/>
          <p:cNvSpPr txBox="1"/>
          <p:nvPr/>
        </p:nvSpPr>
        <p:spPr>
          <a:xfrm>
            <a:off x="3931920" y="4901184"/>
            <a:ext cx="457200" cy="411480"/>
          </a:xfrm>
          <a:prstGeom prst="rect">
            <a:avLst/>
          </a:prstGeom>
          <a:noFill/>
          <a:ln/>
        </p:spPr>
        <p:txBody>
          <a:bodyPr wrap="square" lIns="0" tIns="0" rIns="0" bIns="0" rtlCol="0" anchor="ctr"/>
          <a:lstStyle/>
          <a:p>
            <a:pPr algn="ctr" indent="0" marL="0">
              <a:buNone/>
            </a:pPr>
            <a:r>
              <a:rPr lang="en-US" sz="1300" dirty="0">
                <a:solidFill>
                  <a:srgbClr val="163C2C"/>
                </a:solidFill>
                <a:latin typeface="Calibri" pitchFamily="34" charset="0"/>
                <a:ea typeface="Calibri" pitchFamily="34" charset="-122"/>
                <a:cs typeface="Calibri" pitchFamily="34" charset="-120"/>
              </a:rPr>
              <a:t>→</a:t>
            </a:r>
            <a:endParaRPr lang="en-US" sz="1300" dirty="0"/>
          </a:p>
        </p:txBody>
      </p:sp>
      <p:sp>
        <p:nvSpPr>
          <p:cNvPr id="45" name="Text 43"/>
          <p:cNvSpPr txBox="1"/>
          <p:nvPr/>
        </p:nvSpPr>
        <p:spPr>
          <a:xfrm>
            <a:off x="4480560" y="4901184"/>
            <a:ext cx="2743200" cy="411480"/>
          </a:xfrm>
          <a:prstGeom prst="rect">
            <a:avLst/>
          </a:prstGeom>
          <a:noFill/>
          <a:ln/>
        </p:spPr>
        <p:txBody>
          <a:bodyPr wrap="square" lIns="0" tIns="0" rIns="0" bIns="0" rtlCol="0" anchor="ctr"/>
          <a:lstStyle/>
          <a:p>
            <a:pPr indent="0" marL="0">
              <a:buNone/>
            </a:pPr>
            <a:r>
              <a:rPr lang="en-US" sz="1250" b="1" dirty="0">
                <a:solidFill>
                  <a:srgbClr val="18181B"/>
                </a:solidFill>
                <a:latin typeface="Calibri" pitchFamily="34" charset="0"/>
                <a:ea typeface="Calibri" pitchFamily="34" charset="-122"/>
                <a:cs typeface="Calibri" pitchFamily="34" charset="-120"/>
              </a:rPr>
              <a:t>IVA (logit)</a:t>
            </a:r>
            <a:endParaRPr lang="en-US" sz="1250" dirty="0"/>
          </a:p>
        </p:txBody>
      </p:sp>
      <p:sp>
        <p:nvSpPr>
          <p:cNvPr id="46" name="Text 44"/>
          <p:cNvSpPr txBox="1"/>
          <p:nvPr/>
        </p:nvSpPr>
        <p:spPr>
          <a:xfrm>
            <a:off x="7315200" y="4901184"/>
            <a:ext cx="2194560" cy="411480"/>
          </a:xfrm>
          <a:prstGeom prst="rect">
            <a:avLst/>
          </a:prstGeom>
          <a:noFill/>
          <a:ln/>
        </p:spPr>
        <p:txBody>
          <a:bodyPr wrap="square" lIns="0" tIns="0" rIns="0" bIns="0" rtlCol="0" anchor="ctr"/>
          <a:lstStyle/>
          <a:p>
            <a:pPr indent="0" marL="0">
              <a:buNone/>
            </a:pPr>
            <a:r>
              <a:rPr lang="en-US" sz="1150" i="1" dirty="0">
                <a:solidFill>
                  <a:srgbClr val="6B6B73"/>
                </a:solidFill>
                <a:latin typeface="Calibri" pitchFamily="34" charset="0"/>
                <a:ea typeface="Calibri" pitchFamily="34" charset="-122"/>
                <a:cs typeface="Calibri" pitchFamily="34" charset="-120"/>
              </a:rPr>
              <a:t>TSO discretionary use</a:t>
            </a:r>
            <a:endParaRPr lang="en-US" sz="1150" dirty="0"/>
          </a:p>
        </p:txBody>
      </p:sp>
      <p:sp>
        <p:nvSpPr>
          <p:cNvPr id="47" name="Text 45"/>
          <p:cNvSpPr txBox="1"/>
          <p:nvPr/>
        </p:nvSpPr>
        <p:spPr>
          <a:xfrm>
            <a:off x="9646920" y="4901184"/>
            <a:ext cx="1965960" cy="411480"/>
          </a:xfrm>
          <a:prstGeom prst="rect">
            <a:avLst/>
          </a:prstGeom>
          <a:noFill/>
          <a:ln/>
        </p:spPr>
        <p:txBody>
          <a:bodyPr wrap="square" lIns="0" tIns="0" rIns="0" bIns="0" rtlCol="0" anchor="ctr"/>
          <a:lstStyle/>
          <a:p>
            <a:pPr indent="0" marL="0">
              <a:buNone/>
            </a:pPr>
            <a:r>
              <a:rPr lang="en-US" sz="1050" b="1" dirty="0">
                <a:solidFill>
                  <a:srgbClr val="163C2C"/>
                </a:solidFill>
                <a:latin typeface="Calibri" pitchFamily="34" charset="0"/>
                <a:ea typeface="Calibri" pitchFamily="34" charset="-122"/>
                <a:cs typeface="Calibri" pitchFamily="34" charset="-120"/>
              </a:rPr>
              <a:t>Tested</a:t>
            </a:r>
            <a:endParaRPr lang="en-US" sz="1050" dirty="0"/>
          </a:p>
        </p:txBody>
      </p:sp>
      <p:sp>
        <p:nvSpPr>
          <p:cNvPr id="48" name="Shape 46"/>
          <p:cNvSpPr/>
          <p:nvPr/>
        </p:nvSpPr>
        <p:spPr>
          <a:xfrm>
            <a:off x="640080" y="5486400"/>
            <a:ext cx="10927080" cy="566928"/>
          </a:xfrm>
          <a:prstGeom prst="roundRect">
            <a:avLst>
              <a:gd name="adj" fmla="val 9677"/>
            </a:avLst>
          </a:prstGeom>
          <a:solidFill>
            <a:srgbClr val="FFFFFF"/>
          </a:solidFill>
          <a:ln/>
        </p:spPr>
      </p:sp>
      <p:sp>
        <p:nvSpPr>
          <p:cNvPr id="49" name="Shape 47"/>
          <p:cNvSpPr/>
          <p:nvPr/>
        </p:nvSpPr>
        <p:spPr>
          <a:xfrm>
            <a:off x="713232" y="5559552"/>
            <a:ext cx="457200" cy="457200"/>
          </a:xfrm>
          <a:prstGeom prst="ellipse">
            <a:avLst/>
          </a:prstGeom>
          <a:solidFill>
            <a:srgbClr val="6B6B73"/>
          </a:solidFill>
          <a:ln/>
        </p:spPr>
      </p:sp>
      <p:sp>
        <p:nvSpPr>
          <p:cNvPr id="50" name="Text 48"/>
          <p:cNvSpPr txBox="1"/>
          <p:nvPr/>
        </p:nvSpPr>
        <p:spPr>
          <a:xfrm>
            <a:off x="713232" y="55595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H6</a:t>
            </a:r>
            <a:endParaRPr lang="en-US" sz="1300" dirty="0"/>
          </a:p>
        </p:txBody>
      </p:sp>
      <p:sp>
        <p:nvSpPr>
          <p:cNvPr id="51" name="Text 49"/>
          <p:cNvSpPr txBox="1"/>
          <p:nvPr/>
        </p:nvSpPr>
        <p:spPr>
          <a:xfrm>
            <a:off x="1417320" y="5559552"/>
            <a:ext cx="2377440" cy="411480"/>
          </a:xfrm>
          <a:prstGeom prst="rect">
            <a:avLst/>
          </a:prstGeom>
          <a:noFill/>
          <a:ln/>
        </p:spPr>
        <p:txBody>
          <a:bodyPr wrap="square" lIns="0" tIns="0" rIns="0" bIns="0" rtlCol="0" anchor="ctr"/>
          <a:lstStyle/>
          <a:p>
            <a:pPr indent="0" marL="0">
              <a:buNone/>
            </a:pPr>
            <a:r>
              <a:rPr lang="en-US" sz="1250" dirty="0">
                <a:solidFill>
                  <a:srgbClr val="18181B"/>
                </a:solidFill>
                <a:latin typeface="Calibri" pitchFamily="34" charset="0"/>
                <a:ea typeface="Calibri" pitchFamily="34" charset="-122"/>
                <a:cs typeface="Calibri" pitchFamily="34" charset="-120"/>
              </a:rPr>
              <a:t>Any outage</a:t>
            </a:r>
            <a:endParaRPr lang="en-US" sz="1250" dirty="0"/>
          </a:p>
        </p:txBody>
      </p:sp>
      <p:sp>
        <p:nvSpPr>
          <p:cNvPr id="52" name="Text 50"/>
          <p:cNvSpPr txBox="1"/>
          <p:nvPr/>
        </p:nvSpPr>
        <p:spPr>
          <a:xfrm>
            <a:off x="3931920" y="5559552"/>
            <a:ext cx="457200" cy="411480"/>
          </a:xfrm>
          <a:prstGeom prst="rect">
            <a:avLst/>
          </a:prstGeom>
          <a:noFill/>
          <a:ln/>
        </p:spPr>
        <p:txBody>
          <a:bodyPr wrap="square" lIns="0" tIns="0" rIns="0" bIns="0" rtlCol="0" anchor="ctr"/>
          <a:lstStyle/>
          <a:p>
            <a:pPr algn="ctr" indent="0" marL="0">
              <a:buNone/>
            </a:pPr>
            <a:r>
              <a:rPr lang="en-US" sz="1300" dirty="0">
                <a:solidFill>
                  <a:srgbClr val="163C2C"/>
                </a:solidFill>
                <a:latin typeface="Calibri" pitchFamily="34" charset="0"/>
                <a:ea typeface="Calibri" pitchFamily="34" charset="-122"/>
                <a:cs typeface="Calibri" pitchFamily="34" charset="-120"/>
              </a:rPr>
              <a:t>→</a:t>
            </a:r>
            <a:endParaRPr lang="en-US" sz="1300" dirty="0"/>
          </a:p>
        </p:txBody>
      </p:sp>
      <p:sp>
        <p:nvSpPr>
          <p:cNvPr id="53" name="Text 51"/>
          <p:cNvSpPr txBox="1"/>
          <p:nvPr/>
        </p:nvSpPr>
        <p:spPr>
          <a:xfrm>
            <a:off x="4480560" y="5559552"/>
            <a:ext cx="2743200" cy="411480"/>
          </a:xfrm>
          <a:prstGeom prst="rect">
            <a:avLst/>
          </a:prstGeom>
          <a:noFill/>
          <a:ln/>
        </p:spPr>
        <p:txBody>
          <a:bodyPr wrap="square" lIns="0" tIns="0" rIns="0" bIns="0" rtlCol="0" anchor="ctr"/>
          <a:lstStyle/>
          <a:p>
            <a:pPr indent="0" marL="0">
              <a:buNone/>
            </a:pPr>
            <a:r>
              <a:rPr lang="en-US" sz="1250" b="1" dirty="0">
                <a:solidFill>
                  <a:srgbClr val="18181B"/>
                </a:solidFill>
                <a:latin typeface="Calibri" pitchFamily="34" charset="0"/>
                <a:ea typeface="Calibri" pitchFamily="34" charset="-122"/>
                <a:cs typeface="Calibri" pitchFamily="34" charset="-120"/>
              </a:rPr>
              <a:t>FRM (placebo)</a:t>
            </a:r>
            <a:endParaRPr lang="en-US" sz="1250" dirty="0"/>
          </a:p>
        </p:txBody>
      </p:sp>
      <p:sp>
        <p:nvSpPr>
          <p:cNvPr id="54" name="Text 52"/>
          <p:cNvSpPr txBox="1"/>
          <p:nvPr/>
        </p:nvSpPr>
        <p:spPr>
          <a:xfrm>
            <a:off x="7315200" y="5559552"/>
            <a:ext cx="2194560" cy="411480"/>
          </a:xfrm>
          <a:prstGeom prst="rect">
            <a:avLst/>
          </a:prstGeom>
          <a:noFill/>
          <a:ln/>
        </p:spPr>
        <p:txBody>
          <a:bodyPr wrap="square" lIns="0" tIns="0" rIns="0" bIns="0" rtlCol="0" anchor="ctr"/>
          <a:lstStyle/>
          <a:p>
            <a:pPr indent="0" marL="0">
              <a:buNone/>
            </a:pPr>
            <a:r>
              <a:rPr lang="en-US" sz="1150" i="1" dirty="0">
                <a:solidFill>
                  <a:srgbClr val="6B6B73"/>
                </a:solidFill>
                <a:latin typeface="Calibri" pitchFamily="34" charset="0"/>
                <a:ea typeface="Calibri" pitchFamily="34" charset="-122"/>
                <a:cs typeface="Calibri" pitchFamily="34" charset="-120"/>
              </a:rPr>
              <a:t>Should show NO effect</a:t>
            </a:r>
            <a:endParaRPr lang="en-US" sz="1150" dirty="0"/>
          </a:p>
        </p:txBody>
      </p:sp>
      <p:sp>
        <p:nvSpPr>
          <p:cNvPr id="55" name="Text 53"/>
          <p:cNvSpPr txBox="1"/>
          <p:nvPr/>
        </p:nvSpPr>
        <p:spPr>
          <a:xfrm>
            <a:off x="9646920" y="5559552"/>
            <a:ext cx="1965960" cy="411480"/>
          </a:xfrm>
          <a:prstGeom prst="rect">
            <a:avLst/>
          </a:prstGeom>
          <a:noFill/>
          <a:ln/>
        </p:spPr>
        <p:txBody>
          <a:bodyPr wrap="square" lIns="0" tIns="0" rIns="0" bIns="0" rtlCol="0" anchor="ctr"/>
          <a:lstStyle/>
          <a:p>
            <a:pPr indent="0" marL="0">
              <a:buNone/>
            </a:pPr>
            <a:r>
              <a:rPr lang="en-US" sz="1050" b="1" dirty="0">
                <a:solidFill>
                  <a:srgbClr val="6B6B73"/>
                </a:solidFill>
                <a:latin typeface="Calibri" pitchFamily="34" charset="0"/>
                <a:ea typeface="Calibri" pitchFamily="34" charset="-122"/>
                <a:cs typeface="Calibri" pitchFamily="34" charset="-120"/>
              </a:rPr>
              <a:t>Null expected</a:t>
            </a:r>
            <a:endParaRPr lang="en-US" sz="1050" dirty="0"/>
          </a:p>
        </p:txBody>
      </p:sp>
      <p:sp>
        <p:nvSpPr>
          <p:cNvPr id="56" name="Text 54"/>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57" name="Text 55"/>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F0F4"/>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594360"/>
          </a:xfrm>
          <a:prstGeom prst="rect">
            <a:avLst/>
          </a:prstGeom>
          <a:noFill/>
          <a:ln/>
        </p:spPr>
        <p:txBody>
          <a:bodyPr wrap="square" lIns="0" tIns="0" rIns="0" bIns="0" rtlCol="0" anchor="ctr"/>
          <a:lstStyle/>
          <a:p>
            <a:pPr indent="0" marL="0">
              <a:buNone/>
            </a:pPr>
            <a:r>
              <a:rPr lang="en-US" sz="2800" b="1" dirty="0">
                <a:solidFill>
                  <a:srgbClr val="18181B"/>
                </a:solidFill>
                <a:latin typeface="Cambria" pitchFamily="34" charset="0"/>
                <a:ea typeface="Cambria" pitchFamily="34" charset="-122"/>
                <a:cs typeface="Cambria" pitchFamily="34" charset="-120"/>
              </a:rPr>
              <a:t>How to Read a Verdict Row</a:t>
            </a:r>
            <a:endParaRPr lang="en-US" sz="2800" dirty="0"/>
          </a:p>
        </p:txBody>
      </p:sp>
      <p:sp>
        <p:nvSpPr>
          <p:cNvPr id="3" name="Text 1"/>
          <p:cNvSpPr txBox="1"/>
          <p:nvPr/>
        </p:nvSpPr>
        <p:spPr>
          <a:xfrm>
            <a:off x="640080" y="1051560"/>
            <a:ext cx="10881360" cy="365760"/>
          </a:xfrm>
          <a:prstGeom prst="rect">
            <a:avLst/>
          </a:prstGeom>
          <a:noFill/>
          <a:ln/>
        </p:spPr>
        <p:txBody>
          <a:bodyPr wrap="square" lIns="0" tIns="0" rIns="0" bIns="0" rtlCol="0" anchor="ctr"/>
          <a:lstStyle/>
          <a:p>
            <a:pPr indent="0" marL="0">
              <a:buNone/>
            </a:pPr>
            <a:r>
              <a:rPr lang="en-US" sz="1300" dirty="0">
                <a:solidFill>
                  <a:srgbClr val="6B6B73"/>
                </a:solidFill>
                <a:latin typeface="Calibri" pitchFamily="34" charset="0"/>
                <a:ea typeface="Calibri" pitchFamily="34" charset="-122"/>
                <a:cs typeface="Calibri" pitchFamily="34" charset="-120"/>
              </a:rPr>
              <a:t>Every H1–H6 result is one row with the same seven fields — here's what each one is answering.</a:t>
            </a:r>
            <a:endParaRPr lang="en-US" sz="1300" dirty="0"/>
          </a:p>
        </p:txBody>
      </p:sp>
      <p:sp>
        <p:nvSpPr>
          <p:cNvPr id="4" name="Shape 2"/>
          <p:cNvSpPr/>
          <p:nvPr/>
        </p:nvSpPr>
        <p:spPr>
          <a:xfrm>
            <a:off x="640080" y="1645920"/>
            <a:ext cx="5349240" cy="1417320"/>
          </a:xfrm>
          <a:prstGeom prst="roundRect">
            <a:avLst>
              <a:gd name="adj" fmla="val 6452"/>
            </a:avLst>
          </a:prstGeom>
          <a:solidFill>
            <a:srgbClr val="FFFFFF"/>
          </a:solidFill>
          <a:ln/>
          <a:effectLst>
            <a:outerShdw sx="100000" sy="100000" kx="0" ky="0" algn="bl" rotWithShape="0" blurRad="101600" dist="38100" dir="5400000">
              <a:srgbClr val="163C2C">
                <a:alpha val="18000"/>
              </a:srgbClr>
            </a:outerShdw>
          </a:effectLst>
        </p:spPr>
      </p:sp>
      <p:sp>
        <p:nvSpPr>
          <p:cNvPr id="5" name="Text 3"/>
          <p:cNvSpPr txBox="1"/>
          <p:nvPr/>
        </p:nvSpPr>
        <p:spPr>
          <a:xfrm>
            <a:off x="868680" y="1783080"/>
            <a:ext cx="4892040" cy="365760"/>
          </a:xfrm>
          <a:prstGeom prst="rect">
            <a:avLst/>
          </a:prstGeom>
          <a:noFill/>
          <a:ln/>
        </p:spPr>
        <p:txBody>
          <a:bodyPr wrap="square" lIns="0" tIns="0" rIns="0" bIns="0" rtlCol="0" anchor="ctr"/>
          <a:lstStyle/>
          <a:p>
            <a:pPr indent="0" marL="0">
              <a:buNone/>
            </a:pPr>
            <a:r>
              <a:rPr lang="en-US" sz="1300" b="1" dirty="0">
                <a:solidFill>
                  <a:srgbClr val="163C2C"/>
                </a:solidFill>
                <a:latin typeface="Consolas" pitchFamily="34" charset="0"/>
                <a:ea typeface="Consolas" pitchFamily="34" charset="-122"/>
                <a:cs typeface="Consolas" pitchFamily="34" charset="-120"/>
              </a:rPr>
              <a:t>β̂ (coefficient)</a:t>
            </a:r>
            <a:endParaRPr lang="en-US" sz="1300" dirty="0"/>
          </a:p>
        </p:txBody>
      </p:sp>
      <p:sp>
        <p:nvSpPr>
          <p:cNvPr id="6" name="Text 4"/>
          <p:cNvSpPr txBox="1"/>
          <p:nvPr/>
        </p:nvSpPr>
        <p:spPr>
          <a:xfrm>
            <a:off x="868680" y="2148840"/>
            <a:ext cx="4892040" cy="822960"/>
          </a:xfrm>
          <a:prstGeom prst="rect">
            <a:avLst/>
          </a:prstGeom>
          <a:noFill/>
          <a:ln/>
        </p:spPr>
        <p:txBody>
          <a:bodyPr wrap="square" lIns="0" tIns="0" rIns="0" bIns="0" rtlCol="0" anchor="ctr"/>
          <a:lstStyle/>
          <a:p>
            <a:pPr indent="0" marL="0">
              <a:lnSpc>
                <a:spcPct val="120000"/>
              </a:lnSpc>
              <a:buNone/>
            </a:pPr>
            <a:r>
              <a:rPr lang="en-US" sz="1100" dirty="0">
                <a:solidFill>
                  <a:srgbClr val="6B6B73"/>
                </a:solidFill>
                <a:latin typeface="Calibri" pitchFamily="34" charset="0"/>
                <a:ea typeface="Calibri" pitchFamily="34" charset="-122"/>
                <a:cs typeface="Calibri" pitchFamily="34" charset="-120"/>
              </a:rPr>
              <a:t>Direction and rough size of the effect — sign tells you increase vs. decrease</a:t>
            </a:r>
            <a:endParaRPr lang="en-US" sz="1100" dirty="0"/>
          </a:p>
        </p:txBody>
      </p:sp>
      <p:sp>
        <p:nvSpPr>
          <p:cNvPr id="7" name="Shape 5"/>
          <p:cNvSpPr/>
          <p:nvPr/>
        </p:nvSpPr>
        <p:spPr>
          <a:xfrm>
            <a:off x="6263640" y="1645920"/>
            <a:ext cx="5349240" cy="1417320"/>
          </a:xfrm>
          <a:prstGeom prst="roundRect">
            <a:avLst>
              <a:gd name="adj" fmla="val 6452"/>
            </a:avLst>
          </a:prstGeom>
          <a:solidFill>
            <a:srgbClr val="FFFFFF"/>
          </a:solidFill>
          <a:ln/>
          <a:effectLst>
            <a:outerShdw sx="100000" sy="100000" kx="0" ky="0" algn="bl" rotWithShape="0" blurRad="101600" dist="38100" dir="5400000">
              <a:srgbClr val="163C2C">
                <a:alpha val="18000"/>
              </a:srgbClr>
            </a:outerShdw>
          </a:effectLst>
        </p:spPr>
      </p:sp>
      <p:sp>
        <p:nvSpPr>
          <p:cNvPr id="8" name="Text 6"/>
          <p:cNvSpPr txBox="1"/>
          <p:nvPr/>
        </p:nvSpPr>
        <p:spPr>
          <a:xfrm>
            <a:off x="6492240" y="1783080"/>
            <a:ext cx="4892040" cy="365760"/>
          </a:xfrm>
          <a:prstGeom prst="rect">
            <a:avLst/>
          </a:prstGeom>
          <a:noFill/>
          <a:ln/>
        </p:spPr>
        <p:txBody>
          <a:bodyPr wrap="square" lIns="0" tIns="0" rIns="0" bIns="0" rtlCol="0" anchor="ctr"/>
          <a:lstStyle/>
          <a:p>
            <a:pPr indent="0" marL="0">
              <a:buNone/>
            </a:pPr>
            <a:r>
              <a:rPr lang="en-US" sz="1300" b="1" dirty="0">
                <a:solidFill>
                  <a:srgbClr val="163C2C"/>
                </a:solidFill>
                <a:latin typeface="Consolas" pitchFamily="34" charset="0"/>
                <a:ea typeface="Consolas" pitchFamily="34" charset="-122"/>
                <a:cs typeface="Consolas" pitchFamily="34" charset="-120"/>
              </a:rPr>
              <a:t>SE (clustered)</a:t>
            </a:r>
            <a:endParaRPr lang="en-US" sz="1300" dirty="0"/>
          </a:p>
        </p:txBody>
      </p:sp>
      <p:sp>
        <p:nvSpPr>
          <p:cNvPr id="9" name="Text 7"/>
          <p:cNvSpPr txBox="1"/>
          <p:nvPr/>
        </p:nvSpPr>
        <p:spPr>
          <a:xfrm>
            <a:off x="6492240" y="2148840"/>
            <a:ext cx="4892040" cy="822960"/>
          </a:xfrm>
          <a:prstGeom prst="rect">
            <a:avLst/>
          </a:prstGeom>
          <a:noFill/>
          <a:ln/>
        </p:spPr>
        <p:txBody>
          <a:bodyPr wrap="square" lIns="0" tIns="0" rIns="0" bIns="0" rtlCol="0" anchor="ctr"/>
          <a:lstStyle/>
          <a:p>
            <a:pPr indent="0" marL="0">
              <a:lnSpc>
                <a:spcPct val="120000"/>
              </a:lnSpc>
              <a:buNone/>
            </a:pPr>
            <a:r>
              <a:rPr lang="en-US" sz="1100" dirty="0">
                <a:solidFill>
                  <a:srgbClr val="6B6B73"/>
                </a:solidFill>
                <a:latin typeface="Calibri" pitchFamily="34" charset="0"/>
                <a:ea typeface="Calibri" pitchFamily="34" charset="-122"/>
                <a:cs typeface="Calibri" pitchFamily="34" charset="-120"/>
              </a:rPr>
              <a:t>How precisely β̂ is estimated — smaller is more precise, given the same β̂</a:t>
            </a:r>
            <a:endParaRPr lang="en-US" sz="1100" dirty="0"/>
          </a:p>
        </p:txBody>
      </p:sp>
      <p:sp>
        <p:nvSpPr>
          <p:cNvPr id="10" name="Shape 8"/>
          <p:cNvSpPr/>
          <p:nvPr/>
        </p:nvSpPr>
        <p:spPr>
          <a:xfrm>
            <a:off x="640080" y="3200400"/>
            <a:ext cx="5349240" cy="1417320"/>
          </a:xfrm>
          <a:prstGeom prst="roundRect">
            <a:avLst>
              <a:gd name="adj" fmla="val 6452"/>
            </a:avLst>
          </a:prstGeom>
          <a:solidFill>
            <a:srgbClr val="FFFFFF"/>
          </a:solidFill>
          <a:ln/>
          <a:effectLst>
            <a:outerShdw sx="100000" sy="100000" kx="0" ky="0" algn="bl" rotWithShape="0" blurRad="101600" dist="38100" dir="5400000">
              <a:srgbClr val="163C2C">
                <a:alpha val="18000"/>
              </a:srgbClr>
            </a:outerShdw>
          </a:effectLst>
        </p:spPr>
      </p:sp>
      <p:sp>
        <p:nvSpPr>
          <p:cNvPr id="11" name="Text 9"/>
          <p:cNvSpPr txBox="1"/>
          <p:nvPr/>
        </p:nvSpPr>
        <p:spPr>
          <a:xfrm>
            <a:off x="868680" y="3337560"/>
            <a:ext cx="4892040" cy="365760"/>
          </a:xfrm>
          <a:prstGeom prst="rect">
            <a:avLst/>
          </a:prstGeom>
          <a:noFill/>
          <a:ln/>
        </p:spPr>
        <p:txBody>
          <a:bodyPr wrap="square" lIns="0" tIns="0" rIns="0" bIns="0" rtlCol="0" anchor="ctr"/>
          <a:lstStyle/>
          <a:p>
            <a:pPr indent="0" marL="0">
              <a:buNone/>
            </a:pPr>
            <a:r>
              <a:rPr lang="en-US" sz="1300" b="1" dirty="0">
                <a:solidFill>
                  <a:srgbClr val="163C2C"/>
                </a:solidFill>
                <a:latin typeface="Consolas" pitchFamily="34" charset="0"/>
                <a:ea typeface="Consolas" pitchFamily="34" charset="-122"/>
                <a:cs typeface="Consolas" pitchFamily="34" charset="-120"/>
              </a:rPr>
              <a:t>t / z-statistic</a:t>
            </a:r>
            <a:endParaRPr lang="en-US" sz="1300" dirty="0"/>
          </a:p>
        </p:txBody>
      </p:sp>
      <p:sp>
        <p:nvSpPr>
          <p:cNvPr id="12" name="Text 10"/>
          <p:cNvSpPr txBox="1"/>
          <p:nvPr/>
        </p:nvSpPr>
        <p:spPr>
          <a:xfrm>
            <a:off x="868680" y="3703320"/>
            <a:ext cx="4892040" cy="822960"/>
          </a:xfrm>
          <a:prstGeom prst="rect">
            <a:avLst/>
          </a:prstGeom>
          <a:noFill/>
          <a:ln/>
        </p:spPr>
        <p:txBody>
          <a:bodyPr wrap="square" lIns="0" tIns="0" rIns="0" bIns="0" rtlCol="0" anchor="ctr"/>
          <a:lstStyle/>
          <a:p>
            <a:pPr indent="0" marL="0">
              <a:lnSpc>
                <a:spcPct val="120000"/>
              </a:lnSpc>
              <a:buNone/>
            </a:pPr>
            <a:r>
              <a:rPr lang="en-US" sz="1100" dirty="0">
                <a:solidFill>
                  <a:srgbClr val="6B6B73"/>
                </a:solidFill>
                <a:latin typeface="Calibri" pitchFamily="34" charset="0"/>
                <a:ea typeface="Calibri" pitchFamily="34" charset="-122"/>
                <a:cs typeface="Calibri" pitchFamily="34" charset="-120"/>
              </a:rPr>
              <a:t>β̂ divided by SE — how many standard errors away from zero</a:t>
            </a:r>
            <a:endParaRPr lang="en-US" sz="1100" dirty="0"/>
          </a:p>
        </p:txBody>
      </p:sp>
      <p:sp>
        <p:nvSpPr>
          <p:cNvPr id="13" name="Shape 11"/>
          <p:cNvSpPr/>
          <p:nvPr/>
        </p:nvSpPr>
        <p:spPr>
          <a:xfrm>
            <a:off x="6263640" y="3200400"/>
            <a:ext cx="5349240" cy="1417320"/>
          </a:xfrm>
          <a:prstGeom prst="roundRect">
            <a:avLst>
              <a:gd name="adj" fmla="val 6452"/>
            </a:avLst>
          </a:prstGeom>
          <a:solidFill>
            <a:srgbClr val="FFFFFF"/>
          </a:solidFill>
          <a:ln/>
          <a:effectLst>
            <a:outerShdw sx="100000" sy="100000" kx="0" ky="0" algn="bl" rotWithShape="0" blurRad="101600" dist="38100" dir="5400000">
              <a:srgbClr val="163C2C">
                <a:alpha val="18000"/>
              </a:srgbClr>
            </a:outerShdw>
          </a:effectLst>
        </p:spPr>
      </p:sp>
      <p:sp>
        <p:nvSpPr>
          <p:cNvPr id="14" name="Text 12"/>
          <p:cNvSpPr txBox="1"/>
          <p:nvPr/>
        </p:nvSpPr>
        <p:spPr>
          <a:xfrm>
            <a:off x="6492240" y="3337560"/>
            <a:ext cx="4892040" cy="365760"/>
          </a:xfrm>
          <a:prstGeom prst="rect">
            <a:avLst/>
          </a:prstGeom>
          <a:noFill/>
          <a:ln/>
        </p:spPr>
        <p:txBody>
          <a:bodyPr wrap="square" lIns="0" tIns="0" rIns="0" bIns="0" rtlCol="0" anchor="ctr"/>
          <a:lstStyle/>
          <a:p>
            <a:pPr indent="0" marL="0">
              <a:buNone/>
            </a:pPr>
            <a:r>
              <a:rPr lang="en-US" sz="1300" b="1" dirty="0">
                <a:solidFill>
                  <a:srgbClr val="163C2C"/>
                </a:solidFill>
                <a:latin typeface="Consolas" pitchFamily="34" charset="0"/>
                <a:ea typeface="Consolas" pitchFamily="34" charset="-122"/>
                <a:cs typeface="Consolas" pitchFamily="34" charset="-120"/>
              </a:rPr>
              <a:t>p-value</a:t>
            </a:r>
            <a:endParaRPr lang="en-US" sz="1300" dirty="0"/>
          </a:p>
        </p:txBody>
      </p:sp>
      <p:sp>
        <p:nvSpPr>
          <p:cNvPr id="15" name="Text 13"/>
          <p:cNvSpPr txBox="1"/>
          <p:nvPr/>
        </p:nvSpPr>
        <p:spPr>
          <a:xfrm>
            <a:off x="6492240" y="3703320"/>
            <a:ext cx="4892040" cy="822960"/>
          </a:xfrm>
          <a:prstGeom prst="rect">
            <a:avLst/>
          </a:prstGeom>
          <a:noFill/>
          <a:ln/>
        </p:spPr>
        <p:txBody>
          <a:bodyPr wrap="square" lIns="0" tIns="0" rIns="0" bIns="0" rtlCol="0" anchor="ctr"/>
          <a:lstStyle/>
          <a:p>
            <a:pPr indent="0" marL="0">
              <a:lnSpc>
                <a:spcPct val="120000"/>
              </a:lnSpc>
              <a:buNone/>
            </a:pPr>
            <a:r>
              <a:rPr lang="en-US" sz="1100" dirty="0">
                <a:solidFill>
                  <a:srgbClr val="6B6B73"/>
                </a:solidFill>
                <a:latin typeface="Calibri" pitchFamily="34" charset="0"/>
                <a:ea typeface="Calibri" pitchFamily="34" charset="-122"/>
                <a:cs typeface="Calibri" pitchFamily="34" charset="-120"/>
              </a:rPr>
              <a:t>Probability of a t-stat this extreme if the true effect were zero</a:t>
            </a:r>
            <a:endParaRPr lang="en-US" sz="1100" dirty="0"/>
          </a:p>
        </p:txBody>
      </p:sp>
      <p:sp>
        <p:nvSpPr>
          <p:cNvPr id="16" name="Shape 14"/>
          <p:cNvSpPr/>
          <p:nvPr/>
        </p:nvSpPr>
        <p:spPr>
          <a:xfrm>
            <a:off x="640080" y="4754880"/>
            <a:ext cx="5349240" cy="1417320"/>
          </a:xfrm>
          <a:prstGeom prst="roundRect">
            <a:avLst>
              <a:gd name="adj" fmla="val 6452"/>
            </a:avLst>
          </a:prstGeom>
          <a:solidFill>
            <a:srgbClr val="FFFFFF"/>
          </a:solidFill>
          <a:ln/>
          <a:effectLst>
            <a:outerShdw sx="100000" sy="100000" kx="0" ky="0" algn="bl" rotWithShape="0" blurRad="101600" dist="38100" dir="5400000">
              <a:srgbClr val="163C2C">
                <a:alpha val="18000"/>
              </a:srgbClr>
            </a:outerShdw>
          </a:effectLst>
        </p:spPr>
      </p:sp>
      <p:sp>
        <p:nvSpPr>
          <p:cNvPr id="17" name="Text 15"/>
          <p:cNvSpPr txBox="1"/>
          <p:nvPr/>
        </p:nvSpPr>
        <p:spPr>
          <a:xfrm>
            <a:off x="868680" y="4892040"/>
            <a:ext cx="4892040" cy="365760"/>
          </a:xfrm>
          <a:prstGeom prst="rect">
            <a:avLst/>
          </a:prstGeom>
          <a:noFill/>
          <a:ln/>
        </p:spPr>
        <p:txBody>
          <a:bodyPr wrap="square" lIns="0" tIns="0" rIns="0" bIns="0" rtlCol="0" anchor="ctr"/>
          <a:lstStyle/>
          <a:p>
            <a:pPr indent="0" marL="0">
              <a:buNone/>
            </a:pPr>
            <a:r>
              <a:rPr lang="en-US" sz="1300" b="1" dirty="0">
                <a:solidFill>
                  <a:srgbClr val="163C2C"/>
                </a:solidFill>
                <a:latin typeface="Consolas" pitchFamily="34" charset="0"/>
                <a:ea typeface="Consolas" pitchFamily="34" charset="-122"/>
                <a:cs typeface="Consolas" pitchFamily="34" charset="-120"/>
              </a:rPr>
              <a:t>n</a:t>
            </a:r>
            <a:endParaRPr lang="en-US" sz="1300" dirty="0"/>
          </a:p>
        </p:txBody>
      </p:sp>
      <p:sp>
        <p:nvSpPr>
          <p:cNvPr id="18" name="Text 16"/>
          <p:cNvSpPr txBox="1"/>
          <p:nvPr/>
        </p:nvSpPr>
        <p:spPr>
          <a:xfrm>
            <a:off x="868680" y="5257800"/>
            <a:ext cx="4892040" cy="822960"/>
          </a:xfrm>
          <a:prstGeom prst="rect">
            <a:avLst/>
          </a:prstGeom>
          <a:noFill/>
          <a:ln/>
        </p:spPr>
        <p:txBody>
          <a:bodyPr wrap="square" lIns="0" tIns="0" rIns="0" bIns="0" rtlCol="0" anchor="ctr"/>
          <a:lstStyle/>
          <a:p>
            <a:pPr indent="0" marL="0">
              <a:lnSpc>
                <a:spcPct val="120000"/>
              </a:lnSpc>
              <a:buNone/>
            </a:pPr>
            <a:r>
              <a:rPr lang="en-US" sz="1100" dirty="0">
                <a:solidFill>
                  <a:srgbClr val="6B6B73"/>
                </a:solidFill>
                <a:latin typeface="Calibri" pitchFamily="34" charset="0"/>
                <a:ea typeface="Calibri" pitchFamily="34" charset="-122"/>
                <a:cs typeface="Calibri" pitchFamily="34" charset="-120"/>
              </a:rPr>
              <a:t>Sample size actually used — watch for this shrinking on a binding-only subsample (H4)</a:t>
            </a:r>
            <a:endParaRPr lang="en-US" sz="1100" dirty="0"/>
          </a:p>
        </p:txBody>
      </p:sp>
      <p:sp>
        <p:nvSpPr>
          <p:cNvPr id="19" name="Shape 17"/>
          <p:cNvSpPr/>
          <p:nvPr/>
        </p:nvSpPr>
        <p:spPr>
          <a:xfrm>
            <a:off x="6263640" y="4754880"/>
            <a:ext cx="5349240" cy="1417320"/>
          </a:xfrm>
          <a:prstGeom prst="roundRect">
            <a:avLst>
              <a:gd name="adj" fmla="val 6452"/>
            </a:avLst>
          </a:prstGeom>
          <a:solidFill>
            <a:srgbClr val="FFFFFF"/>
          </a:solidFill>
          <a:ln/>
          <a:effectLst>
            <a:outerShdw sx="100000" sy="100000" kx="0" ky="0" algn="bl" rotWithShape="0" blurRad="101600" dist="38100" dir="5400000">
              <a:srgbClr val="163C2C">
                <a:alpha val="18000"/>
              </a:srgbClr>
            </a:outerShdw>
          </a:effectLst>
        </p:spPr>
      </p:sp>
      <p:sp>
        <p:nvSpPr>
          <p:cNvPr id="20" name="Text 18"/>
          <p:cNvSpPr txBox="1"/>
          <p:nvPr/>
        </p:nvSpPr>
        <p:spPr>
          <a:xfrm>
            <a:off x="6492240" y="4892040"/>
            <a:ext cx="4892040" cy="365760"/>
          </a:xfrm>
          <a:prstGeom prst="rect">
            <a:avLst/>
          </a:prstGeom>
          <a:noFill/>
          <a:ln/>
        </p:spPr>
        <p:txBody>
          <a:bodyPr wrap="square" lIns="0" tIns="0" rIns="0" bIns="0" rtlCol="0" anchor="ctr"/>
          <a:lstStyle/>
          <a:p>
            <a:pPr indent="0" marL="0">
              <a:buNone/>
            </a:pPr>
            <a:r>
              <a:rPr lang="en-US" sz="1300" b="1" dirty="0">
                <a:solidFill>
                  <a:srgbClr val="163C2C"/>
                </a:solidFill>
                <a:latin typeface="Consolas" pitchFamily="34" charset="0"/>
                <a:ea typeface="Consolas" pitchFamily="34" charset="-122"/>
                <a:cs typeface="Consolas" pitchFamily="34" charset="-120"/>
              </a:rPr>
              <a:t>Verdict</a:t>
            </a:r>
            <a:endParaRPr lang="en-US" sz="1300" dirty="0"/>
          </a:p>
        </p:txBody>
      </p:sp>
      <p:sp>
        <p:nvSpPr>
          <p:cNvPr id="21" name="Text 19"/>
          <p:cNvSpPr txBox="1"/>
          <p:nvPr/>
        </p:nvSpPr>
        <p:spPr>
          <a:xfrm>
            <a:off x="6492240" y="5257800"/>
            <a:ext cx="4892040" cy="822960"/>
          </a:xfrm>
          <a:prstGeom prst="rect">
            <a:avLst/>
          </a:prstGeom>
          <a:noFill/>
          <a:ln/>
        </p:spPr>
        <p:txBody>
          <a:bodyPr wrap="square" lIns="0" tIns="0" rIns="0" bIns="0" rtlCol="0" anchor="ctr"/>
          <a:lstStyle/>
          <a:p>
            <a:pPr indent="0" marL="0">
              <a:lnSpc>
                <a:spcPct val="120000"/>
              </a:lnSpc>
              <a:buNone/>
            </a:pPr>
            <a:r>
              <a:rPr lang="en-US" sz="1100" dirty="0">
                <a:solidFill>
                  <a:srgbClr val="6B6B73"/>
                </a:solidFill>
                <a:latin typeface="Calibri" pitchFamily="34" charset="0"/>
                <a:ea typeface="Calibri" pitchFamily="34" charset="-122"/>
                <a:cs typeface="Calibri" pitchFamily="34" charset="-120"/>
              </a:rPr>
              <a:t>SUPPORTED (clears both bars) · SIGNIFICANT-only (p&lt;0.05, misses economic floor) · NOT SUPPORTED · NULL (H6, as expected)</a:t>
            </a:r>
            <a:endParaRPr lang="en-US" sz="1100" dirty="0"/>
          </a:p>
        </p:txBody>
      </p:sp>
      <p:sp>
        <p:nvSpPr>
          <p:cNvPr id="22" name="Text 2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23" name="Text 2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163C2C"/>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H1</a:t>
            </a:r>
            <a:endParaRPr lang="en-US" sz="1050" dirty="0"/>
          </a:p>
        </p:txBody>
      </p:sp>
      <p:sp>
        <p:nvSpPr>
          <p:cNvPr id="4" name="Text 2"/>
          <p:cNvSpPr txBox="1"/>
          <p:nvPr/>
        </p:nvSpPr>
        <p:spPr>
          <a:xfrm>
            <a:off x="640080" y="914400"/>
            <a:ext cx="10881360" cy="594360"/>
          </a:xfrm>
          <a:prstGeom prst="rect">
            <a:avLst/>
          </a:prstGeom>
          <a:noFill/>
          <a:ln/>
        </p:spPr>
        <p:txBody>
          <a:bodyPr wrap="square" lIns="0" tIns="0" rIns="0" bIns="0" rtlCol="0" anchor="ctr"/>
          <a:lstStyle/>
          <a:p>
            <a:pPr indent="0" marL="0">
              <a:buNone/>
            </a:pPr>
            <a:r>
              <a:rPr lang="en-US" sz="2800" b="1" dirty="0">
                <a:solidFill>
                  <a:srgbClr val="18181B"/>
                </a:solidFill>
                <a:latin typeface="Cambria" pitchFamily="34" charset="0"/>
                <a:ea typeface="Cambria" pitchFamily="34" charset="-122"/>
                <a:cs typeface="Cambria" pitchFamily="34" charset="-120"/>
              </a:rPr>
              <a:t>HVDC Outages → Reference Flow</a:t>
            </a:r>
            <a:endParaRPr lang="en-US" sz="2800" dirty="0"/>
          </a:p>
        </p:txBody>
      </p:sp>
      <p:sp>
        <p:nvSpPr>
          <p:cNvPr id="5" name="Text 3"/>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6" name="Text 4"/>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13</a:t>
            </a:r>
            <a:endParaRPr lang="en-US" sz="900" dirty="0"/>
          </a:p>
        </p:txBody>
      </p:sp>
      <p:sp>
        <p:nvSpPr>
          <p:cNvPr id="7" name="Text 5"/>
          <p:cNvSpPr txBox="1"/>
          <p:nvPr/>
        </p:nvSpPr>
        <p:spPr>
          <a:xfrm>
            <a:off x="640080" y="1554480"/>
            <a:ext cx="10881360" cy="685800"/>
          </a:xfrm>
          <a:prstGeom prst="rect">
            <a:avLst/>
          </a:prstGeom>
          <a:noFill/>
          <a:ln/>
        </p:spPr>
        <p:txBody>
          <a:bodyPr wrap="square" lIns="0" tIns="0" rIns="0" bIns="0" rtlCol="0" anchor="ctr"/>
          <a:lstStyle/>
          <a:p>
            <a:pPr indent="0" marL="0">
              <a:lnSpc>
                <a:spcPct val="125000"/>
              </a:lnSpc>
              <a:buNone/>
            </a:pPr>
            <a:r>
              <a:rPr lang="en-US" sz="1250" dirty="0">
                <a:solidFill>
                  <a:srgbClr val="6B6B73"/>
                </a:solidFill>
                <a:latin typeface="Calibri" pitchFamily="34" charset="0"/>
                <a:ea typeface="Calibri" pitchFamily="34" charset="-122"/>
                <a:cs typeface="Calibri" pitchFamily="34" charset="-120"/>
              </a:rPr>
              <a:t>The most direct, physical channel in this study: a cable goes down, flow reroutes. Shown here as a single CNEC's before/during comparison for clarity — the real fit pools every matched CNEC with fixed effects and clustered SEs, same machinery as every other hypothesis.</a:t>
            </a:r>
            <a:endParaRPr lang="en-US" sz="1250" dirty="0"/>
          </a:p>
        </p:txBody>
      </p:sp>
      <p:sp>
        <p:nvSpPr>
          <p:cNvPr id="8" name="Shape 6"/>
          <p:cNvSpPr/>
          <p:nvPr/>
        </p:nvSpPr>
        <p:spPr>
          <a:xfrm>
            <a:off x="822960" y="2377440"/>
            <a:ext cx="10515600" cy="2651760"/>
          </a:xfrm>
          <a:prstGeom prst="roundRect">
            <a:avLst>
              <a:gd name="adj" fmla="val 3448"/>
            </a:avLst>
          </a:prstGeom>
          <a:solidFill>
            <a:srgbClr val="163C2C"/>
          </a:solidFill>
          <a:ln/>
          <a:effectLst>
            <a:outerShdw sx="100000" sy="100000" kx="0" ky="0" algn="bl" rotWithShape="0" blurRad="101600" dist="38100" dir="5400000">
              <a:srgbClr val="163C2C">
                <a:alpha val="18000"/>
              </a:srgbClr>
            </a:outerShdw>
          </a:effectLst>
        </p:spPr>
      </p:sp>
      <p:sp>
        <p:nvSpPr>
          <p:cNvPr id="9" name="Shape 7"/>
          <p:cNvSpPr/>
          <p:nvPr/>
        </p:nvSpPr>
        <p:spPr>
          <a:xfrm>
            <a:off x="1097280" y="2606040"/>
            <a:ext cx="1691640" cy="292608"/>
          </a:xfrm>
          <a:prstGeom prst="roundRect">
            <a:avLst>
              <a:gd name="adj" fmla="val 50000"/>
            </a:avLst>
          </a:prstGeom>
          <a:solidFill>
            <a:srgbClr val="6D5B97"/>
          </a:solidFill>
          <a:ln/>
        </p:spPr>
      </p:sp>
      <p:sp>
        <p:nvSpPr>
          <p:cNvPr id="10" name="Text 8"/>
          <p:cNvSpPr txBox="1"/>
          <p:nvPr/>
        </p:nvSpPr>
        <p:spPr>
          <a:xfrm>
            <a:off x="1097280" y="2606040"/>
            <a:ext cx="169164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WORKED EXAMPLE</a:t>
            </a:r>
            <a:endParaRPr lang="en-US" sz="950" dirty="0"/>
          </a:p>
        </p:txBody>
      </p:sp>
      <p:sp>
        <p:nvSpPr>
          <p:cNvPr id="11" name="Text 9"/>
          <p:cNvSpPr txBox="1"/>
          <p:nvPr/>
        </p:nvSpPr>
        <p:spPr>
          <a:xfrm>
            <a:off x="1097280" y="2926080"/>
            <a:ext cx="9966960" cy="320040"/>
          </a:xfrm>
          <a:prstGeom prst="rect">
            <a:avLst/>
          </a:prstGeom>
          <a:noFill/>
          <a:ln/>
        </p:spPr>
        <p:txBody>
          <a:bodyPr wrap="square" lIns="0" tIns="0" rIns="0" bIns="0" rtlCol="0" anchor="ctr"/>
          <a:lstStyle/>
          <a:p>
            <a:pPr indent="0" marL="0">
              <a:buNone/>
            </a:pPr>
            <a:r>
              <a:rPr lang="en-US" sz="1100" dirty="0">
                <a:solidFill>
                  <a:srgbClr val="D7E6DC"/>
                </a:solidFill>
                <a:latin typeface="Calibri" pitchFamily="34" charset="0"/>
                <a:ea typeface="Calibri" pitchFamily="34" charset="-122"/>
                <a:cs typeface="Calibri" pitchFamily="34" charset="-120"/>
              </a:rPr>
              <a:t>4 pre-outage vs. 4 during-outage readings of fall_signed (MW)</a:t>
            </a:r>
            <a:endParaRPr lang="en-US" sz="1100" dirty="0"/>
          </a:p>
        </p:txBody>
      </p:sp>
      <p:sp>
        <p:nvSpPr>
          <p:cNvPr id="12" name="Text 10"/>
          <p:cNvSpPr txBox="1"/>
          <p:nvPr/>
        </p:nvSpPr>
        <p:spPr>
          <a:xfrm>
            <a:off x="1097280" y="329184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α̂ (pre-outage mean)</a:t>
            </a:r>
            <a:endParaRPr lang="en-US" sz="1200" dirty="0"/>
          </a:p>
        </p:txBody>
      </p:sp>
      <p:sp>
        <p:nvSpPr>
          <p:cNvPr id="13" name="Text 11"/>
          <p:cNvSpPr txBox="1"/>
          <p:nvPr/>
        </p:nvSpPr>
        <p:spPr>
          <a:xfrm>
            <a:off x="3132734" y="3291840"/>
            <a:ext cx="2810866" cy="365760"/>
          </a:xfrm>
          <a:prstGeom prst="rect">
            <a:avLst/>
          </a:prstGeom>
          <a:noFill/>
          <a:ln/>
        </p:spPr>
        <p:txBody>
          <a:bodyPr wrap="square" lIns="0" tIns="0" rIns="0" bIns="0" rtlCol="0" anchor="ctr"/>
          <a:lstStyle/>
          <a:p>
            <a:pPr algn="r" indent="0" marL="0">
              <a:buNone/>
            </a:pPr>
            <a:r>
              <a:rPr lang="en-US" sz="1300" b="1" dirty="0">
                <a:solidFill>
                  <a:srgbClr val="FFFFFF"/>
                </a:solidFill>
                <a:latin typeface="Consolas" pitchFamily="34" charset="0"/>
                <a:ea typeface="Consolas" pitchFamily="34" charset="-122"/>
                <a:cs typeface="Consolas" pitchFamily="34" charset="-120"/>
              </a:rPr>
              <a:t>619.5</a:t>
            </a:r>
            <a:endParaRPr lang="en-US" sz="1300" dirty="0"/>
          </a:p>
        </p:txBody>
      </p:sp>
      <p:sp>
        <p:nvSpPr>
          <p:cNvPr id="14" name="Text 12"/>
          <p:cNvSpPr txBox="1"/>
          <p:nvPr/>
        </p:nvSpPr>
        <p:spPr>
          <a:xfrm>
            <a:off x="1097280" y="370332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β̂ (change)</a:t>
            </a:r>
            <a:endParaRPr lang="en-US" sz="1200" dirty="0"/>
          </a:p>
        </p:txBody>
      </p:sp>
      <p:sp>
        <p:nvSpPr>
          <p:cNvPr id="15" name="Text 13"/>
          <p:cNvSpPr txBox="1"/>
          <p:nvPr/>
        </p:nvSpPr>
        <p:spPr>
          <a:xfrm>
            <a:off x="3132734" y="3703320"/>
            <a:ext cx="2810866" cy="365760"/>
          </a:xfrm>
          <a:prstGeom prst="rect">
            <a:avLst/>
          </a:prstGeom>
          <a:noFill/>
          <a:ln/>
        </p:spPr>
        <p:txBody>
          <a:bodyPr wrap="square" lIns="0" tIns="0" rIns="0" bIns="0" rtlCol="0" anchor="ctr"/>
          <a:lstStyle/>
          <a:p>
            <a:pPr algn="r" indent="0" marL="0">
              <a:buNone/>
            </a:pPr>
            <a:r>
              <a:rPr lang="en-US" sz="1300" b="1" dirty="0">
                <a:solidFill>
                  <a:srgbClr val="FFFFFF"/>
                </a:solidFill>
                <a:latin typeface="Consolas" pitchFamily="34" charset="0"/>
                <a:ea typeface="Consolas" pitchFamily="34" charset="-122"/>
                <a:cs typeface="Consolas" pitchFamily="34" charset="-120"/>
              </a:rPr>
              <a:t>−35.5</a:t>
            </a:r>
            <a:endParaRPr lang="en-US" sz="1300" dirty="0"/>
          </a:p>
        </p:txBody>
      </p:sp>
      <p:sp>
        <p:nvSpPr>
          <p:cNvPr id="16" name="Text 14"/>
          <p:cNvSpPr txBox="1"/>
          <p:nvPr/>
        </p:nvSpPr>
        <p:spPr>
          <a:xfrm>
            <a:off x="6126480" y="329184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t-statistic (df=6)</a:t>
            </a:r>
            <a:endParaRPr lang="en-US" sz="1200" dirty="0"/>
          </a:p>
        </p:txBody>
      </p:sp>
      <p:sp>
        <p:nvSpPr>
          <p:cNvPr id="17" name="Text 15"/>
          <p:cNvSpPr txBox="1"/>
          <p:nvPr/>
        </p:nvSpPr>
        <p:spPr>
          <a:xfrm>
            <a:off x="8161934" y="3291840"/>
            <a:ext cx="2810866" cy="365760"/>
          </a:xfrm>
          <a:prstGeom prst="rect">
            <a:avLst/>
          </a:prstGeom>
          <a:noFill/>
          <a:ln/>
        </p:spPr>
        <p:txBody>
          <a:bodyPr wrap="square" lIns="0" tIns="0" rIns="0" bIns="0" rtlCol="0" anchor="ctr"/>
          <a:lstStyle/>
          <a:p>
            <a:pPr algn="r" indent="0" marL="0">
              <a:buNone/>
            </a:pPr>
            <a:r>
              <a:rPr lang="en-US" sz="1300" b="1" dirty="0">
                <a:solidFill>
                  <a:srgbClr val="FFFFFF"/>
                </a:solidFill>
                <a:latin typeface="Consolas" pitchFamily="34" charset="0"/>
                <a:ea typeface="Consolas" pitchFamily="34" charset="-122"/>
                <a:cs typeface="Consolas" pitchFamily="34" charset="-120"/>
              </a:rPr>
              <a:t>−10.91</a:t>
            </a:r>
            <a:endParaRPr lang="en-US" sz="1300" dirty="0"/>
          </a:p>
        </p:txBody>
      </p:sp>
      <p:sp>
        <p:nvSpPr>
          <p:cNvPr id="18" name="Text 16"/>
          <p:cNvSpPr txBox="1"/>
          <p:nvPr/>
        </p:nvSpPr>
        <p:spPr>
          <a:xfrm>
            <a:off x="6126480" y="370332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p-value</a:t>
            </a:r>
            <a:endParaRPr lang="en-US" sz="1200" dirty="0"/>
          </a:p>
        </p:txBody>
      </p:sp>
      <p:sp>
        <p:nvSpPr>
          <p:cNvPr id="19" name="Text 17"/>
          <p:cNvSpPr txBox="1"/>
          <p:nvPr/>
        </p:nvSpPr>
        <p:spPr>
          <a:xfrm>
            <a:off x="8161934" y="3703320"/>
            <a:ext cx="2810866" cy="365760"/>
          </a:xfrm>
          <a:prstGeom prst="rect">
            <a:avLst/>
          </a:prstGeom>
          <a:noFill/>
          <a:ln/>
        </p:spPr>
        <p:txBody>
          <a:bodyPr wrap="square" lIns="0" tIns="0" rIns="0" bIns="0" rtlCol="0" anchor="ctr"/>
          <a:lstStyle/>
          <a:p>
            <a:pPr algn="r" indent="0" marL="0">
              <a:buNone/>
            </a:pPr>
            <a:r>
              <a:rPr lang="en-US" sz="1300" b="1" dirty="0">
                <a:solidFill>
                  <a:srgbClr val="F5B971"/>
                </a:solidFill>
                <a:latin typeface="Consolas" pitchFamily="34" charset="0"/>
                <a:ea typeface="Consolas" pitchFamily="34" charset="-122"/>
                <a:cs typeface="Consolas" pitchFamily="34" charset="-120"/>
              </a:rPr>
              <a:t>0.000035</a:t>
            </a:r>
            <a:endParaRPr lang="en-US" sz="1300" dirty="0"/>
          </a:p>
        </p:txBody>
      </p:sp>
      <p:sp>
        <p:nvSpPr>
          <p:cNvPr id="20" name="Text 18"/>
          <p:cNvSpPr txBox="1"/>
          <p:nvPr/>
        </p:nvSpPr>
        <p:spPr>
          <a:xfrm>
            <a:off x="1097280" y="4160520"/>
            <a:ext cx="9966960" cy="685800"/>
          </a:xfrm>
          <a:prstGeom prst="rect">
            <a:avLst/>
          </a:prstGeom>
          <a:noFill/>
          <a:ln/>
        </p:spPr>
        <p:txBody>
          <a:bodyPr wrap="square" lIns="0" tIns="0" rIns="0" bIns="0" rtlCol="0" anchor="ctr"/>
          <a:lstStyle/>
          <a:p>
            <a:pPr indent="0" marL="0">
              <a:lnSpc>
                <a:spcPct val="130000"/>
              </a:lnSpc>
              <a:buNone/>
            </a:pPr>
            <a:r>
              <a:rPr lang="en-US" sz="1250" i="1" dirty="0">
                <a:solidFill>
                  <a:srgbClr val="D7E6DC"/>
                </a:solidFill>
                <a:latin typeface="Calibri" pitchFamily="34" charset="0"/>
                <a:ea typeface="Calibri" pitchFamily="34" charset="-122"/>
                <a:cs typeface="Calibri" pitchFamily="34" charset="-120"/>
              </a:rPr>
              <a:t>Verdict: SUPPORTED — the reference flow drops by ~35.5 MW during the outage, a shift far too large to be noise (p ≈ 0.00004) and well past this variable's economic floor.</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163C2C"/>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H2</a:t>
            </a:r>
            <a:endParaRPr lang="en-US" sz="1050" dirty="0"/>
          </a:p>
        </p:txBody>
      </p:sp>
      <p:sp>
        <p:nvSpPr>
          <p:cNvPr id="4" name="Text 2"/>
          <p:cNvSpPr txBox="1"/>
          <p:nvPr/>
        </p:nvSpPr>
        <p:spPr>
          <a:xfrm>
            <a:off x="640080" y="914400"/>
            <a:ext cx="10881360" cy="594360"/>
          </a:xfrm>
          <a:prstGeom prst="rect">
            <a:avLst/>
          </a:prstGeom>
          <a:noFill/>
          <a:ln/>
        </p:spPr>
        <p:txBody>
          <a:bodyPr wrap="square" lIns="0" tIns="0" rIns="0" bIns="0" rtlCol="0" anchor="ctr"/>
          <a:lstStyle/>
          <a:p>
            <a:pPr indent="0" marL="0">
              <a:buNone/>
            </a:pPr>
            <a:r>
              <a:rPr lang="en-US" sz="2800" b="1" dirty="0">
                <a:solidFill>
                  <a:srgbClr val="18181B"/>
                </a:solidFill>
                <a:latin typeface="Cambria" pitchFamily="34" charset="0"/>
                <a:ea typeface="Cambria" pitchFamily="34" charset="-122"/>
                <a:cs typeface="Cambria" pitchFamily="34" charset="-120"/>
              </a:rPr>
              <a:t>AC Outages → PTDF Sensitivity</a:t>
            </a:r>
            <a:endParaRPr lang="en-US" sz="2800" dirty="0"/>
          </a:p>
        </p:txBody>
      </p:sp>
      <p:sp>
        <p:nvSpPr>
          <p:cNvPr id="5" name="Text 3"/>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6" name="Text 4"/>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14</a:t>
            </a:r>
            <a:endParaRPr lang="en-US" sz="900" dirty="0"/>
          </a:p>
        </p:txBody>
      </p:sp>
      <p:sp>
        <p:nvSpPr>
          <p:cNvPr id="7" name="Text 5"/>
          <p:cNvSpPr txBox="1"/>
          <p:nvPr/>
        </p:nvSpPr>
        <p:spPr>
          <a:xfrm>
            <a:off x="640080" y="1554480"/>
            <a:ext cx="10881360" cy="685800"/>
          </a:xfrm>
          <a:prstGeom prst="rect">
            <a:avLst/>
          </a:prstGeom>
          <a:noFill/>
          <a:ln/>
        </p:spPr>
        <p:txBody>
          <a:bodyPr wrap="square" lIns="0" tIns="0" rIns="0" bIns="0" rtlCol="0" anchor="ctr"/>
          <a:lstStyle/>
          <a:p>
            <a:pPr indent="0" marL="0">
              <a:lnSpc>
                <a:spcPct val="125000"/>
              </a:lnSpc>
              <a:buNone/>
            </a:pPr>
            <a:r>
              <a:rPr lang="en-US" sz="1250" dirty="0">
                <a:solidFill>
                  <a:srgbClr val="6B6B73"/>
                </a:solidFill>
                <a:latin typeface="Calibri" pitchFamily="34" charset="0"/>
                <a:ea typeface="Calibri" pitchFamily="34" charset="-122"/>
                <a:cs typeface="Calibri" pitchFamily="34" charset="-120"/>
              </a:rPr>
              <a:t>Uses the ABSOLUTE PTDF value — the specification choice that makes this a clean test of a pure topology effect: an AC line outage changes the grid's shape, which can push a CNEC's sensitivity up or down depending on where it sits, not in one fixed direction.</a:t>
            </a:r>
            <a:endParaRPr lang="en-US" sz="1250" dirty="0"/>
          </a:p>
        </p:txBody>
      </p:sp>
      <p:sp>
        <p:nvSpPr>
          <p:cNvPr id="8" name="Shape 6"/>
          <p:cNvSpPr/>
          <p:nvPr/>
        </p:nvSpPr>
        <p:spPr>
          <a:xfrm>
            <a:off x="822960" y="2377440"/>
            <a:ext cx="10515600" cy="2651760"/>
          </a:xfrm>
          <a:prstGeom prst="roundRect">
            <a:avLst>
              <a:gd name="adj" fmla="val 3448"/>
            </a:avLst>
          </a:prstGeom>
          <a:solidFill>
            <a:srgbClr val="163C2C"/>
          </a:solidFill>
          <a:ln/>
          <a:effectLst>
            <a:outerShdw sx="100000" sy="100000" kx="0" ky="0" algn="bl" rotWithShape="0" blurRad="101600" dist="38100" dir="5400000">
              <a:srgbClr val="163C2C">
                <a:alpha val="18000"/>
              </a:srgbClr>
            </a:outerShdw>
          </a:effectLst>
        </p:spPr>
      </p:sp>
      <p:sp>
        <p:nvSpPr>
          <p:cNvPr id="9" name="Shape 7"/>
          <p:cNvSpPr/>
          <p:nvPr/>
        </p:nvSpPr>
        <p:spPr>
          <a:xfrm>
            <a:off x="1097280" y="2606040"/>
            <a:ext cx="1691640" cy="292608"/>
          </a:xfrm>
          <a:prstGeom prst="roundRect">
            <a:avLst>
              <a:gd name="adj" fmla="val 50000"/>
            </a:avLst>
          </a:prstGeom>
          <a:solidFill>
            <a:srgbClr val="6D5B97"/>
          </a:solidFill>
          <a:ln/>
        </p:spPr>
      </p:sp>
      <p:sp>
        <p:nvSpPr>
          <p:cNvPr id="10" name="Text 8"/>
          <p:cNvSpPr txBox="1"/>
          <p:nvPr/>
        </p:nvSpPr>
        <p:spPr>
          <a:xfrm>
            <a:off x="1097280" y="2606040"/>
            <a:ext cx="169164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WORKED EXAMPLE</a:t>
            </a:r>
            <a:endParaRPr lang="en-US" sz="950" dirty="0"/>
          </a:p>
        </p:txBody>
      </p:sp>
      <p:sp>
        <p:nvSpPr>
          <p:cNvPr id="11" name="Text 9"/>
          <p:cNvSpPr txBox="1"/>
          <p:nvPr/>
        </p:nvSpPr>
        <p:spPr>
          <a:xfrm>
            <a:off x="1097280" y="306324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β̂₂</a:t>
            </a:r>
            <a:endParaRPr lang="en-US" sz="1200" dirty="0"/>
          </a:p>
        </p:txBody>
      </p:sp>
      <p:sp>
        <p:nvSpPr>
          <p:cNvPr id="12" name="Text 10"/>
          <p:cNvSpPr txBox="1"/>
          <p:nvPr/>
        </p:nvSpPr>
        <p:spPr>
          <a:xfrm>
            <a:off x="3132734" y="3063240"/>
            <a:ext cx="2810866" cy="365760"/>
          </a:xfrm>
          <a:prstGeom prst="rect">
            <a:avLst/>
          </a:prstGeom>
          <a:noFill/>
          <a:ln/>
        </p:spPr>
        <p:txBody>
          <a:bodyPr wrap="square" lIns="0" tIns="0" rIns="0" bIns="0" rtlCol="0" anchor="ctr"/>
          <a:lstStyle/>
          <a:p>
            <a:pPr algn="r" indent="0" marL="0">
              <a:buNone/>
            </a:pPr>
            <a:r>
              <a:rPr lang="en-US" sz="1300" b="1" dirty="0">
                <a:solidFill>
                  <a:srgbClr val="FFFFFF"/>
                </a:solidFill>
                <a:latin typeface="Consolas" pitchFamily="34" charset="0"/>
                <a:ea typeface="Consolas" pitchFamily="34" charset="-122"/>
                <a:cs typeface="Consolas" pitchFamily="34" charset="-120"/>
              </a:rPr>
              <a:t>0.00983</a:t>
            </a:r>
            <a:endParaRPr lang="en-US" sz="1300" dirty="0"/>
          </a:p>
        </p:txBody>
      </p:sp>
      <p:sp>
        <p:nvSpPr>
          <p:cNvPr id="13" name="Text 11"/>
          <p:cNvSpPr txBox="1"/>
          <p:nvPr/>
        </p:nvSpPr>
        <p:spPr>
          <a:xfrm>
            <a:off x="1097280" y="347472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SE (clustered)</a:t>
            </a:r>
            <a:endParaRPr lang="en-US" sz="1200" dirty="0"/>
          </a:p>
        </p:txBody>
      </p:sp>
      <p:sp>
        <p:nvSpPr>
          <p:cNvPr id="14" name="Text 12"/>
          <p:cNvSpPr txBox="1"/>
          <p:nvPr/>
        </p:nvSpPr>
        <p:spPr>
          <a:xfrm>
            <a:off x="3132734" y="3474720"/>
            <a:ext cx="2810866" cy="365760"/>
          </a:xfrm>
          <a:prstGeom prst="rect">
            <a:avLst/>
          </a:prstGeom>
          <a:noFill/>
          <a:ln/>
        </p:spPr>
        <p:txBody>
          <a:bodyPr wrap="square" lIns="0" tIns="0" rIns="0" bIns="0" rtlCol="0" anchor="ctr"/>
          <a:lstStyle/>
          <a:p>
            <a:pPr algn="r" indent="0" marL="0">
              <a:buNone/>
            </a:pPr>
            <a:r>
              <a:rPr lang="en-US" sz="1300" b="1" dirty="0">
                <a:solidFill>
                  <a:srgbClr val="FFFFFF"/>
                </a:solidFill>
                <a:latin typeface="Consolas" pitchFamily="34" charset="0"/>
                <a:ea typeface="Consolas" pitchFamily="34" charset="-122"/>
                <a:cs typeface="Consolas" pitchFamily="34" charset="-120"/>
              </a:rPr>
              <a:t>0.00098</a:t>
            </a:r>
            <a:endParaRPr lang="en-US" sz="1300" dirty="0"/>
          </a:p>
        </p:txBody>
      </p:sp>
      <p:sp>
        <p:nvSpPr>
          <p:cNvPr id="15" name="Text 13"/>
          <p:cNvSpPr txBox="1"/>
          <p:nvPr/>
        </p:nvSpPr>
        <p:spPr>
          <a:xfrm>
            <a:off x="6126480" y="306324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t-statistic</a:t>
            </a:r>
            <a:endParaRPr lang="en-US" sz="1200" dirty="0"/>
          </a:p>
        </p:txBody>
      </p:sp>
      <p:sp>
        <p:nvSpPr>
          <p:cNvPr id="16" name="Text 14"/>
          <p:cNvSpPr txBox="1"/>
          <p:nvPr/>
        </p:nvSpPr>
        <p:spPr>
          <a:xfrm>
            <a:off x="8161934" y="3063240"/>
            <a:ext cx="2810866" cy="365760"/>
          </a:xfrm>
          <a:prstGeom prst="rect">
            <a:avLst/>
          </a:prstGeom>
          <a:noFill/>
          <a:ln/>
        </p:spPr>
        <p:txBody>
          <a:bodyPr wrap="square" lIns="0" tIns="0" rIns="0" bIns="0" rtlCol="0" anchor="ctr"/>
          <a:lstStyle/>
          <a:p>
            <a:pPr algn="r" indent="0" marL="0">
              <a:buNone/>
            </a:pPr>
            <a:r>
              <a:rPr lang="en-US" sz="1300" b="1" dirty="0">
                <a:solidFill>
                  <a:srgbClr val="FFFFFF"/>
                </a:solidFill>
                <a:latin typeface="Consolas" pitchFamily="34" charset="0"/>
                <a:ea typeface="Consolas" pitchFamily="34" charset="-122"/>
                <a:cs typeface="Consolas" pitchFamily="34" charset="-120"/>
              </a:rPr>
              <a:t>10.00</a:t>
            </a:r>
            <a:endParaRPr lang="en-US" sz="1300" dirty="0"/>
          </a:p>
        </p:txBody>
      </p:sp>
      <p:sp>
        <p:nvSpPr>
          <p:cNvPr id="17" name="Text 15"/>
          <p:cNvSpPr txBox="1"/>
          <p:nvPr/>
        </p:nvSpPr>
        <p:spPr>
          <a:xfrm>
            <a:off x="6126480" y="347472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p-value (df=9)</a:t>
            </a:r>
            <a:endParaRPr lang="en-US" sz="1200" dirty="0"/>
          </a:p>
        </p:txBody>
      </p:sp>
      <p:sp>
        <p:nvSpPr>
          <p:cNvPr id="18" name="Text 16"/>
          <p:cNvSpPr txBox="1"/>
          <p:nvPr/>
        </p:nvSpPr>
        <p:spPr>
          <a:xfrm>
            <a:off x="8161934" y="3474720"/>
            <a:ext cx="2810866" cy="365760"/>
          </a:xfrm>
          <a:prstGeom prst="rect">
            <a:avLst/>
          </a:prstGeom>
          <a:noFill/>
          <a:ln/>
        </p:spPr>
        <p:txBody>
          <a:bodyPr wrap="square" lIns="0" tIns="0" rIns="0" bIns="0" rtlCol="0" anchor="ctr"/>
          <a:lstStyle/>
          <a:p>
            <a:pPr algn="r" indent="0" marL="0">
              <a:buNone/>
            </a:pPr>
            <a:r>
              <a:rPr lang="en-US" sz="1300" b="1" dirty="0">
                <a:solidFill>
                  <a:srgbClr val="F5B971"/>
                </a:solidFill>
                <a:latin typeface="Consolas" pitchFamily="34" charset="0"/>
                <a:ea typeface="Consolas" pitchFamily="34" charset="-122"/>
                <a:cs typeface="Consolas" pitchFamily="34" charset="-120"/>
              </a:rPr>
              <a:t>&lt;0.0001</a:t>
            </a:r>
            <a:endParaRPr lang="en-US" sz="1300" dirty="0"/>
          </a:p>
        </p:txBody>
      </p:sp>
      <p:sp>
        <p:nvSpPr>
          <p:cNvPr id="19" name="Text 17"/>
          <p:cNvSpPr txBox="1"/>
          <p:nvPr/>
        </p:nvSpPr>
        <p:spPr>
          <a:xfrm>
            <a:off x="1097280" y="4023360"/>
            <a:ext cx="9966960" cy="822960"/>
          </a:xfrm>
          <a:prstGeom prst="rect">
            <a:avLst/>
          </a:prstGeom>
          <a:noFill/>
          <a:ln/>
        </p:spPr>
        <p:txBody>
          <a:bodyPr wrap="square" lIns="0" tIns="0" rIns="0" bIns="0" rtlCol="0" anchor="ctr"/>
          <a:lstStyle/>
          <a:p>
            <a:pPr indent="0" marL="0">
              <a:lnSpc>
                <a:spcPct val="130000"/>
              </a:lnSpc>
              <a:buNone/>
            </a:pPr>
            <a:r>
              <a:rPr lang="en-US" sz="1250" i="1" dirty="0">
                <a:solidFill>
                  <a:srgbClr val="D7E6DC"/>
                </a:solidFill>
                <a:latin typeface="Calibri" pitchFamily="34" charset="0"/>
                <a:ea typeface="Calibri" pitchFamily="34" charset="-122"/>
                <a:cs typeface="Calibri" pitchFamily="34" charset="-120"/>
              </a:rPr>
              <a:t>Verdict: SUPPORTED — tiny p-value, and the coefficient clears its economic floor (a topology shift moving PTDF by this much is operationally meaningful).</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163C2C"/>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H3</a:t>
            </a:r>
            <a:endParaRPr lang="en-US" sz="1050" dirty="0"/>
          </a:p>
        </p:txBody>
      </p:sp>
      <p:sp>
        <p:nvSpPr>
          <p:cNvPr id="4" name="Text 2"/>
          <p:cNvSpPr txBox="1"/>
          <p:nvPr/>
        </p:nvSpPr>
        <p:spPr>
          <a:xfrm>
            <a:off x="640080" y="914400"/>
            <a:ext cx="10881360" cy="594360"/>
          </a:xfrm>
          <a:prstGeom prst="rect">
            <a:avLst/>
          </a:prstGeom>
          <a:noFill/>
          <a:ln/>
        </p:spPr>
        <p:txBody>
          <a:bodyPr wrap="square" lIns="0" tIns="0" rIns="0" bIns="0" rtlCol="0" anchor="ctr"/>
          <a:lstStyle/>
          <a:p>
            <a:pPr indent="0" marL="0">
              <a:buNone/>
            </a:pPr>
            <a:r>
              <a:rPr lang="en-US" sz="2800" b="1" dirty="0">
                <a:solidFill>
                  <a:srgbClr val="18181B"/>
                </a:solidFill>
                <a:latin typeface="Cambria" pitchFamily="34" charset="0"/>
                <a:ea typeface="Cambria" pitchFamily="34" charset="-122"/>
                <a:cs typeface="Cambria" pitchFamily="34" charset="-120"/>
              </a:rPr>
              <a:t>Forced Outages → RAM</a:t>
            </a:r>
            <a:endParaRPr lang="en-US" sz="2800" dirty="0"/>
          </a:p>
        </p:txBody>
      </p:sp>
      <p:sp>
        <p:nvSpPr>
          <p:cNvPr id="5" name="Text 3"/>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6" name="Text 4"/>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15</a:t>
            </a:r>
            <a:endParaRPr lang="en-US" sz="900" dirty="0"/>
          </a:p>
        </p:txBody>
      </p:sp>
      <p:sp>
        <p:nvSpPr>
          <p:cNvPr id="7" name="Text 5"/>
          <p:cNvSpPr txBox="1"/>
          <p:nvPr/>
        </p:nvSpPr>
        <p:spPr>
          <a:xfrm>
            <a:off x="640080" y="1554480"/>
            <a:ext cx="10881360" cy="777240"/>
          </a:xfrm>
          <a:prstGeom prst="rect">
            <a:avLst/>
          </a:prstGeom>
          <a:noFill/>
          <a:ln/>
        </p:spPr>
        <p:txBody>
          <a:bodyPr wrap="square" lIns="0" tIns="0" rIns="0" bIns="0" rtlCol="0" anchor="ctr"/>
          <a:lstStyle/>
          <a:p>
            <a:pPr indent="0" marL="0">
              <a:lnSpc>
                <a:spcPct val="125000"/>
              </a:lnSpc>
              <a:buNone/>
            </a:pPr>
            <a:r>
              <a:rPr lang="en-US" sz="1250" dirty="0">
                <a:solidFill>
                  <a:srgbClr val="6B6B73"/>
                </a:solidFill>
                <a:latin typeface="Calibri" pitchFamily="34" charset="0"/>
                <a:ea typeface="Calibri" pitchFamily="34" charset="-122"/>
                <a:cs typeface="Calibri" pitchFamily="34" charset="-120"/>
              </a:rPr>
              <a:t>Because RAM is the seven-term identity, a significant β̂₃ says the COMBINED, already-netted effect across every term moved — it doesn't say which term. That's what ΔRAM decomposition is for. Worked with fixed effects across three CNECs, so the panel machinery is visible directly.</a:t>
            </a:r>
            <a:endParaRPr lang="en-US" sz="1250" dirty="0"/>
          </a:p>
        </p:txBody>
      </p:sp>
      <p:sp>
        <p:nvSpPr>
          <p:cNvPr id="8" name="Shape 6"/>
          <p:cNvSpPr/>
          <p:nvPr/>
        </p:nvSpPr>
        <p:spPr>
          <a:xfrm>
            <a:off x="822960" y="2468880"/>
            <a:ext cx="10515600" cy="2651760"/>
          </a:xfrm>
          <a:prstGeom prst="roundRect">
            <a:avLst>
              <a:gd name="adj" fmla="val 3448"/>
            </a:avLst>
          </a:prstGeom>
          <a:solidFill>
            <a:srgbClr val="163C2C"/>
          </a:solidFill>
          <a:ln/>
          <a:effectLst>
            <a:outerShdw sx="100000" sy="100000" kx="0" ky="0" algn="bl" rotWithShape="0" blurRad="101600" dist="38100" dir="5400000">
              <a:srgbClr val="163C2C">
                <a:alpha val="18000"/>
              </a:srgbClr>
            </a:outerShdw>
          </a:effectLst>
        </p:spPr>
      </p:sp>
      <p:sp>
        <p:nvSpPr>
          <p:cNvPr id="9" name="Shape 7"/>
          <p:cNvSpPr/>
          <p:nvPr/>
        </p:nvSpPr>
        <p:spPr>
          <a:xfrm>
            <a:off x="1097280" y="2697480"/>
            <a:ext cx="1691640" cy="292608"/>
          </a:xfrm>
          <a:prstGeom prst="roundRect">
            <a:avLst>
              <a:gd name="adj" fmla="val 50000"/>
            </a:avLst>
          </a:prstGeom>
          <a:solidFill>
            <a:srgbClr val="6D5B97"/>
          </a:solidFill>
          <a:ln/>
        </p:spPr>
      </p:sp>
      <p:sp>
        <p:nvSpPr>
          <p:cNvPr id="10" name="Text 8"/>
          <p:cNvSpPr txBox="1"/>
          <p:nvPr/>
        </p:nvSpPr>
        <p:spPr>
          <a:xfrm>
            <a:off x="1097280" y="2697480"/>
            <a:ext cx="169164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WORKED EXAMPLE</a:t>
            </a:r>
            <a:endParaRPr lang="en-US" sz="950" dirty="0"/>
          </a:p>
        </p:txBody>
      </p:sp>
      <p:sp>
        <p:nvSpPr>
          <p:cNvPr id="11" name="Text 9"/>
          <p:cNvSpPr txBox="1"/>
          <p:nvPr/>
        </p:nvSpPr>
        <p:spPr>
          <a:xfrm>
            <a:off x="1097280" y="3017520"/>
            <a:ext cx="9966960" cy="320040"/>
          </a:xfrm>
          <a:prstGeom prst="rect">
            <a:avLst/>
          </a:prstGeom>
          <a:noFill/>
          <a:ln/>
        </p:spPr>
        <p:txBody>
          <a:bodyPr wrap="square" lIns="0" tIns="0" rIns="0" bIns="0" rtlCol="0" anchor="ctr"/>
          <a:lstStyle/>
          <a:p>
            <a:pPr indent="0" marL="0">
              <a:buNone/>
            </a:pPr>
            <a:r>
              <a:rPr lang="en-US" sz="1100" dirty="0">
                <a:solidFill>
                  <a:srgbClr val="D7E6DC"/>
                </a:solidFill>
                <a:latin typeface="Calibri" pitchFamily="34" charset="0"/>
                <a:ea typeface="Calibri" pitchFamily="34" charset="-122"/>
                <a:cs typeface="Calibri" pitchFamily="34" charset="-120"/>
              </a:rPr>
              <a:t>3 CNECs × 4 periods (2 pre, 2 during), RAM in MW — fixed-effects (within) estimator</a:t>
            </a:r>
            <a:endParaRPr lang="en-US" sz="1100" dirty="0"/>
          </a:p>
        </p:txBody>
      </p:sp>
      <p:sp>
        <p:nvSpPr>
          <p:cNvPr id="12" name="Text 10"/>
          <p:cNvSpPr txBox="1"/>
          <p:nvPr/>
        </p:nvSpPr>
        <p:spPr>
          <a:xfrm>
            <a:off x="1097280" y="338328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Pooled β̂ (no FE)</a:t>
            </a:r>
            <a:endParaRPr lang="en-US" sz="1200" dirty="0"/>
          </a:p>
        </p:txBody>
      </p:sp>
      <p:sp>
        <p:nvSpPr>
          <p:cNvPr id="13" name="Text 11"/>
          <p:cNvSpPr txBox="1"/>
          <p:nvPr/>
        </p:nvSpPr>
        <p:spPr>
          <a:xfrm>
            <a:off x="3132734" y="3383280"/>
            <a:ext cx="2810866" cy="365760"/>
          </a:xfrm>
          <a:prstGeom prst="rect">
            <a:avLst/>
          </a:prstGeom>
          <a:noFill/>
          <a:ln/>
        </p:spPr>
        <p:txBody>
          <a:bodyPr wrap="square" lIns="0" tIns="0" rIns="0" bIns="0" rtlCol="0" anchor="ctr"/>
          <a:lstStyle/>
          <a:p>
            <a:pPr algn="r" indent="0" marL="0">
              <a:buNone/>
            </a:pPr>
            <a:r>
              <a:rPr lang="en-US" sz="1300" b="1" dirty="0">
                <a:solidFill>
                  <a:srgbClr val="6B6B73"/>
                </a:solidFill>
                <a:latin typeface="Consolas" pitchFamily="34" charset="0"/>
                <a:ea typeface="Consolas" pitchFamily="34" charset="-122"/>
                <a:cs typeface="Consolas" pitchFamily="34" charset="-120"/>
              </a:rPr>
              <a:t>−32.17</a:t>
            </a:r>
            <a:endParaRPr lang="en-US" sz="1300" dirty="0"/>
          </a:p>
        </p:txBody>
      </p:sp>
      <p:sp>
        <p:nvSpPr>
          <p:cNvPr id="14" name="Text 12"/>
          <p:cNvSpPr txBox="1"/>
          <p:nvPr/>
        </p:nvSpPr>
        <p:spPr>
          <a:xfrm>
            <a:off x="1097280" y="379476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β̂₃ (fixed effects)</a:t>
            </a:r>
            <a:endParaRPr lang="en-US" sz="1200" dirty="0"/>
          </a:p>
        </p:txBody>
      </p:sp>
      <p:sp>
        <p:nvSpPr>
          <p:cNvPr id="15" name="Text 13"/>
          <p:cNvSpPr txBox="1"/>
          <p:nvPr/>
        </p:nvSpPr>
        <p:spPr>
          <a:xfrm>
            <a:off x="3132734" y="3794760"/>
            <a:ext cx="2810866" cy="365760"/>
          </a:xfrm>
          <a:prstGeom prst="rect">
            <a:avLst/>
          </a:prstGeom>
          <a:noFill/>
          <a:ln/>
        </p:spPr>
        <p:txBody>
          <a:bodyPr wrap="square" lIns="0" tIns="0" rIns="0" bIns="0" rtlCol="0" anchor="ctr"/>
          <a:lstStyle/>
          <a:p>
            <a:pPr algn="r" indent="0" marL="0">
              <a:buNone/>
            </a:pPr>
            <a:r>
              <a:rPr lang="en-US" sz="1300" b="1" dirty="0">
                <a:solidFill>
                  <a:srgbClr val="FFFFFF"/>
                </a:solidFill>
                <a:latin typeface="Consolas" pitchFamily="34" charset="0"/>
                <a:ea typeface="Consolas" pitchFamily="34" charset="-122"/>
                <a:cs typeface="Consolas" pitchFamily="34" charset="-120"/>
              </a:rPr>
              <a:t>−32.17</a:t>
            </a:r>
            <a:endParaRPr lang="en-US" sz="1300" dirty="0"/>
          </a:p>
        </p:txBody>
      </p:sp>
      <p:sp>
        <p:nvSpPr>
          <p:cNvPr id="16" name="Text 14"/>
          <p:cNvSpPr txBox="1"/>
          <p:nvPr/>
        </p:nvSpPr>
        <p:spPr>
          <a:xfrm>
            <a:off x="6126480" y="338328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SE (df=8)</a:t>
            </a:r>
            <a:endParaRPr lang="en-US" sz="1200" dirty="0"/>
          </a:p>
        </p:txBody>
      </p:sp>
      <p:sp>
        <p:nvSpPr>
          <p:cNvPr id="17" name="Text 15"/>
          <p:cNvSpPr txBox="1"/>
          <p:nvPr/>
        </p:nvSpPr>
        <p:spPr>
          <a:xfrm>
            <a:off x="8161934" y="3383280"/>
            <a:ext cx="2810866" cy="365760"/>
          </a:xfrm>
          <a:prstGeom prst="rect">
            <a:avLst/>
          </a:prstGeom>
          <a:noFill/>
          <a:ln/>
        </p:spPr>
        <p:txBody>
          <a:bodyPr wrap="square" lIns="0" tIns="0" rIns="0" bIns="0" rtlCol="0" anchor="ctr"/>
          <a:lstStyle/>
          <a:p>
            <a:pPr algn="r" indent="0" marL="0">
              <a:buNone/>
            </a:pPr>
            <a:r>
              <a:rPr lang="en-US" sz="1300" b="1" dirty="0">
                <a:solidFill>
                  <a:srgbClr val="FFFFFF"/>
                </a:solidFill>
                <a:latin typeface="Consolas" pitchFamily="34" charset="0"/>
                <a:ea typeface="Consolas" pitchFamily="34" charset="-122"/>
                <a:cs typeface="Consolas" pitchFamily="34" charset="-120"/>
              </a:rPr>
              <a:t>1.845</a:t>
            </a:r>
            <a:endParaRPr lang="en-US" sz="1300" dirty="0"/>
          </a:p>
        </p:txBody>
      </p:sp>
      <p:sp>
        <p:nvSpPr>
          <p:cNvPr id="18" name="Text 16"/>
          <p:cNvSpPr txBox="1"/>
          <p:nvPr/>
        </p:nvSpPr>
        <p:spPr>
          <a:xfrm>
            <a:off x="6126480" y="379476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t, p</a:t>
            </a:r>
            <a:endParaRPr lang="en-US" sz="1200" dirty="0"/>
          </a:p>
        </p:txBody>
      </p:sp>
      <p:sp>
        <p:nvSpPr>
          <p:cNvPr id="19" name="Text 17"/>
          <p:cNvSpPr txBox="1"/>
          <p:nvPr/>
        </p:nvSpPr>
        <p:spPr>
          <a:xfrm>
            <a:off x="8161934" y="3794760"/>
            <a:ext cx="2810866" cy="365760"/>
          </a:xfrm>
          <a:prstGeom prst="rect">
            <a:avLst/>
          </a:prstGeom>
          <a:noFill/>
          <a:ln/>
        </p:spPr>
        <p:txBody>
          <a:bodyPr wrap="square" lIns="0" tIns="0" rIns="0" bIns="0" rtlCol="0" anchor="ctr"/>
          <a:lstStyle/>
          <a:p>
            <a:pPr algn="r" indent="0" marL="0">
              <a:buNone/>
            </a:pPr>
            <a:r>
              <a:rPr lang="en-US" sz="1300" b="1" dirty="0">
                <a:solidFill>
                  <a:srgbClr val="F5B971"/>
                </a:solidFill>
                <a:latin typeface="Consolas" pitchFamily="34" charset="0"/>
                <a:ea typeface="Consolas" pitchFamily="34" charset="-122"/>
                <a:cs typeface="Consolas" pitchFamily="34" charset="-120"/>
              </a:rPr>
              <a:t>−17.44, &lt;0.0001</a:t>
            </a:r>
            <a:endParaRPr lang="en-US" sz="1300" dirty="0"/>
          </a:p>
        </p:txBody>
      </p:sp>
      <p:sp>
        <p:nvSpPr>
          <p:cNvPr id="20" name="Text 18"/>
          <p:cNvSpPr txBox="1"/>
          <p:nvPr/>
        </p:nvSpPr>
        <p:spPr>
          <a:xfrm>
            <a:off x="1097280" y="4251960"/>
            <a:ext cx="9966960" cy="777240"/>
          </a:xfrm>
          <a:prstGeom prst="rect">
            <a:avLst/>
          </a:prstGeom>
          <a:noFill/>
          <a:ln/>
        </p:spPr>
        <p:txBody>
          <a:bodyPr wrap="square" lIns="0" tIns="0" rIns="0" bIns="0" rtlCol="0" anchor="ctr"/>
          <a:lstStyle/>
          <a:p>
            <a:pPr indent="0" marL="0">
              <a:lnSpc>
                <a:spcPct val="125000"/>
              </a:lnSpc>
              <a:buNone/>
            </a:pPr>
            <a:r>
              <a:rPr lang="en-US" sz="1200" i="1" dirty="0">
                <a:solidFill>
                  <a:srgbClr val="D7E6DC"/>
                </a:solidFill>
                <a:latin typeface="Calibri" pitchFamily="34" charset="0"/>
                <a:ea typeface="Calibri" pitchFamily="34" charset="-122"/>
                <a:cs typeface="Calibri" pitchFamily="34" charset="-120"/>
              </a:rPr>
              <a:t>Pooled and FE estimates agree here because the three CNECs' baselines are close together — unlike the omitted-variable-bias demo earlier, where they didn't. Verdict: SUPPORTED, and the ~32 MW average RAM loss clears the economic floor — ΔRAM decomposition (later) is what tells you WHICH of the seven terms drove it.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163C2C"/>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H4</a:t>
            </a:r>
            <a:endParaRPr lang="en-US" sz="1050" dirty="0"/>
          </a:p>
        </p:txBody>
      </p:sp>
      <p:sp>
        <p:nvSpPr>
          <p:cNvPr id="4" name="Text 2"/>
          <p:cNvSpPr txBox="1"/>
          <p:nvPr/>
        </p:nvSpPr>
        <p:spPr>
          <a:xfrm>
            <a:off x="640080" y="914400"/>
            <a:ext cx="10881360" cy="594360"/>
          </a:xfrm>
          <a:prstGeom prst="rect">
            <a:avLst/>
          </a:prstGeom>
          <a:noFill/>
          <a:ln/>
        </p:spPr>
        <p:txBody>
          <a:bodyPr wrap="square" lIns="0" tIns="0" rIns="0" bIns="0" rtlCol="0" anchor="ctr"/>
          <a:lstStyle/>
          <a:p>
            <a:pPr indent="0" marL="0">
              <a:buNone/>
            </a:pPr>
            <a:r>
              <a:rPr lang="en-US" sz="2800" b="1" dirty="0">
                <a:solidFill>
                  <a:srgbClr val="18181B"/>
                </a:solidFill>
                <a:latin typeface="Cambria" pitchFamily="34" charset="0"/>
                <a:ea typeface="Cambria" pitchFamily="34" charset="-122"/>
                <a:cs typeface="Cambria" pitchFamily="34" charset="-120"/>
              </a:rPr>
              <a:t>Forced Outages → Shadow Price</a:t>
            </a:r>
            <a:endParaRPr lang="en-US" sz="2800" dirty="0"/>
          </a:p>
        </p:txBody>
      </p:sp>
      <p:sp>
        <p:nvSpPr>
          <p:cNvPr id="5" name="Text 3"/>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6" name="Text 4"/>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16</a:t>
            </a:r>
            <a:endParaRPr lang="en-US" sz="900" dirty="0"/>
          </a:p>
        </p:txBody>
      </p:sp>
      <p:sp>
        <p:nvSpPr>
          <p:cNvPr id="7" name="Text 5"/>
          <p:cNvSpPr txBox="1"/>
          <p:nvPr/>
        </p:nvSpPr>
        <p:spPr>
          <a:xfrm>
            <a:off x="640080" y="1554480"/>
            <a:ext cx="10881360" cy="685800"/>
          </a:xfrm>
          <a:prstGeom prst="rect">
            <a:avLst/>
          </a:prstGeom>
          <a:noFill/>
          <a:ln/>
        </p:spPr>
        <p:txBody>
          <a:bodyPr wrap="square" lIns="0" tIns="0" rIns="0" bIns="0" rtlCol="0" anchor="ctr"/>
          <a:lstStyle/>
          <a:p>
            <a:pPr indent="0" marL="0">
              <a:lnSpc>
                <a:spcPct val="125000"/>
              </a:lnSpc>
              <a:buNone/>
            </a:pPr>
            <a:r>
              <a:rPr lang="en-US" sz="1250" dirty="0">
                <a:solidFill>
                  <a:srgbClr val="6B6B73"/>
                </a:solidFill>
                <a:latin typeface="Calibri" pitchFamily="34" charset="0"/>
                <a:ea typeface="Calibri" pitchFamily="34" charset="-122"/>
                <a:cs typeface="Calibri" pitchFamily="34" charset="-120"/>
              </a:rPr>
              <a:t>Fit on the BINDING SUBSAMPLE only — rows where the CNEC actually has a positive shadow price — since a non-binding CNEC's shadow price is exactly, structurally zero, not just small. Including those rows would dilute the estimate with a floor effect, not real variation.</a:t>
            </a:r>
            <a:endParaRPr lang="en-US" sz="1250" dirty="0"/>
          </a:p>
        </p:txBody>
      </p:sp>
      <p:sp>
        <p:nvSpPr>
          <p:cNvPr id="8" name="Shape 6"/>
          <p:cNvSpPr/>
          <p:nvPr/>
        </p:nvSpPr>
        <p:spPr>
          <a:xfrm>
            <a:off x="822960" y="2377440"/>
            <a:ext cx="10515600" cy="2651760"/>
          </a:xfrm>
          <a:prstGeom prst="roundRect">
            <a:avLst>
              <a:gd name="adj" fmla="val 3448"/>
            </a:avLst>
          </a:prstGeom>
          <a:solidFill>
            <a:srgbClr val="163C2C"/>
          </a:solidFill>
          <a:ln/>
          <a:effectLst>
            <a:outerShdw sx="100000" sy="100000" kx="0" ky="0" algn="bl" rotWithShape="0" blurRad="101600" dist="38100" dir="5400000">
              <a:srgbClr val="163C2C">
                <a:alpha val="18000"/>
              </a:srgbClr>
            </a:outerShdw>
          </a:effectLst>
        </p:spPr>
      </p:sp>
      <p:sp>
        <p:nvSpPr>
          <p:cNvPr id="9" name="Shape 7"/>
          <p:cNvSpPr/>
          <p:nvPr/>
        </p:nvSpPr>
        <p:spPr>
          <a:xfrm>
            <a:off x="1097280" y="2606040"/>
            <a:ext cx="1691640" cy="292608"/>
          </a:xfrm>
          <a:prstGeom prst="roundRect">
            <a:avLst>
              <a:gd name="adj" fmla="val 50000"/>
            </a:avLst>
          </a:prstGeom>
          <a:solidFill>
            <a:srgbClr val="6D5B97"/>
          </a:solidFill>
          <a:ln/>
        </p:spPr>
      </p:sp>
      <p:sp>
        <p:nvSpPr>
          <p:cNvPr id="10" name="Text 8"/>
          <p:cNvSpPr txBox="1"/>
          <p:nvPr/>
        </p:nvSpPr>
        <p:spPr>
          <a:xfrm>
            <a:off x="1097280" y="2606040"/>
            <a:ext cx="169164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WORKED EXAMPLE</a:t>
            </a:r>
            <a:endParaRPr lang="en-US" sz="950" dirty="0"/>
          </a:p>
        </p:txBody>
      </p:sp>
      <p:sp>
        <p:nvSpPr>
          <p:cNvPr id="11" name="Text 9"/>
          <p:cNvSpPr txBox="1"/>
          <p:nvPr/>
        </p:nvSpPr>
        <p:spPr>
          <a:xfrm>
            <a:off x="1097280" y="306324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β̂₄</a:t>
            </a:r>
            <a:endParaRPr lang="en-US" sz="1200" dirty="0"/>
          </a:p>
        </p:txBody>
      </p:sp>
      <p:sp>
        <p:nvSpPr>
          <p:cNvPr id="12" name="Text 10"/>
          <p:cNvSpPr txBox="1"/>
          <p:nvPr/>
        </p:nvSpPr>
        <p:spPr>
          <a:xfrm>
            <a:off x="3132734" y="3063240"/>
            <a:ext cx="2810866" cy="365760"/>
          </a:xfrm>
          <a:prstGeom prst="rect">
            <a:avLst/>
          </a:prstGeom>
          <a:noFill/>
          <a:ln/>
        </p:spPr>
        <p:txBody>
          <a:bodyPr wrap="square" lIns="0" tIns="0" rIns="0" bIns="0" rtlCol="0" anchor="ctr"/>
          <a:lstStyle/>
          <a:p>
            <a:pPr algn="r" indent="0" marL="0">
              <a:buNone/>
            </a:pPr>
            <a:r>
              <a:rPr lang="en-US" sz="1300" b="1" dirty="0">
                <a:solidFill>
                  <a:srgbClr val="FFFFFF"/>
                </a:solidFill>
                <a:latin typeface="Consolas" pitchFamily="34" charset="0"/>
                <a:ea typeface="Consolas" pitchFamily="34" charset="-122"/>
                <a:cs typeface="Consolas" pitchFamily="34" charset="-120"/>
              </a:rPr>
              <a:t>11.75</a:t>
            </a:r>
            <a:endParaRPr lang="en-US" sz="1300" dirty="0"/>
          </a:p>
        </p:txBody>
      </p:sp>
      <p:sp>
        <p:nvSpPr>
          <p:cNvPr id="13" name="Text 11"/>
          <p:cNvSpPr txBox="1"/>
          <p:nvPr/>
        </p:nvSpPr>
        <p:spPr>
          <a:xfrm>
            <a:off x="1097280" y="347472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SE (clustered)</a:t>
            </a:r>
            <a:endParaRPr lang="en-US" sz="1200" dirty="0"/>
          </a:p>
        </p:txBody>
      </p:sp>
      <p:sp>
        <p:nvSpPr>
          <p:cNvPr id="14" name="Text 12"/>
          <p:cNvSpPr txBox="1"/>
          <p:nvPr/>
        </p:nvSpPr>
        <p:spPr>
          <a:xfrm>
            <a:off x="3132734" y="3474720"/>
            <a:ext cx="2810866" cy="365760"/>
          </a:xfrm>
          <a:prstGeom prst="rect">
            <a:avLst/>
          </a:prstGeom>
          <a:noFill/>
          <a:ln/>
        </p:spPr>
        <p:txBody>
          <a:bodyPr wrap="square" lIns="0" tIns="0" rIns="0" bIns="0" rtlCol="0" anchor="ctr"/>
          <a:lstStyle/>
          <a:p>
            <a:pPr algn="r" indent="0" marL="0">
              <a:buNone/>
            </a:pPr>
            <a:r>
              <a:rPr lang="en-US" sz="1300" b="1" dirty="0">
                <a:solidFill>
                  <a:srgbClr val="FFFFFF"/>
                </a:solidFill>
                <a:latin typeface="Consolas" pitchFamily="34" charset="0"/>
                <a:ea typeface="Consolas" pitchFamily="34" charset="-122"/>
                <a:cs typeface="Consolas" pitchFamily="34" charset="-120"/>
              </a:rPr>
              <a:t>1.328</a:t>
            </a:r>
            <a:endParaRPr lang="en-US" sz="1300" dirty="0"/>
          </a:p>
        </p:txBody>
      </p:sp>
      <p:sp>
        <p:nvSpPr>
          <p:cNvPr id="15" name="Text 13"/>
          <p:cNvSpPr txBox="1"/>
          <p:nvPr/>
        </p:nvSpPr>
        <p:spPr>
          <a:xfrm>
            <a:off x="6126480" y="306324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t-statistic</a:t>
            </a:r>
            <a:endParaRPr lang="en-US" sz="1200" dirty="0"/>
          </a:p>
        </p:txBody>
      </p:sp>
      <p:sp>
        <p:nvSpPr>
          <p:cNvPr id="16" name="Text 14"/>
          <p:cNvSpPr txBox="1"/>
          <p:nvPr/>
        </p:nvSpPr>
        <p:spPr>
          <a:xfrm>
            <a:off x="8161934" y="3063240"/>
            <a:ext cx="2810866" cy="365760"/>
          </a:xfrm>
          <a:prstGeom prst="rect">
            <a:avLst/>
          </a:prstGeom>
          <a:noFill/>
          <a:ln/>
        </p:spPr>
        <p:txBody>
          <a:bodyPr wrap="square" lIns="0" tIns="0" rIns="0" bIns="0" rtlCol="0" anchor="ctr"/>
          <a:lstStyle/>
          <a:p>
            <a:pPr algn="r" indent="0" marL="0">
              <a:buNone/>
            </a:pPr>
            <a:r>
              <a:rPr lang="en-US" sz="1300" b="1" dirty="0">
                <a:solidFill>
                  <a:srgbClr val="FFFFFF"/>
                </a:solidFill>
                <a:latin typeface="Consolas" pitchFamily="34" charset="0"/>
                <a:ea typeface="Consolas" pitchFamily="34" charset="-122"/>
                <a:cs typeface="Consolas" pitchFamily="34" charset="-120"/>
              </a:rPr>
              <a:t>8.85</a:t>
            </a:r>
            <a:endParaRPr lang="en-US" sz="1300" dirty="0"/>
          </a:p>
        </p:txBody>
      </p:sp>
      <p:sp>
        <p:nvSpPr>
          <p:cNvPr id="17" name="Text 15"/>
          <p:cNvSpPr txBox="1"/>
          <p:nvPr/>
        </p:nvSpPr>
        <p:spPr>
          <a:xfrm>
            <a:off x="6126480" y="347472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p-value (df=5)</a:t>
            </a:r>
            <a:endParaRPr lang="en-US" sz="1200" dirty="0"/>
          </a:p>
        </p:txBody>
      </p:sp>
      <p:sp>
        <p:nvSpPr>
          <p:cNvPr id="18" name="Text 16"/>
          <p:cNvSpPr txBox="1"/>
          <p:nvPr/>
        </p:nvSpPr>
        <p:spPr>
          <a:xfrm>
            <a:off x="8161934" y="3474720"/>
            <a:ext cx="2810866" cy="365760"/>
          </a:xfrm>
          <a:prstGeom prst="rect">
            <a:avLst/>
          </a:prstGeom>
          <a:noFill/>
          <a:ln/>
        </p:spPr>
        <p:txBody>
          <a:bodyPr wrap="square" lIns="0" tIns="0" rIns="0" bIns="0" rtlCol="0" anchor="ctr"/>
          <a:lstStyle/>
          <a:p>
            <a:pPr algn="r" indent="0" marL="0">
              <a:buNone/>
            </a:pPr>
            <a:r>
              <a:rPr lang="en-US" sz="1300" b="1" dirty="0">
                <a:solidFill>
                  <a:srgbClr val="F5B971"/>
                </a:solidFill>
                <a:latin typeface="Consolas" pitchFamily="34" charset="0"/>
                <a:ea typeface="Consolas" pitchFamily="34" charset="-122"/>
                <a:cs typeface="Consolas" pitchFamily="34" charset="-120"/>
              </a:rPr>
              <a:t>0.0003</a:t>
            </a:r>
            <a:endParaRPr lang="en-US" sz="1300" dirty="0"/>
          </a:p>
        </p:txBody>
      </p:sp>
      <p:sp>
        <p:nvSpPr>
          <p:cNvPr id="19" name="Text 17"/>
          <p:cNvSpPr txBox="1"/>
          <p:nvPr/>
        </p:nvSpPr>
        <p:spPr>
          <a:xfrm>
            <a:off x="1097280" y="4023360"/>
            <a:ext cx="9966960" cy="822960"/>
          </a:xfrm>
          <a:prstGeom prst="rect">
            <a:avLst/>
          </a:prstGeom>
          <a:noFill/>
          <a:ln/>
        </p:spPr>
        <p:txBody>
          <a:bodyPr wrap="square" lIns="0" tIns="0" rIns="0" bIns="0" rtlCol="0" anchor="ctr"/>
          <a:lstStyle/>
          <a:p>
            <a:pPr indent="0" marL="0">
              <a:lnSpc>
                <a:spcPct val="130000"/>
              </a:lnSpc>
              <a:buNone/>
            </a:pPr>
            <a:r>
              <a:rPr lang="en-US" sz="1250" i="1" dirty="0">
                <a:solidFill>
                  <a:srgbClr val="D7E6DC"/>
                </a:solidFill>
                <a:latin typeface="Calibri" pitchFamily="34" charset="0"/>
                <a:ea typeface="Calibri" pitchFamily="34" charset="-122"/>
                <a:cs typeface="Calibri" pitchFamily="34" charset="-120"/>
              </a:rPr>
              <a:t>n here is smaller than H1–H3's — the binding subsample is a fraction of all rows. Watch n alongside the verdict: a striking β̂ on very few binding rows deserves more scrutiny than the same β̂ on hundreds.</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163C2C"/>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H5</a:t>
            </a:r>
            <a:endParaRPr lang="en-US" sz="1050" dirty="0"/>
          </a:p>
        </p:txBody>
      </p:sp>
      <p:sp>
        <p:nvSpPr>
          <p:cNvPr id="4" name="Text 2"/>
          <p:cNvSpPr txBox="1"/>
          <p:nvPr/>
        </p:nvSpPr>
        <p:spPr>
          <a:xfrm>
            <a:off x="640080" y="914400"/>
            <a:ext cx="10881360" cy="594360"/>
          </a:xfrm>
          <a:prstGeom prst="rect">
            <a:avLst/>
          </a:prstGeom>
          <a:noFill/>
          <a:ln/>
        </p:spPr>
        <p:txBody>
          <a:bodyPr wrap="square" lIns="0" tIns="0" rIns="0" bIns="0" rtlCol="0" anchor="ctr"/>
          <a:lstStyle/>
          <a:p>
            <a:pPr indent="0" marL="0">
              <a:buNone/>
            </a:pPr>
            <a:r>
              <a:rPr lang="en-US" sz="2800" b="1" dirty="0">
                <a:solidFill>
                  <a:srgbClr val="18181B"/>
                </a:solidFill>
                <a:latin typeface="Cambria" pitchFamily="34" charset="0"/>
                <a:ea typeface="Cambria" pitchFamily="34" charset="-122"/>
                <a:cs typeface="Cambria" pitchFamily="34" charset="-120"/>
              </a:rPr>
              <a:t>IVA → Logistic Regression</a:t>
            </a:r>
            <a:endParaRPr lang="en-US" sz="2800" dirty="0"/>
          </a:p>
        </p:txBody>
      </p:sp>
      <p:sp>
        <p:nvSpPr>
          <p:cNvPr id="5" name="Text 3"/>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6" name="Text 4"/>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17</a:t>
            </a:r>
            <a:endParaRPr lang="en-US" sz="900" dirty="0"/>
          </a:p>
        </p:txBody>
      </p:sp>
      <p:sp>
        <p:nvSpPr>
          <p:cNvPr id="7" name="Text 5"/>
          <p:cNvSpPr txBox="1"/>
          <p:nvPr/>
        </p:nvSpPr>
        <p:spPr>
          <a:xfrm>
            <a:off x="640080" y="1554480"/>
            <a:ext cx="10881360" cy="548640"/>
          </a:xfrm>
          <a:prstGeom prst="rect">
            <a:avLst/>
          </a:prstGeom>
          <a:noFill/>
          <a:ln/>
        </p:spPr>
        <p:txBody>
          <a:bodyPr wrap="square" lIns="0" tIns="0" rIns="0" bIns="0" rtlCol="0" anchor="ctr"/>
          <a:lstStyle/>
          <a:p>
            <a:pPr indent="0" marL="0">
              <a:lnSpc>
                <a:spcPct val="125000"/>
              </a:lnSpc>
              <a:buNone/>
            </a:pPr>
            <a:r>
              <a:rPr lang="en-US" sz="1250" dirty="0">
                <a:solidFill>
                  <a:srgbClr val="6B6B73"/>
                </a:solidFill>
                <a:latin typeface="Calibri" pitchFamily="34" charset="0"/>
                <a:ea typeface="Calibri" pitchFamily="34" charset="-122"/>
                <a:cs typeface="Calibri" pitchFamily="34" charset="-120"/>
              </a:rPr>
              <a:t>IVA is usually exactly zero, so H5 can't be a linear regression on IVA's SIZE the way H1–H4 are — it's a logit on whether IVA is used AT ALL, comparing forced vs. planned outages.</a:t>
            </a:r>
            <a:endParaRPr lang="en-US" sz="1250" dirty="0"/>
          </a:p>
        </p:txBody>
      </p:sp>
      <p:sp>
        <p:nvSpPr>
          <p:cNvPr id="8" name="Text 6"/>
          <p:cNvSpPr txBox="1"/>
          <p:nvPr/>
        </p:nvSpPr>
        <p:spPr>
          <a:xfrm>
            <a:off x="822960" y="2148840"/>
            <a:ext cx="10515600" cy="457200"/>
          </a:xfrm>
          <a:prstGeom prst="rect">
            <a:avLst/>
          </a:prstGeom>
          <a:solidFill>
            <a:srgbClr val="163C2C"/>
          </a:solidFill>
          <a:ln/>
        </p:spPr>
        <p:txBody>
          <a:bodyPr wrap="square" lIns="0" tIns="0" rIns="0" bIns="0" rtlCol="0" anchor="ctr"/>
          <a:lstStyle/>
          <a:p>
            <a:pPr algn="ctr" indent="0" marL="0">
              <a:buNone/>
            </a:pPr>
            <a:r>
              <a:rPr lang="en-US" sz="1600" dirty="0">
                <a:solidFill>
                  <a:srgbClr val="FFFFFF"/>
                </a:solidFill>
                <a:latin typeface="Cambria" pitchFamily="34" charset="0"/>
                <a:ea typeface="Cambria" pitchFamily="34" charset="-122"/>
                <a:cs typeface="Cambria" pitchFamily="34" charset="-120"/>
              </a:rPr>
              <a:t>ln( p / (1−p) )  =  γ₀ + γ₁ · Forced</a:t>
            </a:r>
            <a:endParaRPr lang="en-US" sz="1600" dirty="0"/>
          </a:p>
        </p:txBody>
      </p:sp>
      <p:sp>
        <p:nvSpPr>
          <p:cNvPr id="9" name="Shape 7"/>
          <p:cNvSpPr/>
          <p:nvPr/>
        </p:nvSpPr>
        <p:spPr>
          <a:xfrm>
            <a:off x="822960" y="2788920"/>
            <a:ext cx="10515600" cy="2148840"/>
          </a:xfrm>
          <a:prstGeom prst="roundRect">
            <a:avLst>
              <a:gd name="adj" fmla="val 4255"/>
            </a:avLst>
          </a:prstGeom>
          <a:solidFill>
            <a:srgbClr val="EEF0F4"/>
          </a:solidFill>
          <a:ln/>
        </p:spPr>
      </p:sp>
      <p:sp>
        <p:nvSpPr>
          <p:cNvPr id="10" name="Shape 8"/>
          <p:cNvSpPr/>
          <p:nvPr/>
        </p:nvSpPr>
        <p:spPr>
          <a:xfrm>
            <a:off x="1051560" y="2999232"/>
            <a:ext cx="1691640" cy="292608"/>
          </a:xfrm>
          <a:prstGeom prst="roundRect">
            <a:avLst>
              <a:gd name="adj" fmla="val 50000"/>
            </a:avLst>
          </a:prstGeom>
          <a:solidFill>
            <a:srgbClr val="6D5B97"/>
          </a:solidFill>
          <a:ln/>
        </p:spPr>
      </p:sp>
      <p:sp>
        <p:nvSpPr>
          <p:cNvPr id="11" name="Text 9"/>
          <p:cNvSpPr txBox="1"/>
          <p:nvPr/>
        </p:nvSpPr>
        <p:spPr>
          <a:xfrm>
            <a:off x="1051560" y="2999232"/>
            <a:ext cx="169164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WORKED EXAMPLE</a:t>
            </a:r>
            <a:endParaRPr lang="en-US" sz="950" dirty="0"/>
          </a:p>
        </p:txBody>
      </p:sp>
      <p:sp>
        <p:nvSpPr>
          <p:cNvPr id="12" name="Text 10"/>
          <p:cNvSpPr txBox="1"/>
          <p:nvPr/>
        </p:nvSpPr>
        <p:spPr>
          <a:xfrm>
            <a:off x="1051560" y="3456432"/>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γ̂₀ (intercept)</a:t>
            </a:r>
            <a:endParaRPr lang="en-US" sz="1200" dirty="0"/>
          </a:p>
        </p:txBody>
      </p:sp>
      <p:sp>
        <p:nvSpPr>
          <p:cNvPr id="13" name="Text 11"/>
          <p:cNvSpPr txBox="1"/>
          <p:nvPr/>
        </p:nvSpPr>
        <p:spPr>
          <a:xfrm>
            <a:off x="3087014" y="3456432"/>
            <a:ext cx="2810866" cy="365760"/>
          </a:xfrm>
          <a:prstGeom prst="rect">
            <a:avLst/>
          </a:prstGeom>
          <a:noFill/>
          <a:ln/>
        </p:spPr>
        <p:txBody>
          <a:bodyPr wrap="square" lIns="0" tIns="0" rIns="0" bIns="0" rtlCol="0" anchor="ctr"/>
          <a:lstStyle/>
          <a:p>
            <a:pPr algn="r" indent="0" marL="0">
              <a:buNone/>
            </a:pPr>
            <a:r>
              <a:rPr lang="en-US" sz="1300" b="1" dirty="0">
                <a:solidFill>
                  <a:srgbClr val="18181B"/>
                </a:solidFill>
                <a:latin typeface="Consolas" pitchFamily="34" charset="0"/>
                <a:ea typeface="Consolas" pitchFamily="34" charset="-122"/>
                <a:cs typeface="Consolas" pitchFamily="34" charset="-120"/>
              </a:rPr>
              <a:t>−1.386</a:t>
            </a:r>
            <a:endParaRPr lang="en-US" sz="1300" dirty="0"/>
          </a:p>
        </p:txBody>
      </p:sp>
      <p:sp>
        <p:nvSpPr>
          <p:cNvPr id="14" name="Text 12"/>
          <p:cNvSpPr txBox="1"/>
          <p:nvPr/>
        </p:nvSpPr>
        <p:spPr>
          <a:xfrm>
            <a:off x="1051560" y="384048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γ̂₁ (Forced)</a:t>
            </a:r>
            <a:endParaRPr lang="en-US" sz="1200" dirty="0"/>
          </a:p>
        </p:txBody>
      </p:sp>
      <p:sp>
        <p:nvSpPr>
          <p:cNvPr id="15" name="Text 13"/>
          <p:cNvSpPr txBox="1"/>
          <p:nvPr/>
        </p:nvSpPr>
        <p:spPr>
          <a:xfrm>
            <a:off x="3087014" y="3840480"/>
            <a:ext cx="2810866" cy="365760"/>
          </a:xfrm>
          <a:prstGeom prst="rect">
            <a:avLst/>
          </a:prstGeom>
          <a:noFill/>
          <a:ln/>
        </p:spPr>
        <p:txBody>
          <a:bodyPr wrap="square" lIns="0" tIns="0" rIns="0" bIns="0" rtlCol="0" anchor="ctr"/>
          <a:lstStyle/>
          <a:p>
            <a:pPr algn="r" indent="0" marL="0">
              <a:buNone/>
            </a:pPr>
            <a:r>
              <a:rPr lang="en-US" sz="1300" b="1" dirty="0">
                <a:solidFill>
                  <a:srgbClr val="18181B"/>
                </a:solidFill>
                <a:latin typeface="Consolas" pitchFamily="34" charset="0"/>
                <a:ea typeface="Consolas" pitchFamily="34" charset="-122"/>
                <a:cs typeface="Consolas" pitchFamily="34" charset="-120"/>
              </a:rPr>
              <a:t>2.773</a:t>
            </a:r>
            <a:endParaRPr lang="en-US" sz="1300" dirty="0"/>
          </a:p>
        </p:txBody>
      </p:sp>
      <p:sp>
        <p:nvSpPr>
          <p:cNvPr id="16" name="Text 14"/>
          <p:cNvSpPr txBox="1"/>
          <p:nvPr/>
        </p:nvSpPr>
        <p:spPr>
          <a:xfrm>
            <a:off x="6035040" y="3456432"/>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P(IVA | planned)</a:t>
            </a:r>
            <a:endParaRPr lang="en-US" sz="1200" dirty="0"/>
          </a:p>
        </p:txBody>
      </p:sp>
      <p:sp>
        <p:nvSpPr>
          <p:cNvPr id="17" name="Text 15"/>
          <p:cNvSpPr txBox="1"/>
          <p:nvPr/>
        </p:nvSpPr>
        <p:spPr>
          <a:xfrm>
            <a:off x="8070494" y="3456432"/>
            <a:ext cx="2810866" cy="365760"/>
          </a:xfrm>
          <a:prstGeom prst="rect">
            <a:avLst/>
          </a:prstGeom>
          <a:noFill/>
          <a:ln/>
        </p:spPr>
        <p:txBody>
          <a:bodyPr wrap="square" lIns="0" tIns="0" rIns="0" bIns="0" rtlCol="0" anchor="ctr"/>
          <a:lstStyle/>
          <a:p>
            <a:pPr algn="r" indent="0" marL="0">
              <a:buNone/>
            </a:pPr>
            <a:r>
              <a:rPr lang="en-US" sz="1300" b="1" dirty="0">
                <a:solidFill>
                  <a:srgbClr val="18181B"/>
                </a:solidFill>
                <a:latin typeface="Consolas" pitchFamily="34" charset="0"/>
                <a:ea typeface="Consolas" pitchFamily="34" charset="-122"/>
                <a:cs typeface="Consolas" pitchFamily="34" charset="-120"/>
              </a:rPr>
              <a:t>0.20</a:t>
            </a:r>
            <a:endParaRPr lang="en-US" sz="1300" dirty="0"/>
          </a:p>
        </p:txBody>
      </p:sp>
      <p:sp>
        <p:nvSpPr>
          <p:cNvPr id="18" name="Text 16"/>
          <p:cNvSpPr txBox="1"/>
          <p:nvPr/>
        </p:nvSpPr>
        <p:spPr>
          <a:xfrm>
            <a:off x="6035040" y="384048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P(IVA | forced)</a:t>
            </a:r>
            <a:endParaRPr lang="en-US" sz="1200" dirty="0"/>
          </a:p>
        </p:txBody>
      </p:sp>
      <p:sp>
        <p:nvSpPr>
          <p:cNvPr id="19" name="Text 17"/>
          <p:cNvSpPr txBox="1"/>
          <p:nvPr/>
        </p:nvSpPr>
        <p:spPr>
          <a:xfrm>
            <a:off x="8070494" y="3840480"/>
            <a:ext cx="2810866" cy="365760"/>
          </a:xfrm>
          <a:prstGeom prst="rect">
            <a:avLst/>
          </a:prstGeom>
          <a:noFill/>
          <a:ln/>
        </p:spPr>
        <p:txBody>
          <a:bodyPr wrap="square" lIns="0" tIns="0" rIns="0" bIns="0" rtlCol="0" anchor="ctr"/>
          <a:lstStyle/>
          <a:p>
            <a:pPr algn="r" indent="0" marL="0">
              <a:buNone/>
            </a:pPr>
            <a:r>
              <a:rPr lang="en-US" sz="1300" b="1" dirty="0">
                <a:solidFill>
                  <a:srgbClr val="18181B"/>
                </a:solidFill>
                <a:latin typeface="Consolas" pitchFamily="34" charset="0"/>
                <a:ea typeface="Consolas" pitchFamily="34" charset="-122"/>
                <a:cs typeface="Consolas" pitchFamily="34" charset="-120"/>
              </a:rPr>
              <a:t>0.80</a:t>
            </a:r>
            <a:endParaRPr lang="en-US" sz="1300" dirty="0"/>
          </a:p>
        </p:txBody>
      </p:sp>
      <p:sp>
        <p:nvSpPr>
          <p:cNvPr id="20" name="Text 18"/>
          <p:cNvSpPr txBox="1"/>
          <p:nvPr/>
        </p:nvSpPr>
        <p:spPr>
          <a:xfrm>
            <a:off x="1051560" y="4251960"/>
            <a:ext cx="9966960" cy="594360"/>
          </a:xfrm>
          <a:prstGeom prst="rect">
            <a:avLst/>
          </a:prstGeom>
          <a:noFill/>
          <a:ln/>
        </p:spPr>
        <p:txBody>
          <a:bodyPr wrap="square" lIns="0" tIns="0" rIns="0" bIns="0" rtlCol="0" anchor="ctr"/>
          <a:lstStyle/>
          <a:p>
            <a:pPr indent="0" marL="0">
              <a:lnSpc>
                <a:spcPct val="125000"/>
              </a:lnSpc>
              <a:buNone/>
            </a:pPr>
            <a:r>
              <a:rPr lang="en-US" sz="1150" i="1" dirty="0">
                <a:solidFill>
                  <a:srgbClr val="18181B"/>
                </a:solidFill>
                <a:latin typeface="Calibri" pitchFamily="34" charset="0"/>
                <a:ea typeface="Calibri" pitchFamily="34" charset="-122"/>
                <a:cs typeface="Calibri" pitchFamily="34" charset="-120"/>
              </a:rPr>
              <a:t>z = 1.75, p = 0.080 — doesn't clear the 0.05 bar. Verdict: NOT SUPPORTED, despite forced outages showing 4× the predicted probability of IVA use — a small-sample story, not a null effect story.</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163C2C"/>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H6</a:t>
            </a:r>
            <a:endParaRPr lang="en-US" sz="1050" dirty="0"/>
          </a:p>
        </p:txBody>
      </p:sp>
      <p:sp>
        <p:nvSpPr>
          <p:cNvPr id="4" name="Text 2"/>
          <p:cNvSpPr txBox="1"/>
          <p:nvPr/>
        </p:nvSpPr>
        <p:spPr>
          <a:xfrm>
            <a:off x="640080" y="914400"/>
            <a:ext cx="10881360" cy="594360"/>
          </a:xfrm>
          <a:prstGeom prst="rect">
            <a:avLst/>
          </a:prstGeom>
          <a:noFill/>
          <a:ln/>
        </p:spPr>
        <p:txBody>
          <a:bodyPr wrap="square" lIns="0" tIns="0" rIns="0" bIns="0" rtlCol="0" anchor="ctr"/>
          <a:lstStyle/>
          <a:p>
            <a:pPr indent="0" marL="0">
              <a:buNone/>
            </a:pPr>
            <a:r>
              <a:rPr lang="en-US" sz="2800" b="1" dirty="0">
                <a:solidFill>
                  <a:srgbClr val="18181B"/>
                </a:solidFill>
                <a:latin typeface="Cambria" pitchFamily="34" charset="0"/>
                <a:ea typeface="Cambria" pitchFamily="34" charset="-122"/>
                <a:cs typeface="Cambria" pitchFamily="34" charset="-120"/>
              </a:rPr>
              <a:t>FRM — The Placebo</a:t>
            </a:r>
            <a:endParaRPr lang="en-US" sz="2800" dirty="0"/>
          </a:p>
        </p:txBody>
      </p:sp>
      <p:sp>
        <p:nvSpPr>
          <p:cNvPr id="5" name="Text 3"/>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6" name="Text 4"/>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18</a:t>
            </a:r>
            <a:endParaRPr lang="en-US" sz="900" dirty="0"/>
          </a:p>
        </p:txBody>
      </p:sp>
      <p:sp>
        <p:nvSpPr>
          <p:cNvPr id="7" name="Text 5"/>
          <p:cNvSpPr txBox="1"/>
          <p:nvPr/>
        </p:nvSpPr>
        <p:spPr>
          <a:xfrm>
            <a:off x="640080" y="1554480"/>
            <a:ext cx="10881360" cy="685800"/>
          </a:xfrm>
          <a:prstGeom prst="rect">
            <a:avLst/>
          </a:prstGeom>
          <a:noFill/>
          <a:ln/>
        </p:spPr>
        <p:txBody>
          <a:bodyPr wrap="square" lIns="0" tIns="0" rIns="0" bIns="0" rtlCol="0" anchor="ctr"/>
          <a:lstStyle/>
          <a:p>
            <a:pPr indent="0" marL="0">
              <a:lnSpc>
                <a:spcPct val="125000"/>
              </a:lnSpc>
              <a:buNone/>
            </a:pPr>
            <a:r>
              <a:rPr lang="en-US" sz="1250" dirty="0">
                <a:solidFill>
                  <a:srgbClr val="6B6B73"/>
                </a:solidFill>
                <a:latin typeface="Calibri" pitchFamily="34" charset="0"/>
                <a:ea typeface="Calibri" pitchFamily="34" charset="-122"/>
                <a:cs typeface="Calibri" pitchFamily="34" charset="-120"/>
              </a:rPr>
              <a:t>Same specification family as H1–H4, fit on FRM — a STRUCTURAL, yearly-calibrated quantity that should be inert to any single outage. This is the one hypothesis where NOT rejecting H₀ is the desired outcome.</a:t>
            </a:r>
            <a:endParaRPr lang="en-US" sz="1250" dirty="0"/>
          </a:p>
        </p:txBody>
      </p:sp>
      <p:sp>
        <p:nvSpPr>
          <p:cNvPr id="8" name="Shape 6"/>
          <p:cNvSpPr/>
          <p:nvPr/>
        </p:nvSpPr>
        <p:spPr>
          <a:xfrm>
            <a:off x="822960" y="2377440"/>
            <a:ext cx="10515600" cy="2651760"/>
          </a:xfrm>
          <a:prstGeom prst="roundRect">
            <a:avLst>
              <a:gd name="adj" fmla="val 3448"/>
            </a:avLst>
          </a:prstGeom>
          <a:solidFill>
            <a:srgbClr val="163C2C"/>
          </a:solidFill>
          <a:ln/>
          <a:effectLst>
            <a:outerShdw sx="100000" sy="100000" kx="0" ky="0" algn="bl" rotWithShape="0" blurRad="101600" dist="38100" dir="5400000">
              <a:srgbClr val="163C2C">
                <a:alpha val="18000"/>
              </a:srgbClr>
            </a:outerShdw>
          </a:effectLst>
        </p:spPr>
      </p:sp>
      <p:sp>
        <p:nvSpPr>
          <p:cNvPr id="9" name="Shape 7"/>
          <p:cNvSpPr/>
          <p:nvPr/>
        </p:nvSpPr>
        <p:spPr>
          <a:xfrm>
            <a:off x="1097280" y="2606040"/>
            <a:ext cx="1691640" cy="292608"/>
          </a:xfrm>
          <a:prstGeom prst="roundRect">
            <a:avLst>
              <a:gd name="adj" fmla="val 50000"/>
            </a:avLst>
          </a:prstGeom>
          <a:solidFill>
            <a:srgbClr val="6D5B97"/>
          </a:solidFill>
          <a:ln/>
        </p:spPr>
      </p:sp>
      <p:sp>
        <p:nvSpPr>
          <p:cNvPr id="10" name="Text 8"/>
          <p:cNvSpPr txBox="1"/>
          <p:nvPr/>
        </p:nvSpPr>
        <p:spPr>
          <a:xfrm>
            <a:off x="1097280" y="2606040"/>
            <a:ext cx="169164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WORKED EXAMPLE</a:t>
            </a:r>
            <a:endParaRPr lang="en-US" sz="950" dirty="0"/>
          </a:p>
        </p:txBody>
      </p:sp>
      <p:sp>
        <p:nvSpPr>
          <p:cNvPr id="11" name="Text 9"/>
          <p:cNvSpPr txBox="1"/>
          <p:nvPr/>
        </p:nvSpPr>
        <p:spPr>
          <a:xfrm>
            <a:off x="1097280" y="306324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β̂₆</a:t>
            </a:r>
            <a:endParaRPr lang="en-US" sz="1200" dirty="0"/>
          </a:p>
        </p:txBody>
      </p:sp>
      <p:sp>
        <p:nvSpPr>
          <p:cNvPr id="12" name="Text 10"/>
          <p:cNvSpPr txBox="1"/>
          <p:nvPr/>
        </p:nvSpPr>
        <p:spPr>
          <a:xfrm>
            <a:off x="3132734" y="3063240"/>
            <a:ext cx="2810866" cy="365760"/>
          </a:xfrm>
          <a:prstGeom prst="rect">
            <a:avLst/>
          </a:prstGeom>
          <a:noFill/>
          <a:ln/>
        </p:spPr>
        <p:txBody>
          <a:bodyPr wrap="square" lIns="0" tIns="0" rIns="0" bIns="0" rtlCol="0" anchor="ctr"/>
          <a:lstStyle/>
          <a:p>
            <a:pPr algn="r" indent="0" marL="0">
              <a:buNone/>
            </a:pPr>
            <a:r>
              <a:rPr lang="en-US" sz="1300" b="1" dirty="0">
                <a:solidFill>
                  <a:srgbClr val="FFFFFF"/>
                </a:solidFill>
                <a:latin typeface="Consolas" pitchFamily="34" charset="0"/>
                <a:ea typeface="Consolas" pitchFamily="34" charset="-122"/>
                <a:cs typeface="Consolas" pitchFamily="34" charset="-120"/>
              </a:rPr>
              <a:t>−0.033</a:t>
            </a:r>
            <a:endParaRPr lang="en-US" sz="1300" dirty="0"/>
          </a:p>
        </p:txBody>
      </p:sp>
      <p:sp>
        <p:nvSpPr>
          <p:cNvPr id="13" name="Text 11"/>
          <p:cNvSpPr txBox="1"/>
          <p:nvPr/>
        </p:nvSpPr>
        <p:spPr>
          <a:xfrm>
            <a:off x="1097280" y="347472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SE (clustered)</a:t>
            </a:r>
            <a:endParaRPr lang="en-US" sz="1200" dirty="0"/>
          </a:p>
        </p:txBody>
      </p:sp>
      <p:sp>
        <p:nvSpPr>
          <p:cNvPr id="14" name="Text 12"/>
          <p:cNvSpPr txBox="1"/>
          <p:nvPr/>
        </p:nvSpPr>
        <p:spPr>
          <a:xfrm>
            <a:off x="3132734" y="3474720"/>
            <a:ext cx="2810866" cy="365760"/>
          </a:xfrm>
          <a:prstGeom prst="rect">
            <a:avLst/>
          </a:prstGeom>
          <a:noFill/>
          <a:ln/>
        </p:spPr>
        <p:txBody>
          <a:bodyPr wrap="square" lIns="0" tIns="0" rIns="0" bIns="0" rtlCol="0" anchor="ctr"/>
          <a:lstStyle/>
          <a:p>
            <a:pPr algn="r" indent="0" marL="0">
              <a:buNone/>
            </a:pPr>
            <a:r>
              <a:rPr lang="en-US" sz="1300" b="1" dirty="0">
                <a:solidFill>
                  <a:srgbClr val="FFFFFF"/>
                </a:solidFill>
                <a:latin typeface="Consolas" pitchFamily="34" charset="0"/>
                <a:ea typeface="Consolas" pitchFamily="34" charset="-122"/>
                <a:cs typeface="Consolas" pitchFamily="34" charset="-120"/>
              </a:rPr>
              <a:t>0.113</a:t>
            </a:r>
            <a:endParaRPr lang="en-US" sz="1300" dirty="0"/>
          </a:p>
        </p:txBody>
      </p:sp>
      <p:sp>
        <p:nvSpPr>
          <p:cNvPr id="15" name="Text 13"/>
          <p:cNvSpPr txBox="1"/>
          <p:nvPr/>
        </p:nvSpPr>
        <p:spPr>
          <a:xfrm>
            <a:off x="6126480" y="306324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t-statistic</a:t>
            </a:r>
            <a:endParaRPr lang="en-US" sz="1200" dirty="0"/>
          </a:p>
        </p:txBody>
      </p:sp>
      <p:sp>
        <p:nvSpPr>
          <p:cNvPr id="16" name="Text 14"/>
          <p:cNvSpPr txBox="1"/>
          <p:nvPr/>
        </p:nvSpPr>
        <p:spPr>
          <a:xfrm>
            <a:off x="8161934" y="3063240"/>
            <a:ext cx="2810866" cy="365760"/>
          </a:xfrm>
          <a:prstGeom prst="rect">
            <a:avLst/>
          </a:prstGeom>
          <a:noFill/>
          <a:ln/>
        </p:spPr>
        <p:txBody>
          <a:bodyPr wrap="square" lIns="0" tIns="0" rIns="0" bIns="0" rtlCol="0" anchor="ctr"/>
          <a:lstStyle/>
          <a:p>
            <a:pPr algn="r" indent="0" marL="0">
              <a:buNone/>
            </a:pPr>
            <a:r>
              <a:rPr lang="en-US" sz="1300" b="1" dirty="0">
                <a:solidFill>
                  <a:srgbClr val="FFFFFF"/>
                </a:solidFill>
                <a:latin typeface="Consolas" pitchFamily="34" charset="0"/>
                <a:ea typeface="Consolas" pitchFamily="34" charset="-122"/>
                <a:cs typeface="Consolas" pitchFamily="34" charset="-120"/>
              </a:rPr>
              <a:t>−0.294</a:t>
            </a:r>
            <a:endParaRPr lang="en-US" sz="1300" dirty="0"/>
          </a:p>
        </p:txBody>
      </p:sp>
      <p:sp>
        <p:nvSpPr>
          <p:cNvPr id="17" name="Text 15"/>
          <p:cNvSpPr txBox="1"/>
          <p:nvPr/>
        </p:nvSpPr>
        <p:spPr>
          <a:xfrm>
            <a:off x="6126480" y="347472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p-value</a:t>
            </a:r>
            <a:endParaRPr lang="en-US" sz="1200" dirty="0"/>
          </a:p>
        </p:txBody>
      </p:sp>
      <p:sp>
        <p:nvSpPr>
          <p:cNvPr id="18" name="Text 16"/>
          <p:cNvSpPr txBox="1"/>
          <p:nvPr/>
        </p:nvSpPr>
        <p:spPr>
          <a:xfrm>
            <a:off x="8161934" y="3474720"/>
            <a:ext cx="2810866" cy="365760"/>
          </a:xfrm>
          <a:prstGeom prst="rect">
            <a:avLst/>
          </a:prstGeom>
          <a:noFill/>
          <a:ln/>
        </p:spPr>
        <p:txBody>
          <a:bodyPr wrap="square" lIns="0" tIns="0" rIns="0" bIns="0" rtlCol="0" anchor="ctr"/>
          <a:lstStyle/>
          <a:p>
            <a:pPr algn="r" indent="0" marL="0">
              <a:buNone/>
            </a:pPr>
            <a:r>
              <a:rPr lang="en-US" sz="1300" b="1" dirty="0">
                <a:solidFill>
                  <a:srgbClr val="9CC9AE"/>
                </a:solidFill>
                <a:latin typeface="Consolas" pitchFamily="34" charset="0"/>
                <a:ea typeface="Consolas" pitchFamily="34" charset="-122"/>
                <a:cs typeface="Consolas" pitchFamily="34" charset="-120"/>
              </a:rPr>
              <a:t>0.775</a:t>
            </a:r>
            <a:endParaRPr lang="en-US" sz="1300" dirty="0"/>
          </a:p>
        </p:txBody>
      </p:sp>
      <p:sp>
        <p:nvSpPr>
          <p:cNvPr id="19" name="Text 17"/>
          <p:cNvSpPr txBox="1"/>
          <p:nvPr/>
        </p:nvSpPr>
        <p:spPr>
          <a:xfrm>
            <a:off x="1097280" y="4023360"/>
            <a:ext cx="9966960" cy="822960"/>
          </a:xfrm>
          <a:prstGeom prst="rect">
            <a:avLst/>
          </a:prstGeom>
          <a:noFill/>
          <a:ln/>
        </p:spPr>
        <p:txBody>
          <a:bodyPr wrap="square" lIns="0" tIns="0" rIns="0" bIns="0" rtlCol="0" anchor="ctr"/>
          <a:lstStyle/>
          <a:p>
            <a:pPr indent="0" marL="0">
              <a:lnSpc>
                <a:spcPct val="130000"/>
              </a:lnSpc>
              <a:buNone/>
            </a:pPr>
            <a:r>
              <a:rPr lang="en-US" sz="1250" i="1" dirty="0">
                <a:solidFill>
                  <a:srgbClr val="D7E6DC"/>
                </a:solidFill>
                <a:latin typeface="Calibri" pitchFamily="34" charset="0"/>
                <a:ea typeface="Calibri" pitchFamily="34" charset="-122"/>
                <a:cs typeface="Calibri" pitchFamily="34" charset="-120"/>
              </a:rPr>
              <a:t>p = 0.775: nowhere near significant. Verdict: NULL, as expected — this is the test PASSING, not a weak result. If H6 ever came back significant, that would call the whole specification into question.</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163C2C"/>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PER-EVENT RESULTS</a:t>
            </a:r>
            <a:endParaRPr lang="en-US" sz="1050" dirty="0"/>
          </a:p>
        </p:txBody>
      </p:sp>
      <p:sp>
        <p:nvSpPr>
          <p:cNvPr id="4" name="Text 2"/>
          <p:cNvSpPr txBox="1"/>
          <p:nvPr/>
        </p:nvSpPr>
        <p:spPr>
          <a:xfrm>
            <a:off x="640080" y="914400"/>
            <a:ext cx="10881360" cy="548640"/>
          </a:xfrm>
          <a:prstGeom prst="rect">
            <a:avLst/>
          </a:prstGeom>
          <a:noFill/>
          <a:ln/>
        </p:spPr>
        <p:txBody>
          <a:bodyPr wrap="square" lIns="0" tIns="0" rIns="0" bIns="0" rtlCol="0" anchor="ctr"/>
          <a:lstStyle/>
          <a:p>
            <a:pPr indent="0" marL="0">
              <a:buNone/>
            </a:pPr>
            <a:r>
              <a:rPr lang="en-US" sz="2700" b="1" dirty="0">
                <a:solidFill>
                  <a:srgbClr val="18181B"/>
                </a:solidFill>
                <a:latin typeface="Cambria" pitchFamily="34" charset="0"/>
                <a:ea typeface="Cambria" pitchFamily="34" charset="-122"/>
                <a:cs typeface="Cambria" pitchFamily="34" charset="-120"/>
              </a:rPr>
              <a:t>Reading the ITS Chart</a:t>
            </a:r>
            <a:endParaRPr lang="en-US" sz="2700" dirty="0"/>
          </a:p>
        </p:txBody>
      </p:sp>
      <p:sp>
        <p:nvSpPr>
          <p:cNvPr id="5" name="Text 3"/>
          <p:cNvSpPr txBox="1"/>
          <p:nvPr/>
        </p:nvSpPr>
        <p:spPr>
          <a:xfrm>
            <a:off x="640080" y="1463040"/>
            <a:ext cx="10881360" cy="365760"/>
          </a:xfrm>
          <a:prstGeom prst="rect">
            <a:avLst/>
          </a:prstGeom>
          <a:noFill/>
          <a:ln/>
        </p:spPr>
        <p:txBody>
          <a:bodyPr wrap="square" lIns="0" tIns="0" rIns="0" bIns="0" rtlCol="0" anchor="ctr"/>
          <a:lstStyle/>
          <a:p>
            <a:pPr indent="0" marL="0">
              <a:buNone/>
            </a:pPr>
            <a:r>
              <a:rPr lang="en-US" sz="1300" dirty="0">
                <a:solidFill>
                  <a:srgbClr val="6B6B73"/>
                </a:solidFill>
                <a:latin typeface="Calibri" pitchFamily="34" charset="0"/>
                <a:ea typeface="Calibri" pitchFamily="34" charset="-122"/>
                <a:cs typeface="Calibri" pitchFamily="34" charset="-120"/>
              </a:rPr>
              <a:t>A different question from H1–H6: not “do outages move this on average,” but “what happened at THIS one outage.”</a:t>
            </a:r>
            <a:endParaRPr lang="en-US" sz="1300" dirty="0"/>
          </a:p>
        </p:txBody>
      </p:sp>
      <p:graphicFrame>
        <p:nvGraphicFramePr>
          <p:cNvPr id="6" name="Chart 0" descr=""/>
          <p:cNvGraphicFramePr/>
          <p:nvPr/>
        </p:nvGraphicFramePr>
        <p:xfrm>
          <a:off x="640080" y="1965960"/>
          <a:ext cx="6766560" cy="384048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806440" y="1965960"/>
            <a:ext cx="1691640" cy="292608"/>
          </a:xfrm>
          <a:prstGeom prst="roundRect">
            <a:avLst>
              <a:gd name="adj" fmla="val 50000"/>
            </a:avLst>
          </a:prstGeom>
          <a:solidFill>
            <a:srgbClr val="6D5B97"/>
          </a:solidFill>
          <a:ln/>
        </p:spPr>
      </p:sp>
      <p:sp>
        <p:nvSpPr>
          <p:cNvPr id="8" name="Text 5"/>
          <p:cNvSpPr txBox="1"/>
          <p:nvPr/>
        </p:nvSpPr>
        <p:spPr>
          <a:xfrm>
            <a:off x="5806440" y="1965960"/>
            <a:ext cx="169164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WORKED EXAMPLE</a:t>
            </a:r>
            <a:endParaRPr lang="en-US" sz="950" dirty="0"/>
          </a:p>
        </p:txBody>
      </p:sp>
      <p:sp>
        <p:nvSpPr>
          <p:cNvPr id="9" name="Shape 6"/>
          <p:cNvSpPr/>
          <p:nvPr/>
        </p:nvSpPr>
        <p:spPr>
          <a:xfrm>
            <a:off x="7680960" y="1965960"/>
            <a:ext cx="3886200" cy="3840480"/>
          </a:xfrm>
          <a:prstGeom prst="roundRect">
            <a:avLst>
              <a:gd name="adj" fmla="val 1905"/>
            </a:avLst>
          </a:prstGeom>
          <a:solidFill>
            <a:srgbClr val="EEF0F4"/>
          </a:solidFill>
          <a:ln/>
        </p:spPr>
      </p:sp>
      <p:sp>
        <p:nvSpPr>
          <p:cNvPr id="10" name="Text 7"/>
          <p:cNvSpPr txBox="1"/>
          <p:nvPr/>
        </p:nvSpPr>
        <p:spPr>
          <a:xfrm>
            <a:off x="7909560" y="2194560"/>
            <a:ext cx="3429000" cy="868680"/>
          </a:xfrm>
          <a:prstGeom prst="rect">
            <a:avLst/>
          </a:prstGeom>
          <a:noFill/>
          <a:ln/>
        </p:spPr>
        <p:txBody>
          <a:bodyPr wrap="square" lIns="0" tIns="0" rIns="0" bIns="0" rtlCol="0" anchor="ctr"/>
          <a:lstStyle/>
          <a:p>
            <a:pPr marL="342900" indent="-342900">
              <a:lnSpc>
                <a:spcPct val="120000"/>
              </a:lnSpc>
              <a:buSzPct val="100000"/>
              <a:buChar char="•"/>
            </a:pPr>
            <a:r>
              <a:rPr lang="en-US" sz="1100" dirty="0">
                <a:solidFill>
                  <a:srgbClr val="18181B"/>
                </a:solidFill>
                <a:latin typeface="Calibri" pitchFamily="34" charset="0"/>
                <a:ea typeface="Calibri" pitchFamily="34" charset="-122"/>
                <a:cs typeface="Calibri" pitchFamily="34" charset="-120"/>
              </a:rPr>
              <a:t>Counterfactual = what this CNEC's series would look like WITHOUT this outage, fit on pre-period data only</a:t>
            </a:r>
            <a:endParaRPr lang="en-US" sz="1100" dirty="0"/>
          </a:p>
        </p:txBody>
      </p:sp>
      <p:sp>
        <p:nvSpPr>
          <p:cNvPr id="11" name="Text 8"/>
          <p:cNvSpPr txBox="1"/>
          <p:nvPr/>
        </p:nvSpPr>
        <p:spPr>
          <a:xfrm>
            <a:off x="7909560" y="3108960"/>
            <a:ext cx="3429000" cy="868680"/>
          </a:xfrm>
          <a:prstGeom prst="rect">
            <a:avLst/>
          </a:prstGeom>
          <a:noFill/>
          <a:ln/>
        </p:spPr>
        <p:txBody>
          <a:bodyPr wrap="square" lIns="0" tIns="0" rIns="0" bIns="0" rtlCol="0" anchor="ctr"/>
          <a:lstStyle/>
          <a:p>
            <a:pPr marL="342900" indent="-342900">
              <a:lnSpc>
                <a:spcPct val="120000"/>
              </a:lnSpc>
              <a:buSzPct val="100000"/>
              <a:buChar char="•"/>
            </a:pPr>
            <a:r>
              <a:rPr lang="en-US" sz="1100" dirty="0">
                <a:solidFill>
                  <a:srgbClr val="18181B"/>
                </a:solidFill>
                <a:latin typeface="Calibri" pitchFamily="34" charset="0"/>
                <a:ea typeface="Calibri" pitchFamily="34" charset="-122"/>
                <a:cs typeface="Calibri" pitchFamily="34" charset="-120"/>
              </a:rPr>
              <a:t>The GAP between the lines during the outage IS the estimated effect — not a statistical test, a direct read</a:t>
            </a:r>
            <a:endParaRPr lang="en-US" sz="1100" dirty="0"/>
          </a:p>
        </p:txBody>
      </p:sp>
      <p:sp>
        <p:nvSpPr>
          <p:cNvPr id="12" name="Text 9"/>
          <p:cNvSpPr txBox="1"/>
          <p:nvPr/>
        </p:nvSpPr>
        <p:spPr>
          <a:xfrm>
            <a:off x="7909560" y="4023360"/>
            <a:ext cx="3429000" cy="868680"/>
          </a:xfrm>
          <a:prstGeom prst="rect">
            <a:avLst/>
          </a:prstGeom>
          <a:noFill/>
          <a:ln/>
        </p:spPr>
        <p:txBody>
          <a:bodyPr wrap="square" lIns="0" tIns="0" rIns="0" bIns="0" rtlCol="0" anchor="ctr"/>
          <a:lstStyle/>
          <a:p>
            <a:pPr marL="342900" indent="-342900">
              <a:lnSpc>
                <a:spcPct val="120000"/>
              </a:lnSpc>
              <a:buSzPct val="100000"/>
              <a:buChar char="•"/>
            </a:pPr>
            <a:r>
              <a:rPr lang="en-US" sz="1100" dirty="0">
                <a:solidFill>
                  <a:srgbClr val="18181B"/>
                </a:solidFill>
                <a:latin typeface="Calibri" pitchFamily="34" charset="0"/>
                <a:ea typeface="Calibri" pitchFamily="34" charset="-122"/>
                <a:cs typeface="Calibri" pitchFamily="34" charset="-120"/>
              </a:rPr>
              <a:t>The gap should close again once the outage ends — if it doesn't, something else may be going on</a:t>
            </a:r>
            <a:endParaRPr lang="en-US" sz="1100" dirty="0"/>
          </a:p>
        </p:txBody>
      </p:sp>
      <p:sp>
        <p:nvSpPr>
          <p:cNvPr id="13" name="Text 10"/>
          <p:cNvSpPr txBox="1"/>
          <p:nvPr/>
        </p:nvSpPr>
        <p:spPr>
          <a:xfrm>
            <a:off x="7909560" y="4937760"/>
            <a:ext cx="3429000" cy="868680"/>
          </a:xfrm>
          <a:prstGeom prst="rect">
            <a:avLst/>
          </a:prstGeom>
          <a:noFill/>
          <a:ln/>
        </p:spPr>
        <p:txBody>
          <a:bodyPr wrap="square" lIns="0" tIns="0" rIns="0" bIns="0" rtlCol="0" anchor="ctr"/>
          <a:lstStyle/>
          <a:p>
            <a:pPr marL="342900" indent="-342900">
              <a:lnSpc>
                <a:spcPct val="120000"/>
              </a:lnSpc>
              <a:buSzPct val="100000"/>
              <a:buChar char="•"/>
            </a:pPr>
            <a:r>
              <a:rPr lang="en-US" sz="1100" dirty="0">
                <a:solidFill>
                  <a:srgbClr val="18181B"/>
                </a:solidFill>
                <a:latin typeface="Calibri" pitchFamily="34" charset="0"/>
                <a:ea typeface="Calibri" pitchFamily="34" charset="-122"/>
                <a:cs typeface="Calibri" pitchFamily="34" charset="-120"/>
              </a:rPr>
              <a:t>Every method is leak-tested: it can never see during/post data while fitting</a:t>
            </a:r>
            <a:endParaRPr lang="en-US" sz="1100" dirty="0"/>
          </a:p>
        </p:txBody>
      </p:sp>
      <p:sp>
        <p:nvSpPr>
          <p:cNvPr id="14" name="Text 11"/>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15" name="Text 12"/>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163C2C"/>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PER-EVENT RESULTS</a:t>
            </a:r>
            <a:endParaRPr lang="en-US" sz="1050" dirty="0"/>
          </a:p>
        </p:txBody>
      </p:sp>
      <p:sp>
        <p:nvSpPr>
          <p:cNvPr id="4" name="Text 2"/>
          <p:cNvSpPr txBox="1"/>
          <p:nvPr/>
        </p:nvSpPr>
        <p:spPr>
          <a:xfrm>
            <a:off x="640080" y="914400"/>
            <a:ext cx="10881360" cy="594360"/>
          </a:xfrm>
          <a:prstGeom prst="rect">
            <a:avLst/>
          </a:prstGeom>
          <a:noFill/>
          <a:ln/>
        </p:spPr>
        <p:txBody>
          <a:bodyPr wrap="square" lIns="0" tIns="0" rIns="0" bIns="0" rtlCol="0" anchor="ctr"/>
          <a:lstStyle/>
          <a:p>
            <a:pPr indent="0" marL="0">
              <a:buNone/>
            </a:pPr>
            <a:r>
              <a:rPr lang="en-US" sz="2800" b="1" dirty="0">
                <a:solidFill>
                  <a:srgbClr val="18181B"/>
                </a:solidFill>
                <a:latin typeface="Cambria" pitchFamily="34" charset="0"/>
                <a:ea typeface="Cambria" pitchFamily="34" charset="-122"/>
                <a:cs typeface="Cambria" pitchFamily="34" charset="-120"/>
              </a:rPr>
              <a:t>Reading ΔRAM Decomposition</a:t>
            </a:r>
            <a:endParaRPr lang="en-US" sz="2800" dirty="0"/>
          </a:p>
        </p:txBody>
      </p:sp>
      <p:sp>
        <p:nvSpPr>
          <p:cNvPr id="5" name="Text 3"/>
          <p:cNvSpPr txBox="1"/>
          <p:nvPr/>
        </p:nvSpPr>
        <p:spPr>
          <a:xfrm>
            <a:off x="640080" y="1536192"/>
            <a:ext cx="10881360" cy="502920"/>
          </a:xfrm>
          <a:prstGeom prst="rect">
            <a:avLst/>
          </a:prstGeom>
          <a:noFill/>
          <a:ln/>
        </p:spPr>
        <p:txBody>
          <a:bodyPr wrap="square" lIns="0" tIns="0" rIns="0" bIns="0" rtlCol="0" anchor="ctr"/>
          <a:lstStyle/>
          <a:p>
            <a:pPr indent="0" marL="0">
              <a:lnSpc>
                <a:spcPct val="120000"/>
              </a:lnSpc>
              <a:buNone/>
            </a:pPr>
            <a:r>
              <a:rPr lang="en-US" sz="1300" dirty="0">
                <a:solidFill>
                  <a:srgbClr val="6B6B73"/>
                </a:solidFill>
                <a:latin typeface="Calibri" pitchFamily="34" charset="0"/>
                <a:ea typeface="Calibri" pitchFamily="34" charset="-122"/>
                <a:cs typeface="Calibri" pitchFamily="34" charset="-120"/>
              </a:rPr>
              <a:t>The ITS chart tells you RAM moved. This pane tells you WHICH of the seven identity terms did the moving.</a:t>
            </a:r>
            <a:endParaRPr lang="en-US" sz="1300" dirty="0"/>
          </a:p>
        </p:txBody>
      </p:sp>
      <p:sp>
        <p:nvSpPr>
          <p:cNvPr id="6" name="Shape 4"/>
          <p:cNvSpPr/>
          <p:nvPr/>
        </p:nvSpPr>
        <p:spPr>
          <a:xfrm>
            <a:off x="822960" y="2441448"/>
            <a:ext cx="109728" cy="109728"/>
          </a:xfrm>
          <a:prstGeom prst="ellipse">
            <a:avLst/>
          </a:prstGeom>
          <a:solidFill>
            <a:srgbClr val="163C2C"/>
          </a:solidFill>
          <a:ln/>
        </p:spPr>
      </p:sp>
      <p:sp>
        <p:nvSpPr>
          <p:cNvPr id="7" name="Text 5"/>
          <p:cNvSpPr txBox="1"/>
          <p:nvPr/>
        </p:nvSpPr>
        <p:spPr>
          <a:xfrm>
            <a:off x="1051560" y="2304288"/>
            <a:ext cx="9921240" cy="502920"/>
          </a:xfrm>
          <a:prstGeom prst="rect">
            <a:avLst/>
          </a:prstGeom>
          <a:noFill/>
          <a:ln/>
        </p:spPr>
        <p:txBody>
          <a:bodyPr wrap="square" lIns="0" tIns="0" rIns="0" bIns="0" rtlCol="0" anchor="ctr"/>
          <a:lstStyle/>
          <a:p>
            <a:pPr indent="0" marL="0">
              <a:lnSpc>
                <a:spcPct val="115000"/>
              </a:lnSpc>
              <a:buNone/>
            </a:pPr>
            <a:r>
              <a:rPr lang="en-US" sz="1350" dirty="0">
                <a:solidFill>
                  <a:srgbClr val="18181B"/>
                </a:solidFill>
                <a:latin typeface="Calibri" pitchFamily="34" charset="0"/>
                <a:ea typeface="Calibri" pitchFamily="34" charset="-122"/>
                <a:cs typeface="Calibri" pitchFamily="34" charset="-120"/>
              </a:rPr>
              <a:t>Each term gets its own before/during comparison — Fmax, FRM, fall, fnrao, AMR, FAAC, IVA</a:t>
            </a:r>
            <a:endParaRPr lang="en-US" sz="1350" dirty="0"/>
          </a:p>
        </p:txBody>
      </p:sp>
      <p:sp>
        <p:nvSpPr>
          <p:cNvPr id="8" name="Shape 6"/>
          <p:cNvSpPr/>
          <p:nvPr/>
        </p:nvSpPr>
        <p:spPr>
          <a:xfrm>
            <a:off x="822960" y="2953512"/>
            <a:ext cx="109728" cy="109728"/>
          </a:xfrm>
          <a:prstGeom prst="ellipse">
            <a:avLst/>
          </a:prstGeom>
          <a:solidFill>
            <a:srgbClr val="163C2C"/>
          </a:solidFill>
          <a:ln/>
        </p:spPr>
      </p:sp>
      <p:sp>
        <p:nvSpPr>
          <p:cNvPr id="9" name="Text 7"/>
          <p:cNvSpPr txBox="1"/>
          <p:nvPr/>
        </p:nvSpPr>
        <p:spPr>
          <a:xfrm>
            <a:off x="1051560" y="2816352"/>
            <a:ext cx="9921240" cy="502920"/>
          </a:xfrm>
          <a:prstGeom prst="rect">
            <a:avLst/>
          </a:prstGeom>
          <a:noFill/>
          <a:ln/>
        </p:spPr>
        <p:txBody>
          <a:bodyPr wrap="square" lIns="0" tIns="0" rIns="0" bIns="0" rtlCol="0" anchor="ctr"/>
          <a:lstStyle/>
          <a:p>
            <a:pPr indent="0" marL="0">
              <a:lnSpc>
                <a:spcPct val="115000"/>
              </a:lnSpc>
              <a:buNone/>
            </a:pPr>
            <a:r>
              <a:rPr lang="en-US" sz="1350" dirty="0">
                <a:solidFill>
                  <a:srgbClr val="18181B"/>
                </a:solidFill>
                <a:latin typeface="Calibri" pitchFamily="34" charset="0"/>
                <a:ea typeface="Calibri" pitchFamily="34" charset="-122"/>
                <a:cs typeface="Calibri" pitchFamily="34" charset="-120"/>
              </a:rPr>
              <a:t>A dominant single term (usually fall, for a topology-driven outage) points to a physical, expected mechanism</a:t>
            </a:r>
            <a:endParaRPr lang="en-US" sz="1350" dirty="0"/>
          </a:p>
        </p:txBody>
      </p:sp>
      <p:sp>
        <p:nvSpPr>
          <p:cNvPr id="10" name="Shape 8"/>
          <p:cNvSpPr/>
          <p:nvPr/>
        </p:nvSpPr>
        <p:spPr>
          <a:xfrm>
            <a:off x="822960" y="3465576"/>
            <a:ext cx="109728" cy="109728"/>
          </a:xfrm>
          <a:prstGeom prst="ellipse">
            <a:avLst/>
          </a:prstGeom>
          <a:solidFill>
            <a:srgbClr val="163C2C"/>
          </a:solidFill>
          <a:ln/>
        </p:spPr>
      </p:sp>
      <p:sp>
        <p:nvSpPr>
          <p:cNvPr id="11" name="Text 9"/>
          <p:cNvSpPr txBox="1"/>
          <p:nvPr/>
        </p:nvSpPr>
        <p:spPr>
          <a:xfrm>
            <a:off x="1051560" y="3328416"/>
            <a:ext cx="9921240" cy="502920"/>
          </a:xfrm>
          <a:prstGeom prst="rect">
            <a:avLst/>
          </a:prstGeom>
          <a:noFill/>
          <a:ln/>
        </p:spPr>
        <p:txBody>
          <a:bodyPr wrap="square" lIns="0" tIns="0" rIns="0" bIns="0" rtlCol="0" anchor="ctr"/>
          <a:lstStyle/>
          <a:p>
            <a:pPr indent="0" marL="0">
              <a:lnSpc>
                <a:spcPct val="115000"/>
              </a:lnSpc>
              <a:buNone/>
            </a:pPr>
            <a:r>
              <a:rPr lang="en-US" sz="1350" dirty="0">
                <a:solidFill>
                  <a:srgbClr val="18181B"/>
                </a:solidFill>
                <a:latin typeface="Calibri" pitchFamily="34" charset="0"/>
                <a:ea typeface="Calibri" pitchFamily="34" charset="-122"/>
                <a:cs typeface="Calibri" pitchFamily="34" charset="-120"/>
              </a:rPr>
              <a:t>Several terms moving in OFFSETTING directions explains why H3's aggregate β̂ can look modest even when the underlying activity was large</a:t>
            </a:r>
            <a:endParaRPr lang="en-US" sz="1350" dirty="0"/>
          </a:p>
        </p:txBody>
      </p:sp>
      <p:sp>
        <p:nvSpPr>
          <p:cNvPr id="12" name="Shape 10"/>
          <p:cNvSpPr/>
          <p:nvPr/>
        </p:nvSpPr>
        <p:spPr>
          <a:xfrm>
            <a:off x="822960" y="3977640"/>
            <a:ext cx="109728" cy="109728"/>
          </a:xfrm>
          <a:prstGeom prst="ellipse">
            <a:avLst/>
          </a:prstGeom>
          <a:solidFill>
            <a:srgbClr val="163C2C"/>
          </a:solidFill>
          <a:ln/>
        </p:spPr>
      </p:sp>
      <p:sp>
        <p:nvSpPr>
          <p:cNvPr id="13" name="Text 11"/>
          <p:cNvSpPr txBox="1"/>
          <p:nvPr/>
        </p:nvSpPr>
        <p:spPr>
          <a:xfrm>
            <a:off x="1051560" y="3840480"/>
            <a:ext cx="9921240" cy="502920"/>
          </a:xfrm>
          <a:prstGeom prst="rect">
            <a:avLst/>
          </a:prstGeom>
          <a:noFill/>
          <a:ln/>
        </p:spPr>
        <p:txBody>
          <a:bodyPr wrap="square" lIns="0" tIns="0" rIns="0" bIns="0" rtlCol="0" anchor="ctr"/>
          <a:lstStyle/>
          <a:p>
            <a:pPr indent="0" marL="0">
              <a:lnSpc>
                <a:spcPct val="115000"/>
              </a:lnSpc>
              <a:buNone/>
            </a:pPr>
            <a:r>
              <a:rPr lang="en-US" sz="1350" dirty="0">
                <a:solidFill>
                  <a:srgbClr val="18181B"/>
                </a:solidFill>
                <a:latin typeface="Calibri" pitchFamily="34" charset="0"/>
                <a:ea typeface="Calibri" pitchFamily="34" charset="-122"/>
                <a:cs typeface="Calibri" pitchFamily="34" charset="-120"/>
              </a:rPr>
              <a:t>FRM moving here (rather than staying flat) would be a red flag — it's meant to be structural, the same logic H6 tests at the aggregate level</a:t>
            </a:r>
            <a:endParaRPr lang="en-US" sz="1350" dirty="0"/>
          </a:p>
        </p:txBody>
      </p:sp>
      <p:sp>
        <p:nvSpPr>
          <p:cNvPr id="14" name="Text 12"/>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15" name="Text 13"/>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EF0F4"/>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163C2C"/>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PER-EVENT RESULTS</a:t>
            </a:r>
            <a:endParaRPr lang="en-US" sz="1050" dirty="0"/>
          </a:p>
        </p:txBody>
      </p:sp>
      <p:sp>
        <p:nvSpPr>
          <p:cNvPr id="4" name="Text 2"/>
          <p:cNvSpPr txBox="1"/>
          <p:nvPr/>
        </p:nvSpPr>
        <p:spPr>
          <a:xfrm>
            <a:off x="640080" y="914400"/>
            <a:ext cx="10881360" cy="594360"/>
          </a:xfrm>
          <a:prstGeom prst="rect">
            <a:avLst/>
          </a:prstGeom>
          <a:noFill/>
          <a:ln/>
        </p:spPr>
        <p:txBody>
          <a:bodyPr wrap="square" lIns="0" tIns="0" rIns="0" bIns="0" rtlCol="0" anchor="ctr"/>
          <a:lstStyle/>
          <a:p>
            <a:pPr indent="0" marL="0">
              <a:buNone/>
            </a:pPr>
            <a:r>
              <a:rPr lang="en-US" sz="2800" b="1" dirty="0">
                <a:solidFill>
                  <a:srgbClr val="18181B"/>
                </a:solidFill>
                <a:latin typeface="Cambria" pitchFamily="34" charset="0"/>
                <a:ea typeface="Cambria" pitchFamily="34" charset="-122"/>
                <a:cs typeface="Cambria" pitchFamily="34" charset="-120"/>
              </a:rPr>
              <a:t>Reading the DiD Cross-Check</a:t>
            </a:r>
            <a:endParaRPr lang="en-US" sz="2800" dirty="0"/>
          </a:p>
        </p:txBody>
      </p:sp>
      <p:sp>
        <p:nvSpPr>
          <p:cNvPr id="5" name="Text 3"/>
          <p:cNvSpPr txBox="1"/>
          <p:nvPr/>
        </p:nvSpPr>
        <p:spPr>
          <a:xfrm>
            <a:off x="640080" y="1536192"/>
            <a:ext cx="10881360" cy="502920"/>
          </a:xfrm>
          <a:prstGeom prst="rect">
            <a:avLst/>
          </a:prstGeom>
          <a:noFill/>
          <a:ln/>
        </p:spPr>
        <p:txBody>
          <a:bodyPr wrap="square" lIns="0" tIns="0" rIns="0" bIns="0" rtlCol="0" anchor="ctr"/>
          <a:lstStyle/>
          <a:p>
            <a:pPr indent="0" marL="0">
              <a:lnSpc>
                <a:spcPct val="120000"/>
              </a:lnSpc>
              <a:buNone/>
            </a:pPr>
            <a:r>
              <a:rPr lang="en-US" sz="1300" dirty="0">
                <a:solidFill>
                  <a:srgbClr val="6B6B73"/>
                </a:solidFill>
                <a:latin typeface="Calibri" pitchFamily="34" charset="0"/>
                <a:ea typeface="Calibri" pitchFamily="34" charset="-122"/>
                <a:cs typeface="Calibri" pitchFamily="34" charset="-120"/>
              </a:rPr>
              <a:t>A second, independent identification strategy for the SAME event: high-PTDF_FI CNECs vs. low-PTDF_FI CNECs, before vs. during.</a:t>
            </a:r>
            <a:endParaRPr lang="en-US" sz="1300" dirty="0"/>
          </a:p>
        </p:txBody>
      </p:sp>
      <p:sp>
        <p:nvSpPr>
          <p:cNvPr id="6" name="Shape 4"/>
          <p:cNvSpPr/>
          <p:nvPr/>
        </p:nvSpPr>
        <p:spPr>
          <a:xfrm>
            <a:off x="822960" y="2441448"/>
            <a:ext cx="109728" cy="109728"/>
          </a:xfrm>
          <a:prstGeom prst="ellipse">
            <a:avLst/>
          </a:prstGeom>
          <a:solidFill>
            <a:srgbClr val="163C2C"/>
          </a:solidFill>
          <a:ln/>
        </p:spPr>
      </p:sp>
      <p:sp>
        <p:nvSpPr>
          <p:cNvPr id="7" name="Text 5"/>
          <p:cNvSpPr txBox="1"/>
          <p:nvPr/>
        </p:nvSpPr>
        <p:spPr>
          <a:xfrm>
            <a:off x="1051560" y="2304288"/>
            <a:ext cx="9921240" cy="502920"/>
          </a:xfrm>
          <a:prstGeom prst="rect">
            <a:avLst/>
          </a:prstGeom>
          <a:noFill/>
          <a:ln/>
        </p:spPr>
        <p:txBody>
          <a:bodyPr wrap="square" lIns="0" tIns="0" rIns="0" bIns="0" rtlCol="0" anchor="ctr"/>
          <a:lstStyle/>
          <a:p>
            <a:pPr indent="0" marL="0">
              <a:lnSpc>
                <a:spcPct val="115000"/>
              </a:lnSpc>
              <a:buNone/>
            </a:pPr>
            <a:r>
              <a:rPr lang="en-US" sz="1350" dirty="0">
                <a:solidFill>
                  <a:srgbClr val="18181B"/>
                </a:solidFill>
                <a:latin typeface="Calibri" pitchFamily="34" charset="0"/>
                <a:ea typeface="Calibri" pitchFamily="34" charset="-122"/>
                <a:cs typeface="Calibri" pitchFamily="34" charset="-120"/>
              </a:rPr>
              <a:t>If a CNEC's PTDF to the source country is high, an outage there should hit it harder than a low-PTDF CNEC — that differential IS the DiD estimate</a:t>
            </a:r>
            <a:endParaRPr lang="en-US" sz="1350" dirty="0"/>
          </a:p>
        </p:txBody>
      </p:sp>
      <p:sp>
        <p:nvSpPr>
          <p:cNvPr id="8" name="Shape 6"/>
          <p:cNvSpPr/>
          <p:nvPr/>
        </p:nvSpPr>
        <p:spPr>
          <a:xfrm>
            <a:off x="822960" y="2953512"/>
            <a:ext cx="109728" cy="109728"/>
          </a:xfrm>
          <a:prstGeom prst="ellipse">
            <a:avLst/>
          </a:prstGeom>
          <a:solidFill>
            <a:srgbClr val="163C2C"/>
          </a:solidFill>
          <a:ln/>
        </p:spPr>
      </p:sp>
      <p:sp>
        <p:nvSpPr>
          <p:cNvPr id="9" name="Text 7"/>
          <p:cNvSpPr txBox="1"/>
          <p:nvPr/>
        </p:nvSpPr>
        <p:spPr>
          <a:xfrm>
            <a:off x="1051560" y="2816352"/>
            <a:ext cx="9921240" cy="502920"/>
          </a:xfrm>
          <a:prstGeom prst="rect">
            <a:avLst/>
          </a:prstGeom>
          <a:noFill/>
          <a:ln/>
        </p:spPr>
        <p:txBody>
          <a:bodyPr wrap="square" lIns="0" tIns="0" rIns="0" bIns="0" rtlCol="0" anchor="ctr"/>
          <a:lstStyle/>
          <a:p>
            <a:pPr indent="0" marL="0">
              <a:lnSpc>
                <a:spcPct val="115000"/>
              </a:lnSpc>
              <a:buNone/>
            </a:pPr>
            <a:r>
              <a:rPr lang="en-US" sz="1350" dirty="0">
                <a:solidFill>
                  <a:srgbClr val="18181B"/>
                </a:solidFill>
                <a:latin typeface="Calibri" pitchFamily="34" charset="0"/>
                <a:ea typeface="Calibri" pitchFamily="34" charset="-122"/>
                <a:cs typeface="Calibri" pitchFamily="34" charset="-120"/>
              </a:rPr>
              <a:t>Agreement with the ITS result is reassuring — two different methods reaching the same conclusion</a:t>
            </a:r>
            <a:endParaRPr lang="en-US" sz="1350" dirty="0"/>
          </a:p>
        </p:txBody>
      </p:sp>
      <p:sp>
        <p:nvSpPr>
          <p:cNvPr id="10" name="Shape 8"/>
          <p:cNvSpPr/>
          <p:nvPr/>
        </p:nvSpPr>
        <p:spPr>
          <a:xfrm>
            <a:off x="822960" y="3465576"/>
            <a:ext cx="109728" cy="109728"/>
          </a:xfrm>
          <a:prstGeom prst="ellipse">
            <a:avLst/>
          </a:prstGeom>
          <a:solidFill>
            <a:srgbClr val="163C2C"/>
          </a:solidFill>
          <a:ln/>
        </p:spPr>
      </p:sp>
      <p:sp>
        <p:nvSpPr>
          <p:cNvPr id="11" name="Text 9"/>
          <p:cNvSpPr txBox="1"/>
          <p:nvPr/>
        </p:nvSpPr>
        <p:spPr>
          <a:xfrm>
            <a:off x="1051560" y="3328416"/>
            <a:ext cx="9921240" cy="502920"/>
          </a:xfrm>
          <a:prstGeom prst="rect">
            <a:avLst/>
          </a:prstGeom>
          <a:noFill/>
          <a:ln/>
        </p:spPr>
        <p:txBody>
          <a:bodyPr wrap="square" lIns="0" tIns="0" rIns="0" bIns="0" rtlCol="0" anchor="ctr"/>
          <a:lstStyle/>
          <a:p>
            <a:pPr indent="0" marL="0">
              <a:lnSpc>
                <a:spcPct val="115000"/>
              </a:lnSpc>
              <a:buNone/>
            </a:pPr>
            <a:r>
              <a:rPr lang="en-US" sz="1350" dirty="0">
                <a:solidFill>
                  <a:srgbClr val="18181B"/>
                </a:solidFill>
                <a:latin typeface="Calibri" pitchFamily="34" charset="0"/>
                <a:ea typeface="Calibri" pitchFamily="34" charset="-122"/>
                <a:cs typeface="Calibri" pitchFamily="34" charset="-120"/>
              </a:rPr>
              <a:t>Disagreement is worth investigating, not dismissing — check whether the “high vs. low” PTDF split is even meaningful for this specific CNEC set</a:t>
            </a:r>
            <a:endParaRPr lang="en-US" sz="1350" dirty="0"/>
          </a:p>
        </p:txBody>
      </p:sp>
      <p:sp>
        <p:nvSpPr>
          <p:cNvPr id="12" name="Text 1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13" name="Text 1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163C2C"/>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PER-EVENT RESULTS</a:t>
            </a:r>
            <a:endParaRPr lang="en-US" sz="1050" dirty="0"/>
          </a:p>
        </p:txBody>
      </p:sp>
      <p:sp>
        <p:nvSpPr>
          <p:cNvPr id="4" name="Text 2"/>
          <p:cNvSpPr txBox="1"/>
          <p:nvPr/>
        </p:nvSpPr>
        <p:spPr>
          <a:xfrm>
            <a:off x="640080" y="914400"/>
            <a:ext cx="10881360" cy="548640"/>
          </a:xfrm>
          <a:prstGeom prst="rect">
            <a:avLst/>
          </a:prstGeom>
          <a:noFill/>
          <a:ln/>
        </p:spPr>
        <p:txBody>
          <a:bodyPr wrap="square" lIns="0" tIns="0" rIns="0" bIns="0" rtlCol="0" anchor="ctr"/>
          <a:lstStyle/>
          <a:p>
            <a:pPr indent="0" marL="0">
              <a:buNone/>
            </a:pPr>
            <a:r>
              <a:rPr lang="en-US" sz="2700" b="1" dirty="0">
                <a:solidFill>
                  <a:srgbClr val="18181B"/>
                </a:solidFill>
                <a:latin typeface="Cambria" pitchFamily="34" charset="0"/>
                <a:ea typeface="Cambria" pitchFamily="34" charset="-122"/>
                <a:cs typeface="Cambria" pitchFamily="34" charset="-120"/>
              </a:rPr>
              <a:t>Reading the Price Spread Output</a:t>
            </a:r>
            <a:endParaRPr lang="en-US" sz="2700" dirty="0"/>
          </a:p>
        </p:txBody>
      </p:sp>
      <p:sp>
        <p:nvSpPr>
          <p:cNvPr id="5" name="Text 3"/>
          <p:cNvSpPr txBox="1"/>
          <p:nvPr/>
        </p:nvSpPr>
        <p:spPr>
          <a:xfrm>
            <a:off x="822960" y="1508760"/>
            <a:ext cx="10515600" cy="457200"/>
          </a:xfrm>
          <a:prstGeom prst="rect">
            <a:avLst/>
          </a:prstGeom>
          <a:solidFill>
            <a:srgbClr val="163C2C"/>
          </a:solid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impact = (shadowPrice × PTDF)_actual − (shadowPrice × PTDF)_counterfactual</a:t>
            </a:r>
            <a:endParaRPr lang="en-US" sz="1500" dirty="0"/>
          </a:p>
        </p:txBody>
      </p:sp>
      <p:sp>
        <p:nvSpPr>
          <p:cNvPr id="6" name="Shape 4"/>
          <p:cNvSpPr/>
          <p:nvPr/>
        </p:nvSpPr>
        <p:spPr>
          <a:xfrm>
            <a:off x="822960" y="2286000"/>
            <a:ext cx="3383280" cy="1828800"/>
          </a:xfrm>
          <a:prstGeom prst="roundRect">
            <a:avLst>
              <a:gd name="adj" fmla="val 5000"/>
            </a:avLst>
          </a:prstGeom>
          <a:solidFill>
            <a:srgbClr val="EEF0F4"/>
          </a:solidFill>
          <a:ln/>
          <a:effectLst>
            <a:outerShdw sx="100000" sy="100000" kx="0" ky="0" algn="bl" rotWithShape="0" blurRad="101600" dist="38100" dir="5400000">
              <a:srgbClr val="163C2C">
                <a:alpha val="18000"/>
              </a:srgbClr>
            </a:outerShdw>
          </a:effectLst>
        </p:spPr>
      </p:sp>
      <p:sp>
        <p:nvSpPr>
          <p:cNvPr id="7" name="Text 5"/>
          <p:cNvSpPr txBox="1"/>
          <p:nvPr/>
        </p:nvSpPr>
        <p:spPr>
          <a:xfrm>
            <a:off x="1051560" y="2468880"/>
            <a:ext cx="2926080" cy="365760"/>
          </a:xfrm>
          <a:prstGeom prst="rect">
            <a:avLst/>
          </a:prstGeom>
          <a:noFill/>
          <a:ln/>
        </p:spPr>
        <p:txBody>
          <a:bodyPr wrap="square" lIns="0" tIns="0" rIns="0" bIns="0" rtlCol="0" anchor="ctr"/>
          <a:lstStyle/>
          <a:p>
            <a:pPr indent="0" marL="0">
              <a:buNone/>
            </a:pPr>
            <a:r>
              <a:rPr lang="en-US" sz="1400" b="1" dirty="0">
                <a:solidFill>
                  <a:srgbClr val="163C2C"/>
                </a:solidFill>
                <a:latin typeface="Calibri" pitchFamily="34" charset="0"/>
                <a:ea typeface="Calibri" pitchFamily="34" charset="-122"/>
                <a:cs typeface="Calibri" pitchFamily="34" charset="-120"/>
              </a:rPr>
              <a:t>Actual</a:t>
            </a:r>
            <a:endParaRPr lang="en-US" sz="1400" dirty="0"/>
          </a:p>
        </p:txBody>
      </p:sp>
      <p:sp>
        <p:nvSpPr>
          <p:cNvPr id="8" name="Text 6"/>
          <p:cNvSpPr txBox="1"/>
          <p:nvPr/>
        </p:nvSpPr>
        <p:spPr>
          <a:xfrm>
            <a:off x="1051560" y="2880360"/>
            <a:ext cx="2926080" cy="1097280"/>
          </a:xfrm>
          <a:prstGeom prst="rect">
            <a:avLst/>
          </a:prstGeom>
          <a:noFill/>
          <a:ln/>
        </p:spPr>
        <p:txBody>
          <a:bodyPr wrap="square" lIns="0" tIns="0" rIns="0" bIns="0" rtlCol="0" anchor="ctr"/>
          <a:lstStyle/>
          <a:p>
            <a:pPr indent="0" marL="0">
              <a:lnSpc>
                <a:spcPct val="125000"/>
              </a:lnSpc>
              <a:buNone/>
            </a:pPr>
            <a:r>
              <a:rPr lang="en-US" sz="1150" dirty="0">
                <a:solidFill>
                  <a:srgbClr val="18181B"/>
                </a:solidFill>
                <a:latin typeface="Calibri" pitchFamily="34" charset="0"/>
                <a:ea typeface="Calibri" pitchFamily="34" charset="-122"/>
                <a:cs typeface="Calibri" pitchFamily="34" charset="-120"/>
              </a:rPr>
              <a:t>Both factors, at the picked timestamp, as observed</a:t>
            </a:r>
            <a:endParaRPr lang="en-US" sz="1150" dirty="0"/>
          </a:p>
        </p:txBody>
      </p:sp>
      <p:sp>
        <p:nvSpPr>
          <p:cNvPr id="9" name="Shape 7"/>
          <p:cNvSpPr/>
          <p:nvPr/>
        </p:nvSpPr>
        <p:spPr>
          <a:xfrm>
            <a:off x="4526280" y="2286000"/>
            <a:ext cx="3383280" cy="1828800"/>
          </a:xfrm>
          <a:prstGeom prst="roundRect">
            <a:avLst>
              <a:gd name="adj" fmla="val 5000"/>
            </a:avLst>
          </a:prstGeom>
          <a:solidFill>
            <a:srgbClr val="EEF0F4"/>
          </a:solidFill>
          <a:ln/>
          <a:effectLst>
            <a:outerShdw sx="100000" sy="100000" kx="0" ky="0" algn="bl" rotWithShape="0" blurRad="101600" dist="38100" dir="5400000">
              <a:srgbClr val="163C2C">
                <a:alpha val="18000"/>
              </a:srgbClr>
            </a:outerShdw>
          </a:effectLst>
        </p:spPr>
      </p:sp>
      <p:sp>
        <p:nvSpPr>
          <p:cNvPr id="10" name="Text 8"/>
          <p:cNvSpPr txBox="1"/>
          <p:nvPr/>
        </p:nvSpPr>
        <p:spPr>
          <a:xfrm>
            <a:off x="4754880" y="2468880"/>
            <a:ext cx="2926080" cy="365760"/>
          </a:xfrm>
          <a:prstGeom prst="rect">
            <a:avLst/>
          </a:prstGeom>
          <a:noFill/>
          <a:ln/>
        </p:spPr>
        <p:txBody>
          <a:bodyPr wrap="square" lIns="0" tIns="0" rIns="0" bIns="0" rtlCol="0" anchor="ctr"/>
          <a:lstStyle/>
          <a:p>
            <a:pPr indent="0" marL="0">
              <a:buNone/>
            </a:pPr>
            <a:r>
              <a:rPr lang="en-US" sz="1400" b="1" dirty="0">
                <a:solidFill>
                  <a:srgbClr val="6B6B73"/>
                </a:solidFill>
                <a:latin typeface="Calibri" pitchFamily="34" charset="0"/>
                <a:ea typeface="Calibri" pitchFamily="34" charset="-122"/>
                <a:cs typeface="Calibri" pitchFamily="34" charset="-120"/>
              </a:rPr>
              <a:t>Counterfactual</a:t>
            </a:r>
            <a:endParaRPr lang="en-US" sz="1400" dirty="0"/>
          </a:p>
        </p:txBody>
      </p:sp>
      <p:sp>
        <p:nvSpPr>
          <p:cNvPr id="11" name="Text 9"/>
          <p:cNvSpPr txBox="1"/>
          <p:nvPr/>
        </p:nvSpPr>
        <p:spPr>
          <a:xfrm>
            <a:off x="4754880" y="2880360"/>
            <a:ext cx="2926080" cy="1097280"/>
          </a:xfrm>
          <a:prstGeom prst="rect">
            <a:avLst/>
          </a:prstGeom>
          <a:noFill/>
          <a:ln/>
        </p:spPr>
        <p:txBody>
          <a:bodyPr wrap="square" lIns="0" tIns="0" rIns="0" bIns="0" rtlCol="0" anchor="ctr"/>
          <a:lstStyle/>
          <a:p>
            <a:pPr indent="0" marL="0">
              <a:lnSpc>
                <a:spcPct val="125000"/>
              </a:lnSpc>
              <a:buNone/>
            </a:pPr>
            <a:r>
              <a:rPr lang="en-US" sz="1150" dirty="0">
                <a:solidFill>
                  <a:srgbClr val="18181B"/>
                </a:solidFill>
                <a:latin typeface="Calibri" pitchFamily="34" charset="0"/>
                <a:ea typeface="Calibri" pitchFamily="34" charset="-122"/>
                <a:cs typeface="Calibri" pitchFamily="34" charset="-120"/>
              </a:rPr>
              <a:t>Both factors' own ITS projection, same timestamp</a:t>
            </a:r>
            <a:endParaRPr lang="en-US" sz="1150" dirty="0"/>
          </a:p>
        </p:txBody>
      </p:sp>
      <p:sp>
        <p:nvSpPr>
          <p:cNvPr id="12" name="Shape 10"/>
          <p:cNvSpPr/>
          <p:nvPr/>
        </p:nvSpPr>
        <p:spPr>
          <a:xfrm>
            <a:off x="8229600" y="2286000"/>
            <a:ext cx="3383280" cy="1828800"/>
          </a:xfrm>
          <a:prstGeom prst="roundRect">
            <a:avLst>
              <a:gd name="adj" fmla="val 5000"/>
            </a:avLst>
          </a:prstGeom>
          <a:solidFill>
            <a:srgbClr val="EEF0F4"/>
          </a:solidFill>
          <a:ln/>
          <a:effectLst>
            <a:outerShdw sx="100000" sy="100000" kx="0" ky="0" algn="bl" rotWithShape="0" blurRad="101600" dist="38100" dir="5400000">
              <a:srgbClr val="163C2C">
                <a:alpha val="18000"/>
              </a:srgbClr>
            </a:outerShdw>
          </a:effectLst>
        </p:spPr>
      </p:sp>
      <p:sp>
        <p:nvSpPr>
          <p:cNvPr id="13" name="Text 11"/>
          <p:cNvSpPr txBox="1"/>
          <p:nvPr/>
        </p:nvSpPr>
        <p:spPr>
          <a:xfrm>
            <a:off x="8458200" y="2468880"/>
            <a:ext cx="2926080" cy="365760"/>
          </a:xfrm>
          <a:prstGeom prst="rect">
            <a:avLst/>
          </a:prstGeom>
          <a:noFill/>
          <a:ln/>
        </p:spPr>
        <p:txBody>
          <a:bodyPr wrap="square" lIns="0" tIns="0" rIns="0" bIns="0" rtlCol="0" anchor="ctr"/>
          <a:lstStyle/>
          <a:p>
            <a:pPr indent="0" marL="0">
              <a:buNone/>
            </a:pPr>
            <a:r>
              <a:rPr lang="en-US" sz="1400" b="1" dirty="0">
                <a:solidFill>
                  <a:srgbClr val="B45309"/>
                </a:solidFill>
                <a:latin typeface="Calibri" pitchFamily="34" charset="0"/>
                <a:ea typeface="Calibri" pitchFamily="34" charset="-122"/>
                <a:cs typeface="Calibri" pitchFamily="34" charset="-120"/>
              </a:rPr>
              <a:t>Impact</a:t>
            </a:r>
            <a:endParaRPr lang="en-US" sz="1400" dirty="0"/>
          </a:p>
        </p:txBody>
      </p:sp>
      <p:sp>
        <p:nvSpPr>
          <p:cNvPr id="14" name="Text 12"/>
          <p:cNvSpPr txBox="1"/>
          <p:nvPr/>
        </p:nvSpPr>
        <p:spPr>
          <a:xfrm>
            <a:off x="8458200" y="2880360"/>
            <a:ext cx="2926080" cy="1097280"/>
          </a:xfrm>
          <a:prstGeom prst="rect">
            <a:avLst/>
          </a:prstGeom>
          <a:noFill/>
          <a:ln/>
        </p:spPr>
        <p:txBody>
          <a:bodyPr wrap="square" lIns="0" tIns="0" rIns="0" bIns="0" rtlCol="0" anchor="ctr"/>
          <a:lstStyle/>
          <a:p>
            <a:pPr indent="0" marL="0">
              <a:lnSpc>
                <a:spcPct val="125000"/>
              </a:lnSpc>
              <a:buNone/>
            </a:pPr>
            <a:r>
              <a:rPr lang="en-US" sz="1150" dirty="0">
                <a:solidFill>
                  <a:srgbClr val="18181B"/>
                </a:solidFill>
                <a:latin typeface="Calibri" pitchFamily="34" charset="0"/>
                <a:ea typeface="Calibri" pitchFamily="34" charset="-122"/>
                <a:cs typeface="Calibri" pitchFamily="34" charset="-120"/>
              </a:rPr>
              <a:t>The difference — this CNEC's own contribution shift</a:t>
            </a:r>
            <a:endParaRPr lang="en-US" sz="1150" dirty="0"/>
          </a:p>
        </p:txBody>
      </p:sp>
      <p:sp>
        <p:nvSpPr>
          <p:cNvPr id="15" name="Text 13"/>
          <p:cNvSpPr txBox="1"/>
          <p:nvPr/>
        </p:nvSpPr>
        <p:spPr>
          <a:xfrm>
            <a:off x="822960" y="4434840"/>
            <a:ext cx="10515600" cy="1005840"/>
          </a:xfrm>
          <a:prstGeom prst="rect">
            <a:avLst/>
          </a:prstGeom>
          <a:noFill/>
          <a:ln/>
        </p:spPr>
        <p:txBody>
          <a:bodyPr wrap="square" lIns="0" tIns="0" rIns="0" bIns="0" rtlCol="0" anchor="ctr"/>
          <a:lstStyle/>
          <a:p>
            <a:pPr indent="0" marL="0">
              <a:lnSpc>
                <a:spcPct val="130000"/>
              </a:lnSpc>
              <a:buNone/>
            </a:pPr>
            <a:r>
              <a:rPr lang="en-US" sz="1250" i="1" dirty="0">
                <a:solidFill>
                  <a:srgbClr val="6B6B73"/>
                </a:solidFill>
                <a:latin typeface="Calibri" pitchFamily="34" charset="0"/>
                <a:ea typeface="Calibri" pitchFamily="34" charset="-122"/>
                <a:cs typeface="Calibri" pitchFamily="34" charset="-120"/>
              </a:rPr>
              <a:t>Both shadowPrice AND the target zone's PTDF get their own ITS counterfactual — PTDF itself can shift during an AC-line outage on the target zone, the same mechanism H2 tests for. This is ONE CNEC's own change in contribution, not the full zonal price move — the real total sums this same term over every binding CNEC.</a:t>
            </a:r>
            <a:endParaRPr lang="en-US" sz="1250" dirty="0"/>
          </a:p>
        </p:txBody>
      </p:sp>
      <p:sp>
        <p:nvSpPr>
          <p:cNvPr id="16" name="Text 14"/>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17" name="Text 15"/>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594360"/>
          </a:xfrm>
          <a:prstGeom prst="rect">
            <a:avLst/>
          </a:prstGeom>
          <a:noFill/>
          <a:ln/>
        </p:spPr>
        <p:txBody>
          <a:bodyPr wrap="square" lIns="0" tIns="0" rIns="0" bIns="0" rtlCol="0" anchor="ctr"/>
          <a:lstStyle/>
          <a:p>
            <a:pPr indent="0" marL="0">
              <a:buNone/>
            </a:pPr>
            <a:r>
              <a:rPr lang="en-US" sz="2700" b="1" dirty="0">
                <a:solidFill>
                  <a:srgbClr val="18181B"/>
                </a:solidFill>
                <a:latin typeface="Cambria" pitchFamily="34" charset="0"/>
                <a:ea typeface="Cambria" pitchFamily="34" charset="-122"/>
                <a:cs typeface="Cambria" pitchFamily="34" charset="-120"/>
              </a:rPr>
              <a:t>Common Pitfalls When Reading These Results</a:t>
            </a:r>
            <a:endParaRPr lang="en-US" sz="2700" dirty="0"/>
          </a:p>
        </p:txBody>
      </p:sp>
      <p:sp>
        <p:nvSpPr>
          <p:cNvPr id="3" name="Shape 1"/>
          <p:cNvSpPr/>
          <p:nvPr/>
        </p:nvSpPr>
        <p:spPr>
          <a:xfrm>
            <a:off x="640080" y="1234440"/>
            <a:ext cx="384048" cy="384048"/>
          </a:xfrm>
          <a:prstGeom prst="roundRect">
            <a:avLst>
              <a:gd name="adj" fmla="val 19048"/>
            </a:avLst>
          </a:prstGeom>
          <a:solidFill>
            <a:srgbClr val="B45309"/>
          </a:solidFill>
          <a:ln/>
        </p:spPr>
      </p:sp>
      <p:sp>
        <p:nvSpPr>
          <p:cNvPr id="4" name="Text 2"/>
          <p:cNvSpPr txBox="1"/>
          <p:nvPr/>
        </p:nvSpPr>
        <p:spPr>
          <a:xfrm>
            <a:off x="640080" y="12344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5" name="Text 3"/>
          <p:cNvSpPr txBox="1"/>
          <p:nvPr/>
        </p:nvSpPr>
        <p:spPr>
          <a:xfrm>
            <a:off x="1188720" y="1179576"/>
            <a:ext cx="10241280" cy="548640"/>
          </a:xfrm>
          <a:prstGeom prst="rect">
            <a:avLst/>
          </a:prstGeom>
          <a:noFill/>
          <a:ln/>
        </p:spPr>
        <p:txBody>
          <a:bodyPr wrap="square" lIns="0" tIns="0" rIns="0" bIns="0" rtlCol="0" anchor="ctr"/>
          <a:lstStyle/>
          <a:p>
            <a:pPr indent="0" marL="0">
              <a:buNone/>
            </a:pPr>
            <a:r>
              <a:rPr lang="en-US" sz="1280" dirty="0">
                <a:solidFill>
                  <a:srgbClr val="18181B"/>
                </a:solidFill>
                <a:latin typeface="Calibri" pitchFamily="34" charset="0"/>
                <a:ea typeface="Calibri" pitchFamily="34" charset="-122"/>
                <a:cs typeface="Calibri" pitchFamily="34" charset="-120"/>
              </a:rPr>
              <a:t>Treating p &lt; 0.05 alone as “proven” — always check the economic-significance floor too</a:t>
            </a:r>
            <a:endParaRPr lang="en-US" sz="1280" dirty="0"/>
          </a:p>
        </p:txBody>
      </p:sp>
      <p:sp>
        <p:nvSpPr>
          <p:cNvPr id="6" name="Shape 4"/>
          <p:cNvSpPr/>
          <p:nvPr/>
        </p:nvSpPr>
        <p:spPr>
          <a:xfrm>
            <a:off x="640080" y="1920240"/>
            <a:ext cx="384048" cy="384048"/>
          </a:xfrm>
          <a:prstGeom prst="roundRect">
            <a:avLst>
              <a:gd name="adj" fmla="val 19048"/>
            </a:avLst>
          </a:prstGeom>
          <a:solidFill>
            <a:srgbClr val="B45309"/>
          </a:solidFill>
          <a:ln/>
        </p:spPr>
      </p:sp>
      <p:sp>
        <p:nvSpPr>
          <p:cNvPr id="7" name="Text 5"/>
          <p:cNvSpPr txBox="1"/>
          <p:nvPr/>
        </p:nvSpPr>
        <p:spPr>
          <a:xfrm>
            <a:off x="640080" y="19202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8" name="Text 6"/>
          <p:cNvSpPr txBox="1"/>
          <p:nvPr/>
        </p:nvSpPr>
        <p:spPr>
          <a:xfrm>
            <a:off x="1188720" y="1865376"/>
            <a:ext cx="10241280" cy="548640"/>
          </a:xfrm>
          <a:prstGeom prst="rect">
            <a:avLst/>
          </a:prstGeom>
          <a:noFill/>
          <a:ln/>
        </p:spPr>
        <p:txBody>
          <a:bodyPr wrap="square" lIns="0" tIns="0" rIns="0" bIns="0" rtlCol="0" anchor="ctr"/>
          <a:lstStyle/>
          <a:p>
            <a:pPr indent="0" marL="0">
              <a:buNone/>
            </a:pPr>
            <a:r>
              <a:rPr lang="en-US" sz="1280" dirty="0">
                <a:solidFill>
                  <a:srgbClr val="18181B"/>
                </a:solidFill>
                <a:latin typeface="Calibri" pitchFamily="34" charset="0"/>
                <a:ea typeface="Calibri" pitchFamily="34" charset="-122"/>
                <a:cs typeface="Calibri" pitchFamily="34" charset="-120"/>
              </a:rPr>
              <a:t>Reading H2's raw p-value in isolation — Holm–Bonferroni can still block it if a stronger hypothesis in the family already failed</a:t>
            </a:r>
            <a:endParaRPr lang="en-US" sz="1280" dirty="0"/>
          </a:p>
        </p:txBody>
      </p:sp>
      <p:sp>
        <p:nvSpPr>
          <p:cNvPr id="9" name="Shape 7"/>
          <p:cNvSpPr/>
          <p:nvPr/>
        </p:nvSpPr>
        <p:spPr>
          <a:xfrm>
            <a:off x="640080" y="2606040"/>
            <a:ext cx="384048" cy="384048"/>
          </a:xfrm>
          <a:prstGeom prst="roundRect">
            <a:avLst>
              <a:gd name="adj" fmla="val 19048"/>
            </a:avLst>
          </a:prstGeom>
          <a:solidFill>
            <a:srgbClr val="B45309"/>
          </a:solidFill>
          <a:ln/>
        </p:spPr>
      </p:sp>
      <p:sp>
        <p:nvSpPr>
          <p:cNvPr id="10" name="Text 8"/>
          <p:cNvSpPr txBox="1"/>
          <p:nvPr/>
        </p:nvSpPr>
        <p:spPr>
          <a:xfrm>
            <a:off x="640080" y="26060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1" name="Text 9"/>
          <p:cNvSpPr txBox="1"/>
          <p:nvPr/>
        </p:nvSpPr>
        <p:spPr>
          <a:xfrm>
            <a:off x="1188720" y="2551176"/>
            <a:ext cx="10241280" cy="548640"/>
          </a:xfrm>
          <a:prstGeom prst="rect">
            <a:avLst/>
          </a:prstGeom>
          <a:noFill/>
          <a:ln/>
        </p:spPr>
        <p:txBody>
          <a:bodyPr wrap="square" lIns="0" tIns="0" rIns="0" bIns="0" rtlCol="0" anchor="ctr"/>
          <a:lstStyle/>
          <a:p>
            <a:pPr indent="0" marL="0">
              <a:buNone/>
            </a:pPr>
            <a:r>
              <a:rPr lang="en-US" sz="1280" dirty="0">
                <a:solidFill>
                  <a:srgbClr val="18181B"/>
                </a:solidFill>
                <a:latin typeface="Calibri" pitchFamily="34" charset="0"/>
                <a:ea typeface="Calibri" pitchFamily="34" charset="-122"/>
                <a:cs typeface="Calibri" pitchFamily="34" charset="-120"/>
              </a:rPr>
              <a:t>Ignoring n — a striking coefficient on very few binding rows (H4) deserves more scrutiny, not less</a:t>
            </a:r>
            <a:endParaRPr lang="en-US" sz="1280" dirty="0"/>
          </a:p>
        </p:txBody>
      </p:sp>
      <p:sp>
        <p:nvSpPr>
          <p:cNvPr id="12" name="Shape 10"/>
          <p:cNvSpPr/>
          <p:nvPr/>
        </p:nvSpPr>
        <p:spPr>
          <a:xfrm>
            <a:off x="640080" y="3291840"/>
            <a:ext cx="384048" cy="384048"/>
          </a:xfrm>
          <a:prstGeom prst="roundRect">
            <a:avLst>
              <a:gd name="adj" fmla="val 19048"/>
            </a:avLst>
          </a:prstGeom>
          <a:solidFill>
            <a:srgbClr val="B45309"/>
          </a:solidFill>
          <a:ln/>
        </p:spPr>
      </p:sp>
      <p:sp>
        <p:nvSpPr>
          <p:cNvPr id="13" name="Text 11"/>
          <p:cNvSpPr txBox="1"/>
          <p:nvPr/>
        </p:nvSpPr>
        <p:spPr>
          <a:xfrm>
            <a:off x="640080" y="32918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4" name="Text 12"/>
          <p:cNvSpPr txBox="1"/>
          <p:nvPr/>
        </p:nvSpPr>
        <p:spPr>
          <a:xfrm>
            <a:off x="1188720" y="3236976"/>
            <a:ext cx="10241280" cy="548640"/>
          </a:xfrm>
          <a:prstGeom prst="rect">
            <a:avLst/>
          </a:prstGeom>
          <a:noFill/>
          <a:ln/>
        </p:spPr>
        <p:txBody>
          <a:bodyPr wrap="square" lIns="0" tIns="0" rIns="0" bIns="0" rtlCol="0" anchor="ctr"/>
          <a:lstStyle/>
          <a:p>
            <a:pPr indent="0" marL="0">
              <a:buNone/>
            </a:pPr>
            <a:r>
              <a:rPr lang="en-US" sz="1280" dirty="0">
                <a:solidFill>
                  <a:srgbClr val="18181B"/>
                </a:solidFill>
                <a:latin typeface="Calibri" pitchFamily="34" charset="0"/>
                <a:ea typeface="Calibri" pitchFamily="34" charset="-122"/>
                <a:cs typeface="Calibri" pitchFamily="34" charset="-120"/>
              </a:rPr>
              <a:t>Treating an ITS gap as automatically causal — check the gap closes again after the outage ends</a:t>
            </a:r>
            <a:endParaRPr lang="en-US" sz="1280" dirty="0"/>
          </a:p>
        </p:txBody>
      </p:sp>
      <p:sp>
        <p:nvSpPr>
          <p:cNvPr id="15" name="Shape 13"/>
          <p:cNvSpPr/>
          <p:nvPr/>
        </p:nvSpPr>
        <p:spPr>
          <a:xfrm>
            <a:off x="640080" y="3977640"/>
            <a:ext cx="384048" cy="384048"/>
          </a:xfrm>
          <a:prstGeom prst="roundRect">
            <a:avLst>
              <a:gd name="adj" fmla="val 19048"/>
            </a:avLst>
          </a:prstGeom>
          <a:solidFill>
            <a:srgbClr val="B45309"/>
          </a:solidFill>
          <a:ln/>
        </p:spPr>
      </p:sp>
      <p:sp>
        <p:nvSpPr>
          <p:cNvPr id="16" name="Text 14"/>
          <p:cNvSpPr txBox="1"/>
          <p:nvPr/>
        </p:nvSpPr>
        <p:spPr>
          <a:xfrm>
            <a:off x="640080" y="39776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7" name="Text 15"/>
          <p:cNvSpPr txBox="1"/>
          <p:nvPr/>
        </p:nvSpPr>
        <p:spPr>
          <a:xfrm>
            <a:off x="1188720" y="3922776"/>
            <a:ext cx="10241280" cy="548640"/>
          </a:xfrm>
          <a:prstGeom prst="rect">
            <a:avLst/>
          </a:prstGeom>
          <a:noFill/>
          <a:ln/>
        </p:spPr>
        <p:txBody>
          <a:bodyPr wrap="square" lIns="0" tIns="0" rIns="0" bIns="0" rtlCol="0" anchor="ctr"/>
          <a:lstStyle/>
          <a:p>
            <a:pPr indent="0" marL="0">
              <a:buNone/>
            </a:pPr>
            <a:r>
              <a:rPr lang="en-US" sz="1280" dirty="0">
                <a:solidFill>
                  <a:srgbClr val="18181B"/>
                </a:solidFill>
                <a:latin typeface="Calibri" pitchFamily="34" charset="0"/>
                <a:ea typeface="Calibri" pitchFamily="34" charset="-122"/>
                <a:cs typeface="Calibri" pitchFamily="34" charset="-120"/>
              </a:rPr>
              <a:t>Assuming a weaker-than-requested SE fallback is the same as the requested one — check se_fallback_occurred</a:t>
            </a:r>
            <a:endParaRPr lang="en-US" sz="1280" dirty="0"/>
          </a:p>
        </p:txBody>
      </p:sp>
      <p:sp>
        <p:nvSpPr>
          <p:cNvPr id="18" name="Shape 16"/>
          <p:cNvSpPr/>
          <p:nvPr/>
        </p:nvSpPr>
        <p:spPr>
          <a:xfrm>
            <a:off x="640080" y="4663440"/>
            <a:ext cx="384048" cy="384048"/>
          </a:xfrm>
          <a:prstGeom prst="roundRect">
            <a:avLst>
              <a:gd name="adj" fmla="val 19048"/>
            </a:avLst>
          </a:prstGeom>
          <a:solidFill>
            <a:srgbClr val="B45309"/>
          </a:solidFill>
          <a:ln/>
        </p:spPr>
      </p:sp>
      <p:sp>
        <p:nvSpPr>
          <p:cNvPr id="19" name="Text 17"/>
          <p:cNvSpPr txBox="1"/>
          <p:nvPr/>
        </p:nvSpPr>
        <p:spPr>
          <a:xfrm>
            <a:off x="640080" y="46634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0" name="Text 18"/>
          <p:cNvSpPr txBox="1"/>
          <p:nvPr/>
        </p:nvSpPr>
        <p:spPr>
          <a:xfrm>
            <a:off x="1188720" y="4608576"/>
            <a:ext cx="10241280" cy="548640"/>
          </a:xfrm>
          <a:prstGeom prst="rect">
            <a:avLst/>
          </a:prstGeom>
          <a:noFill/>
          <a:ln/>
        </p:spPr>
        <p:txBody>
          <a:bodyPr wrap="square" lIns="0" tIns="0" rIns="0" bIns="0" rtlCol="0" anchor="ctr"/>
          <a:lstStyle/>
          <a:p>
            <a:pPr indent="0" marL="0">
              <a:buNone/>
            </a:pPr>
            <a:r>
              <a:rPr lang="en-US" sz="1280" dirty="0">
                <a:solidFill>
                  <a:srgbClr val="18181B"/>
                </a:solidFill>
                <a:latin typeface="Calibri" pitchFamily="34" charset="0"/>
                <a:ea typeface="Calibri" pitchFamily="34" charset="-122"/>
                <a:cs typeface="Calibri" pitchFamily="34" charset="-120"/>
              </a:rPr>
              <a:t>Reading Price Spread's impact as the FULL zonal price move — it's one CNEC's own contribution only</a:t>
            </a:r>
            <a:endParaRPr lang="en-US" sz="1280" dirty="0"/>
          </a:p>
        </p:txBody>
      </p:sp>
      <p:sp>
        <p:nvSpPr>
          <p:cNvPr id="21" name="Shape 19"/>
          <p:cNvSpPr/>
          <p:nvPr/>
        </p:nvSpPr>
        <p:spPr>
          <a:xfrm>
            <a:off x="640080" y="5349240"/>
            <a:ext cx="384048" cy="384048"/>
          </a:xfrm>
          <a:prstGeom prst="roundRect">
            <a:avLst>
              <a:gd name="adj" fmla="val 19048"/>
            </a:avLst>
          </a:prstGeom>
          <a:solidFill>
            <a:srgbClr val="B45309"/>
          </a:solidFill>
          <a:ln/>
        </p:spPr>
      </p:sp>
      <p:sp>
        <p:nvSpPr>
          <p:cNvPr id="22" name="Text 20"/>
          <p:cNvSpPr txBox="1"/>
          <p:nvPr/>
        </p:nvSpPr>
        <p:spPr>
          <a:xfrm>
            <a:off x="640080" y="53492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3" name="Text 21"/>
          <p:cNvSpPr txBox="1"/>
          <p:nvPr/>
        </p:nvSpPr>
        <p:spPr>
          <a:xfrm>
            <a:off x="1188720" y="5294376"/>
            <a:ext cx="10241280" cy="548640"/>
          </a:xfrm>
          <a:prstGeom prst="rect">
            <a:avLst/>
          </a:prstGeom>
          <a:noFill/>
          <a:ln/>
        </p:spPr>
        <p:txBody>
          <a:bodyPr wrap="square" lIns="0" tIns="0" rIns="0" bIns="0" rtlCol="0" anchor="ctr"/>
          <a:lstStyle/>
          <a:p>
            <a:pPr indent="0" marL="0">
              <a:buNone/>
            </a:pPr>
            <a:r>
              <a:rPr lang="en-US" sz="1280" dirty="0">
                <a:solidFill>
                  <a:srgbClr val="18181B"/>
                </a:solidFill>
                <a:latin typeface="Calibri" pitchFamily="34" charset="0"/>
                <a:ea typeface="Calibri" pitchFamily="34" charset="-122"/>
                <a:cs typeface="Calibri" pitchFamily="34" charset="-120"/>
              </a:rPr>
              <a:t>Hoping H6 comes back significant — for the placebo, null IS the good result</a:t>
            </a:r>
            <a:endParaRPr lang="en-US" sz="1280" dirty="0"/>
          </a:p>
        </p:txBody>
      </p:sp>
      <p:sp>
        <p:nvSpPr>
          <p:cNvPr id="24" name="Text 22"/>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25" name="Text 23"/>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63C2C"/>
        </a:solidFill>
      </p:bgPr>
    </p:bg>
    <p:spTree>
      <p:nvGrpSpPr>
        <p:cNvPr id="1" name=""/>
        <p:cNvGrpSpPr/>
        <p:nvPr/>
      </p:nvGrpSpPr>
      <p:grpSpPr>
        <a:xfrm>
          <a:off x="0" y="0"/>
          <a:ext cx="0" cy="0"/>
          <a:chOff x="0" y="0"/>
          <a:chExt cx="0" cy="0"/>
        </a:xfrm>
      </p:grpSpPr>
      <p:sp>
        <p:nvSpPr>
          <p:cNvPr id="2" name="Text 0"/>
          <p:cNvSpPr txBox="1"/>
          <p:nvPr/>
        </p:nvSpPr>
        <p:spPr>
          <a:xfrm>
            <a:off x="822960" y="640080"/>
            <a:ext cx="731520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Go Deeper</a:t>
            </a:r>
            <a:endParaRPr lang="en-US" sz="3400" dirty="0"/>
          </a:p>
        </p:txBody>
      </p:sp>
      <p:sp>
        <p:nvSpPr>
          <p:cNvPr id="3" name="Shape 1"/>
          <p:cNvSpPr/>
          <p:nvPr/>
        </p:nvSpPr>
        <p:spPr>
          <a:xfrm>
            <a:off x="822960" y="1645920"/>
            <a:ext cx="502920" cy="502920"/>
          </a:xfrm>
          <a:prstGeom prst="roundRect">
            <a:avLst>
              <a:gd name="adj" fmla="val 14545"/>
            </a:avLst>
          </a:prstGeom>
          <a:solidFill>
            <a:srgbClr val="B45309"/>
          </a:solidFill>
          <a:ln/>
        </p:spPr>
      </p:sp>
      <p:sp>
        <p:nvSpPr>
          <p:cNvPr id="4" name="Text 2"/>
          <p:cNvSpPr txBox="1"/>
          <p:nvPr/>
        </p:nvSpPr>
        <p:spPr>
          <a:xfrm>
            <a:off x="822960" y="16459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txBox="1"/>
          <p:nvPr/>
        </p:nvSpPr>
        <p:spPr>
          <a:xfrm>
            <a:off x="1508760" y="1572768"/>
            <a:ext cx="9692640" cy="365760"/>
          </a:xfrm>
          <a:prstGeom prst="rect">
            <a:avLst/>
          </a:prstGeom>
          <a:noFill/>
          <a:ln/>
        </p:spPr>
        <p:txBody>
          <a:bodyPr wrap="square" lIns="0" tIns="0" rIns="0" bIns="0" rtlCol="0" anchor="ctr"/>
          <a:lstStyle/>
          <a:p>
            <a:pPr indent="0" marL="0">
              <a:buNone/>
            </a:pPr>
            <a:r>
              <a:rPr lang="en-US" sz="1300" b="1" dirty="0">
                <a:solidFill>
                  <a:srgbClr val="FFFFFF"/>
                </a:solidFill>
                <a:latin typeface="Consolas" pitchFamily="34" charset="0"/>
                <a:ea typeface="Consolas" pitchFamily="34" charset="-122"/>
                <a:cs typeface="Consolas" pitchFamily="34" charset="-120"/>
              </a:rPr>
              <a:t>Understanding the Maintenance Analysis Tab (docx / pdf)</a:t>
            </a:r>
            <a:endParaRPr lang="en-US" sz="1300" dirty="0"/>
          </a:p>
        </p:txBody>
      </p:sp>
      <p:sp>
        <p:nvSpPr>
          <p:cNvPr id="6" name="Text 4"/>
          <p:cNvSpPr txBox="1"/>
          <p:nvPr/>
        </p:nvSpPr>
        <p:spPr>
          <a:xfrm>
            <a:off x="1508760" y="1920240"/>
            <a:ext cx="9692640" cy="457200"/>
          </a:xfrm>
          <a:prstGeom prst="rect">
            <a:avLst/>
          </a:prstGeom>
          <a:noFill/>
          <a:ln/>
        </p:spPr>
        <p:txBody>
          <a:bodyPr wrap="square" lIns="0" tIns="0" rIns="0" bIns="0" rtlCol="0" anchor="ctr"/>
          <a:lstStyle/>
          <a:p>
            <a:pPr indent="0" marL="0">
              <a:buNone/>
            </a:pPr>
            <a:r>
              <a:rPr lang="en-US" sz="1200" dirty="0">
                <a:solidFill>
                  <a:srgbClr val="D7E6DC"/>
                </a:solidFill>
                <a:latin typeface="Calibri" pitchFamily="34" charset="0"/>
                <a:ea typeface="Calibri" pitchFamily="34" charset="-122"/>
                <a:cs typeface="Calibri" pitchFamily="34" charset="-120"/>
              </a:rPr>
              <a:t>56-chapter learner's guide — full derivations, every hypothesis worked, diagnostics, a full case study</a:t>
            </a:r>
            <a:endParaRPr lang="en-US" sz="1200" dirty="0"/>
          </a:p>
        </p:txBody>
      </p:sp>
      <p:sp>
        <p:nvSpPr>
          <p:cNvPr id="7" name="Shape 5"/>
          <p:cNvSpPr/>
          <p:nvPr/>
        </p:nvSpPr>
        <p:spPr>
          <a:xfrm>
            <a:off x="822960" y="2697480"/>
            <a:ext cx="502920" cy="502920"/>
          </a:xfrm>
          <a:prstGeom prst="roundRect">
            <a:avLst>
              <a:gd name="adj" fmla="val 14545"/>
            </a:avLst>
          </a:prstGeom>
          <a:solidFill>
            <a:srgbClr val="B45309"/>
          </a:solidFill>
          <a:ln/>
        </p:spPr>
      </p:sp>
      <p:sp>
        <p:nvSpPr>
          <p:cNvPr id="8" name="Text 6"/>
          <p:cNvSpPr txBox="1"/>
          <p:nvPr/>
        </p:nvSpPr>
        <p:spPr>
          <a:xfrm>
            <a:off x="822960" y="26974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508760" y="2624328"/>
            <a:ext cx="9692640" cy="365760"/>
          </a:xfrm>
          <a:prstGeom prst="rect">
            <a:avLst/>
          </a:prstGeom>
          <a:noFill/>
          <a:ln/>
        </p:spPr>
        <p:txBody>
          <a:bodyPr wrap="square" lIns="0" tIns="0" rIns="0" bIns="0" rtlCol="0" anchor="ctr"/>
          <a:lstStyle/>
          <a:p>
            <a:pPr indent="0" marL="0">
              <a:buNone/>
            </a:pPr>
            <a:r>
              <a:rPr lang="en-US" sz="1300" b="1" dirty="0">
                <a:solidFill>
                  <a:srgbClr val="FFFFFF"/>
                </a:solidFill>
                <a:latin typeface="Consolas" pitchFamily="34" charset="0"/>
                <a:ea typeface="Consolas" pitchFamily="34" charset="-122"/>
                <a:cs typeface="Consolas" pitchFamily="34" charset="-120"/>
              </a:rPr>
              <a:t>Summary Edition (pdf)</a:t>
            </a:r>
            <a:endParaRPr lang="en-US" sz="1300" dirty="0"/>
          </a:p>
        </p:txBody>
      </p:sp>
      <p:sp>
        <p:nvSpPr>
          <p:cNvPr id="10" name="Text 8"/>
          <p:cNvSpPr txBox="1"/>
          <p:nvPr/>
        </p:nvSpPr>
        <p:spPr>
          <a:xfrm>
            <a:off x="1508760" y="2971800"/>
            <a:ext cx="9692640" cy="457200"/>
          </a:xfrm>
          <a:prstGeom prst="rect">
            <a:avLst/>
          </a:prstGeom>
          <a:noFill/>
          <a:ln/>
        </p:spPr>
        <p:txBody>
          <a:bodyPr wrap="square" lIns="0" tIns="0" rIns="0" bIns="0" rtlCol="0" anchor="ctr"/>
          <a:lstStyle/>
          <a:p>
            <a:pPr indent="0" marL="0">
              <a:buNone/>
            </a:pPr>
            <a:r>
              <a:rPr lang="en-US" sz="1200" dirty="0">
                <a:solidFill>
                  <a:srgbClr val="D7E6DC"/>
                </a:solidFill>
                <a:latin typeface="Calibri" pitchFamily="34" charset="0"/>
                <a:ea typeface="Calibri" pitchFamily="34" charset="-122"/>
                <a:cs typeface="Calibri" pitchFamily="34" charset="-120"/>
              </a:rPr>
              <a:t>29-page condensed version — same chapters, opening idea + central formula each</a:t>
            </a:r>
            <a:endParaRPr lang="en-US" sz="1200" dirty="0"/>
          </a:p>
        </p:txBody>
      </p:sp>
      <p:sp>
        <p:nvSpPr>
          <p:cNvPr id="11" name="Shape 9"/>
          <p:cNvSpPr/>
          <p:nvPr/>
        </p:nvSpPr>
        <p:spPr>
          <a:xfrm>
            <a:off x="822960" y="3749040"/>
            <a:ext cx="502920" cy="502920"/>
          </a:xfrm>
          <a:prstGeom prst="roundRect">
            <a:avLst>
              <a:gd name="adj" fmla="val 14545"/>
            </a:avLst>
          </a:prstGeom>
          <a:solidFill>
            <a:srgbClr val="B45309"/>
          </a:solidFill>
          <a:ln/>
        </p:spPr>
      </p:sp>
      <p:sp>
        <p:nvSpPr>
          <p:cNvPr id="12" name="Text 10"/>
          <p:cNvSpPr txBox="1"/>
          <p:nvPr/>
        </p:nvSpPr>
        <p:spPr>
          <a:xfrm>
            <a:off x="822960" y="37490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3" name="Text 11"/>
          <p:cNvSpPr txBox="1"/>
          <p:nvPr/>
        </p:nvSpPr>
        <p:spPr>
          <a:xfrm>
            <a:off x="1508760" y="3675888"/>
            <a:ext cx="9692640" cy="365760"/>
          </a:xfrm>
          <a:prstGeom prst="rect">
            <a:avLst/>
          </a:prstGeom>
          <a:noFill/>
          <a:ln/>
        </p:spPr>
        <p:txBody>
          <a:bodyPr wrap="square" lIns="0" tIns="0" rIns="0" bIns="0" rtlCol="0" anchor="ctr"/>
          <a:lstStyle/>
          <a:p>
            <a:pPr indent="0" marL="0">
              <a:buNone/>
            </a:pPr>
            <a:r>
              <a:rPr lang="en-US" sz="1300" b="1" dirty="0">
                <a:solidFill>
                  <a:srgbClr val="FFFFFF"/>
                </a:solidFill>
                <a:latin typeface="Consolas" pitchFamily="34" charset="0"/>
                <a:ea typeface="Consolas" pitchFamily="34" charset="-122"/>
                <a:cs typeface="Consolas" pitchFamily="34" charset="-120"/>
              </a:rPr>
              <a:t>MAINTENANCE_TAB_GUIDE.md</a:t>
            </a:r>
            <a:endParaRPr lang="en-US" sz="1300" dirty="0"/>
          </a:p>
        </p:txBody>
      </p:sp>
      <p:sp>
        <p:nvSpPr>
          <p:cNvPr id="14" name="Text 12"/>
          <p:cNvSpPr txBox="1"/>
          <p:nvPr/>
        </p:nvSpPr>
        <p:spPr>
          <a:xfrm>
            <a:off x="1508760" y="4023360"/>
            <a:ext cx="9692640" cy="457200"/>
          </a:xfrm>
          <a:prstGeom prst="rect">
            <a:avLst/>
          </a:prstGeom>
          <a:noFill/>
          <a:ln/>
        </p:spPr>
        <p:txBody>
          <a:bodyPr wrap="square" lIns="0" tIns="0" rIns="0" bIns="0" rtlCol="0" anchor="ctr"/>
          <a:lstStyle/>
          <a:p>
            <a:pPr indent="0" marL="0">
              <a:buNone/>
            </a:pPr>
            <a:r>
              <a:rPr lang="en-US" sz="1200" dirty="0">
                <a:solidFill>
                  <a:srgbClr val="D7E6DC"/>
                </a:solidFill>
                <a:latin typeface="Calibri" pitchFamily="34" charset="0"/>
                <a:ea typeface="Calibri" pitchFamily="34" charset="-122"/>
                <a:cs typeface="Calibri" pitchFamily="34" charset="-120"/>
              </a:rPr>
              <a:t>Focused guide to the tab that produces these results, its state and gotchas</a:t>
            </a:r>
            <a:endParaRPr lang="en-US" sz="1200" dirty="0"/>
          </a:p>
        </p:txBody>
      </p:sp>
      <p:sp>
        <p:nvSpPr>
          <p:cNvPr id="15" name="Shape 13"/>
          <p:cNvSpPr/>
          <p:nvPr/>
        </p:nvSpPr>
        <p:spPr>
          <a:xfrm>
            <a:off x="822960" y="4800600"/>
            <a:ext cx="502920" cy="502920"/>
          </a:xfrm>
          <a:prstGeom prst="roundRect">
            <a:avLst>
              <a:gd name="adj" fmla="val 14545"/>
            </a:avLst>
          </a:prstGeom>
          <a:solidFill>
            <a:srgbClr val="B45309"/>
          </a:solidFill>
          <a:ln/>
        </p:spPr>
      </p:sp>
      <p:sp>
        <p:nvSpPr>
          <p:cNvPr id="16" name="Text 14"/>
          <p:cNvSpPr txBox="1"/>
          <p:nvPr/>
        </p:nvSpPr>
        <p:spPr>
          <a:xfrm>
            <a:off x="822960" y="4800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7" name="Text 15"/>
          <p:cNvSpPr txBox="1"/>
          <p:nvPr/>
        </p:nvSpPr>
        <p:spPr>
          <a:xfrm>
            <a:off x="1508760" y="4727448"/>
            <a:ext cx="9692640" cy="365760"/>
          </a:xfrm>
          <a:prstGeom prst="rect">
            <a:avLst/>
          </a:prstGeom>
          <a:noFill/>
          <a:ln/>
        </p:spPr>
        <p:txBody>
          <a:bodyPr wrap="square" lIns="0" tIns="0" rIns="0" bIns="0" rtlCol="0" anchor="ctr"/>
          <a:lstStyle/>
          <a:p>
            <a:pPr indent="0" marL="0">
              <a:buNone/>
            </a:pPr>
            <a:r>
              <a:rPr lang="en-US" sz="1300" b="1" dirty="0">
                <a:solidFill>
                  <a:srgbClr val="FFFFFF"/>
                </a:solidFill>
                <a:latin typeface="Consolas" pitchFamily="34" charset="0"/>
                <a:ea typeface="Consolas" pitchFamily="34" charset="-122"/>
                <a:cs typeface="Consolas" pitchFamily="34" charset="-120"/>
              </a:rPr>
              <a:t>test_pipeline.py</a:t>
            </a:r>
            <a:endParaRPr lang="en-US" sz="1300" dirty="0"/>
          </a:p>
        </p:txBody>
      </p:sp>
      <p:sp>
        <p:nvSpPr>
          <p:cNvPr id="18" name="Text 16"/>
          <p:cNvSpPr txBox="1"/>
          <p:nvPr/>
        </p:nvSpPr>
        <p:spPr>
          <a:xfrm>
            <a:off x="1508760" y="5074920"/>
            <a:ext cx="9692640" cy="457200"/>
          </a:xfrm>
          <a:prstGeom prst="rect">
            <a:avLst/>
          </a:prstGeom>
          <a:noFill/>
          <a:ln/>
        </p:spPr>
        <p:txBody>
          <a:bodyPr wrap="square" lIns="0" tIns="0" rIns="0" bIns="0" rtlCol="0" anchor="ctr"/>
          <a:lstStyle/>
          <a:p>
            <a:pPr indent="0" marL="0">
              <a:buNone/>
            </a:pPr>
            <a:r>
              <a:rPr lang="en-US" sz="1200" dirty="0">
                <a:solidFill>
                  <a:srgbClr val="D7E6DC"/>
                </a:solidFill>
                <a:latin typeface="Calibri" pitchFamily="34" charset="0"/>
                <a:ea typeface="Calibri" pitchFamily="34" charset="-122"/>
                <a:cs typeface="Calibri" pitchFamily="34" charset="-120"/>
              </a:rPr>
              <a:t>Leak-safety and regression tests — the proof these methods behave as described</a:t>
            </a:r>
            <a:endParaRPr lang="en-US" sz="1200" dirty="0"/>
          </a:p>
        </p:txBody>
      </p:sp>
      <p:sp>
        <p:nvSpPr>
          <p:cNvPr id="19" name="Text 17"/>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BFD0C6"/>
                </a:solidFill>
                <a:latin typeface="Calibri" pitchFamily="34" charset="0"/>
                <a:ea typeface="Calibri" pitchFamily="34" charset="-122"/>
                <a:cs typeface="Calibri" pitchFamily="34" charset="-120"/>
              </a:rPr>
              <a:t>Reading the Results  ·  Nordic FBMC Propagation</a:t>
            </a:r>
            <a:endParaRPr lang="en-US" sz="900" dirty="0"/>
          </a:p>
        </p:txBody>
      </p:sp>
      <p:sp>
        <p:nvSpPr>
          <p:cNvPr id="20" name="Text 18"/>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BFD0C6"/>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Reading the Results — Fundamentals Behind Every Verdict</dc:title>
  <dc:subject>PptxGenJS Presentation</dc:subject>
  <dc:creator>Claude Code</dc:creator>
  <cp:lastModifiedBy>Claude Code</cp:lastModifiedBy>
  <cp:revision>1</cp:revision>
  <dcterms:created xsi:type="dcterms:W3CDTF">2026-09-21T13:58:47Z</dcterms:created>
  <dcterms:modified xsi:type="dcterms:W3CDTF">2026-09-21T13:58:47Z</dcterms:modified>
</cp:coreProperties>
</file>